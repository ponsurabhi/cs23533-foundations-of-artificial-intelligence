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095" autoAdjust="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6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A59A-BCBE-48E2-A350-FB035DDEC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F6DBD-B524-460B-AA44-E186583A4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4A3FC-54A1-489A-8276-92648A22A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A6A6-A7F2-4933-9075-6FF54A45A246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D5EB-B231-46BD-AC05-9475512F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ACC44-0FA3-41D7-8827-56818F39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770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A280-D3AA-4359-82E8-23CF7F95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0452E-B981-494B-AF11-EEEB6CB1B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6FC46-05C5-491A-98F5-67DFE9F1B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293B-E7C6-4EBD-97F1-D064646A23FC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C7F8E-CF1F-4BF8-9AB5-1D86268D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DCA77-D61D-46CC-A34B-A12DBAB3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060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4260-F786-41D5-AA19-25971DA5A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54B45-ABB3-43F6-A69A-330D3EEE3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FBA7F-C03D-42BA-860F-C0084E05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31AF-597A-4011-A47A-590DF41FF4CE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C5C7F-0F76-4539-A47B-34FE706B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38696-8488-4503-B740-D2352312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57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93C4-F8EF-4CB4-90F1-A6F2C253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15783-F42E-4766-9BD6-9281265A4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DE48A-A630-45BF-BFE4-7FAE6E8FE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3FBA5-DF65-41CC-BAA5-E9D93CAD4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8AE2A-4198-4CFC-8A3D-99793047056B}" type="datetime1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48E5F-5552-416B-BC90-C62417A3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DDB7E-587A-4AA5-8A58-352BC20C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977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7CEE-8F3F-40F1-B22D-D53F1637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AEE05-D573-4122-8E24-00B78F74B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22DC4-F974-49BF-B147-72208B764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9CDB9-0076-4DF6-9690-182E5157A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3C982-67D7-427B-8C3D-1FF7CC53E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65A0D-D7E5-4F76-A5DC-B3A47349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E98C-4750-4DE8-AE7D-913096F33BA4}" type="datetime1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4A474-160B-4E5B-B8C1-9A764A89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52139-45CD-4883-962C-8B58CD26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79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0830-F074-417B-B120-745038C2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C52E2-6C9D-4F48-9885-60AA29DE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4900D-B9D7-4B48-B03E-93C6BFA38FDB}" type="datetime1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F0182-AF02-46DC-A005-32A72DB4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F1EB-8B71-439F-B1E9-6EA720C1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785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2A6E2-8CED-468E-B9C8-63EEF92A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D085-2496-430D-A475-FB3919DB8C97}" type="datetime1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DDBB6-47BF-4BE7-97E4-AB044897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0F90C-24D0-4C65-99B4-EADB86BE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110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5C33-D77F-42B7-969F-DE257926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8D13-72C5-42CB-BDE1-8AA6B32DD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5EF6E-114D-425F-BB1A-C35164117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18FDF-36DE-48DA-886F-421C2203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6D8D-D6A6-4D95-BF85-9EF8F0710FA7}" type="datetime1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1A6E3-D660-40AD-AC51-1F8805A5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90E82-A75D-48B1-B3E6-FF48ADF8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919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577C-5B3A-48AD-9B45-4A9C9A23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0F3EF-BF57-46A6-9EB6-2DA43D25D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5DFA0-E5C8-4DDF-B283-4A2DD170A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A8042-4719-4615-8878-7A26662F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3A52-04AE-48F7-9FCF-E17B2D2BA4E4}" type="datetime1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B10D6-FDCC-4E80-9116-42BC543C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E45E7-2218-4691-9448-44DD3A1A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59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F59C-24A2-4159-9380-F6AAEA13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AC032-FA02-45A1-B799-75A08E888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9FC9-D5D3-4E4A-9286-9E96B814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1855-FF8B-4A8F-B974-476D0BEFE359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9B5AB-659C-41B0-9073-34826E629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DCFD4-462A-4C50-9A15-A34E5BAD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5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6CEE7-4472-4220-ABE7-624EBBAB3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CA2D1-1973-4733-9AC1-AA8B41575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8E509-CC9E-46C7-BCB4-B4C77706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4AA9-A825-4631-9385-0F96794CA13F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ADC3E-64E9-4052-AAAA-0A77E649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93A4B-8F28-4558-9932-5AEBAE56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75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61322-C13F-4F32-A9C2-A66C573C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4B022-D55F-4115-A03E-92A7A8351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1FBDE-AF6F-4F87-97D2-A1D19B658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DD9C9-F760-491D-BEB2-C9719B2DAA72}" type="datetime1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5F895-F6B3-49E8-AE71-CA9D6A533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1C5C0-3DE6-438F-852E-4102D3E14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44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109.6112" TargetMode="External"/><Relationship Id="rId2" Type="http://schemas.openxmlformats.org/officeDocument/2006/relationships/hyperlink" Target="https://doi.org/10.1109/CIMCA.2005.1631445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abs/0903.1095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Home | Rajalakshmi Engineering College (REC)">
            <a:extLst>
              <a:ext uri="{FF2B5EF4-FFF2-40B4-BE49-F238E27FC236}">
                <a16:creationId xmlns:a16="http://schemas.microsoft.com/office/drawing/2014/main" id="{B5C75A04-8A80-4B12-82DD-FB4D79DA72B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305720" y="497541"/>
            <a:ext cx="3580560" cy="115596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>
            <a:extLst>
              <a:ext uri="{FF2B5EF4-FFF2-40B4-BE49-F238E27FC236}">
                <a16:creationId xmlns:a16="http://schemas.microsoft.com/office/drawing/2014/main" id="{06BEF5B7-F160-4818-BC4E-3751DDE221D5}"/>
              </a:ext>
            </a:extLst>
          </p:cNvPr>
          <p:cNvSpPr txBox="1">
            <a:spLocks/>
          </p:cNvSpPr>
          <p:nvPr/>
        </p:nvSpPr>
        <p:spPr>
          <a:xfrm>
            <a:off x="685800" y="1653501"/>
            <a:ext cx="10917936" cy="393151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0" algn="ctr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Department of Cyber Security</a:t>
            </a:r>
            <a:endParaRPr lang="en-IN" sz="4000" spc="-1" dirty="0">
              <a:solidFill>
                <a:srgbClr val="000000"/>
              </a:solidFill>
              <a:latin typeface="Arial"/>
            </a:endParaRPr>
          </a:p>
          <a:p>
            <a:pPr marL="228600" marR="0" lvl="0" indent="0" algn="ctr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2026-2027- Odd Semester</a:t>
            </a:r>
            <a:endParaRPr kumimoji="0" lang="en-IN" sz="4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28600" marR="0" lvl="0" indent="0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                          III Year / V Sem</a:t>
            </a:r>
          </a:p>
          <a:p>
            <a:pPr marL="228600" marR="0" lvl="0" indent="0" algn="ctr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CS23533-FOUNDATIONS OF ARTIFICIAL INTELLIGENCE</a:t>
            </a:r>
          </a:p>
          <a:p>
            <a:pPr marL="228600" marR="0" lvl="0" indent="0" algn="ctr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IN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Project Title: Intelligent University Timetable Generator</a:t>
            </a:r>
          </a:p>
          <a:p>
            <a:pPr marL="228600" marR="0" lvl="0" indent="0" algn="ctr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IN" sz="240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Presented by- Ponsurabhi V -077, Swarnamala V -116</a:t>
            </a:r>
          </a:p>
          <a:p>
            <a:pPr marL="228600" marR="0" lvl="0" indent="0" algn="ctr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Review 1– 11.09.2026</a:t>
            </a:r>
            <a:endParaRPr kumimoji="0" lang="en-IN" sz="4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D81229B-0330-4B71-AFEC-B3C206A7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Rajalakshmi Engineering College, Department of Cyber Security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solidFill>
                  <a:srgbClr val="5F6973"/>
                </a:solidFill>
              </a:rPr>
              <a:t>University timetable generation is a complex scheduling problem because multiple resources such as faculty, classrooms, laboratories, sections, subjects, days and periods must be coordinated simultaneously.</a:t>
            </a:r>
          </a:p>
          <a:p>
            <a:pPr algn="just"/>
            <a:r>
              <a:rPr lang="en-IN" sz="2200" dirty="0">
                <a:solidFill>
                  <a:srgbClr val="5F6973"/>
                </a:solidFill>
              </a:rPr>
              <a:t>Our project uses Classical Artificial Intelligence, specifically the Constraint Satisfaction Problem (CSP) paradigm, to automatically generate valid university timetables.</a:t>
            </a:r>
          </a:p>
          <a:p>
            <a:endParaRPr lang="en-IN" sz="2200" dirty="0">
              <a:solidFill>
                <a:srgbClr val="5F6973"/>
              </a:solidFill>
            </a:endParaRPr>
          </a:p>
          <a:p>
            <a:r>
              <a:rPr lang="en-IN" sz="2200" b="1" dirty="0">
                <a:solidFill>
                  <a:srgbClr val="5F6973"/>
                </a:solidFill>
              </a:rPr>
              <a:t>Key points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Automated university-wide timetable generation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Supports multiple departments and sections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Considers faculty, room and section constraints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Distributes courses across the week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Provides adaptive rescheduling during faculty absence </a:t>
            </a:r>
          </a:p>
          <a:p>
            <a:pPr>
              <a:spcAft>
                <a:spcPts val="1400"/>
              </a:spcAft>
              <a:defRPr sz="22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IN" dirty="0"/>
              <a:t>Cyber Security</a:t>
            </a:r>
            <a:r>
              <a:rPr dirty="0"/>
              <a:t>  |  Project Review – 1  |  </a:t>
            </a:r>
            <a:r>
              <a:rPr lang="en-IN" dirty="0"/>
              <a:t>2026-27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8992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solidFill>
                  <a:srgbClr val="5F6973"/>
                </a:solidFill>
              </a:rPr>
              <a:t>Creating a university timetable manually requires considerable effort and can easily result in faculty clashes, room conflicts, uneven workloads and incomplete subject coverage. A timetable that is valid at the beginning of a semester can also become invalid when a faculty member takes leave. Therefore, the system should not simply regenerate the entire timetable whenever a disruption occurs.</a:t>
            </a:r>
          </a:p>
          <a:p>
            <a:endParaRPr lang="en-IN" sz="2200" b="1" dirty="0">
              <a:solidFill>
                <a:srgbClr val="5F6973"/>
              </a:solidFill>
            </a:endParaRPr>
          </a:p>
          <a:p>
            <a:r>
              <a:rPr lang="en-IN" sz="2200" b="1" dirty="0">
                <a:solidFill>
                  <a:srgbClr val="5F6973"/>
                </a:solidFill>
              </a:rPr>
              <a:t>Problems addressed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Faculty and classroom conflicts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Section clashes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Uneven distribution of courses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Difficulty handling laboratory periods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Repeated manual rescheduling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Large-scale timetable regeneration after faculty absence</a:t>
            </a:r>
          </a:p>
          <a:p>
            <a:endParaRPr lang="en-IN" sz="2200" b="1" dirty="0">
              <a:solidFill>
                <a:srgbClr val="5F6973"/>
              </a:solidFill>
            </a:endParaRPr>
          </a:p>
          <a:p>
            <a:r>
              <a:rPr lang="en-IN" sz="2200" b="1" dirty="0">
                <a:solidFill>
                  <a:srgbClr val="5F6973"/>
                </a:solidFill>
              </a:rPr>
              <a:t>Need</a:t>
            </a:r>
          </a:p>
          <a:p>
            <a:r>
              <a:rPr lang="en-IN" sz="2200" dirty="0">
                <a:solidFill>
                  <a:srgbClr val="5F6973"/>
                </a:solidFill>
              </a:rPr>
              <a:t>A system is required that can generate a valid timetable and adapt only the affected portion when changes occur.</a:t>
            </a:r>
          </a:p>
          <a:p>
            <a:pPr lvl="0"/>
            <a:endParaRPr lang="en-IN" sz="2200" dirty="0">
              <a:solidFill>
                <a:srgbClr val="5F697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78408"/>
            <a:ext cx="1078992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solidFill>
                  <a:srgbClr val="5F6973"/>
                </a:solidFill>
              </a:rPr>
              <a:t>University scheduling is naturally suited to AI because it involves assigning values to variables while satisfying a large number of constraints. The main motivation of this project is to combine CSP-based timetable generation with adaptive rescheduling, making the system useful not only for creating a timetable but also for maintaining it throughout the semester.</a:t>
            </a:r>
          </a:p>
          <a:p>
            <a:endParaRPr lang="en-IN" sz="2200" b="1" dirty="0">
              <a:solidFill>
                <a:srgbClr val="5F6973"/>
              </a:solidFill>
            </a:endParaRPr>
          </a:p>
          <a:p>
            <a:r>
              <a:rPr lang="en-IN" sz="2200" b="1" dirty="0">
                <a:solidFill>
                  <a:srgbClr val="5F6973"/>
                </a:solidFill>
              </a:rPr>
              <a:t>Motivation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Reduce manual timetable preparation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Apply Classical AI to a real-world scheduling problem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Improve distribution of classes throughout the week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Reduce disruption caused by faculty absence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Preserve unaffected timetable assignments </a:t>
            </a:r>
          </a:p>
          <a:p>
            <a:endParaRPr lang="en-IN" sz="2200" b="1" dirty="0">
              <a:solidFill>
                <a:srgbClr val="5F6973"/>
              </a:solidFill>
            </a:endParaRPr>
          </a:p>
          <a:p>
            <a:r>
              <a:rPr lang="en-IN" sz="2200" b="1" dirty="0">
                <a:solidFill>
                  <a:srgbClr val="5F6973"/>
                </a:solidFill>
              </a:rPr>
              <a:t>Practical significance</a:t>
            </a:r>
          </a:p>
          <a:p>
            <a:r>
              <a:rPr lang="en-IN" sz="2200" dirty="0">
                <a:solidFill>
                  <a:srgbClr val="5F6973"/>
                </a:solidFill>
              </a:rPr>
              <a:t>The system can act as a centralized timetable platform for students, faculty and administrators.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52144"/>
            <a:ext cx="107899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200" dirty="0">
                <a:solidFill>
                  <a:srgbClr val="5F6973"/>
                </a:solidFill>
              </a:rPr>
              <a:t>To model university timetable generation as a </a:t>
            </a:r>
            <a:r>
              <a:rPr lang="en-IN" sz="2200" b="1" dirty="0">
                <a:solidFill>
                  <a:srgbClr val="5F6973"/>
                </a:solidFill>
              </a:rPr>
              <a:t>Constraint Satisfaction Problem.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200" dirty="0">
                <a:solidFill>
                  <a:srgbClr val="5F6973"/>
                </a:solidFill>
              </a:rPr>
              <a:t>To generate conflict-free timetables using </a:t>
            </a:r>
            <a:r>
              <a:rPr lang="en-IN" sz="2200" b="1" dirty="0">
                <a:solidFill>
                  <a:srgbClr val="5F6973"/>
                </a:solidFill>
              </a:rPr>
              <a:t>Backtracking Search.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200" dirty="0">
                <a:solidFill>
                  <a:srgbClr val="5F6973"/>
                </a:solidFill>
              </a:rPr>
              <a:t>To improve search efficiency using: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5F6973"/>
                </a:solidFill>
              </a:rPr>
              <a:t>Minimum Remaining Values (MRV)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5F6973"/>
                </a:solidFill>
              </a:rPr>
              <a:t>Least Constraining Value (LCV)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5F6973"/>
                </a:solidFill>
              </a:rPr>
              <a:t>Forward Checking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200" dirty="0">
                <a:solidFill>
                  <a:srgbClr val="5F6973"/>
                </a:solidFill>
              </a:rPr>
              <a:t>To distribute course sessions across the week according to their required weekly periods.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200" dirty="0">
                <a:solidFill>
                  <a:srgbClr val="5F6973"/>
                </a:solidFill>
              </a:rPr>
              <a:t>To develop an adaptive rescheduling mechanism that handles faculty leave by: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5F6973"/>
                </a:solidFill>
              </a:rPr>
              <a:t>Finding a qualified substitute, or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5F6973"/>
                </a:solidFill>
              </a:rPr>
              <a:t>Rescheduling only the affected class when substitution is unavailable.</a:t>
            </a:r>
          </a:p>
          <a:p>
            <a:pPr>
              <a:spcAft>
                <a:spcPts val="1400"/>
              </a:spcAft>
              <a:defRPr sz="22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698169"/>
              </p:ext>
            </p:extLst>
          </p:nvPr>
        </p:nvGraphicFramePr>
        <p:xfrm>
          <a:off x="411480" y="105156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S.No.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 / Technique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de-DE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Lixi Zhang, Sim Kim Lau</a:t>
                      </a: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, 2005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CSP, Backtracking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Models university timetabling as a CSP and uses systematic search to construct valid timetables.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Does not address dynamic faculty absence or adaptive rescheduling.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Islam Abdelraouf, Slim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Abdennadher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Carmen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Gervet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2011</a:t>
                      </a:r>
                      <a:endParaRPr lang="en-IN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Constraint Programming, CSP, Entity–Relationship </a:t>
                      </a:r>
                      <a:r>
                        <a:rPr lang="en-IN" sz="1200" kern="1200" dirty="0" err="1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Modeling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Provides a structured model for representing constraints in university timetabling.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Focuses on constraint modelling; limited focus on timetable changes after disruptions.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Matteo Ceschia, Tommaso Di Gaspero, Andrea Schaerf et al.,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Constraint Programming, Metaheuristics, Benchmark Analysis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Studies educational timetabling problems, benchmarks and modern solution approaches.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2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Mainly focuses on solving/evaluating timetabling problems, not local faculty-absence adaptation.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0392"/>
            <a:ext cx="5236464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5F6973"/>
                </a:solidFill>
              </a:rPr>
              <a:t>Traditional timetable systems generally generate schedules by assigning subjects to available time slots while checking basic constraints. Some systems use optimization or search techniques, but when a major change occurs, the timetable may need to be regenerated or manually modified.</a:t>
            </a:r>
          </a:p>
          <a:p>
            <a:endParaRPr lang="en-IN" dirty="0">
              <a:solidFill>
                <a:srgbClr val="5F6973"/>
              </a:solidFill>
            </a:endParaRPr>
          </a:p>
          <a:p>
            <a:r>
              <a:rPr lang="en-IN" b="1" dirty="0">
                <a:solidFill>
                  <a:srgbClr val="5F6973"/>
                </a:solidFill>
              </a:rPr>
              <a:t>Advantages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Automates basic scheduling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Reduces manual effort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Can satisfy predefined constraints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Search-based approaches can systematically find solutions </a:t>
            </a:r>
          </a:p>
          <a:p>
            <a:r>
              <a:rPr lang="en-IN" b="1" dirty="0">
                <a:solidFill>
                  <a:srgbClr val="5F6973"/>
                </a:solidFill>
              </a:rPr>
              <a:t>Limitations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Difficult to handle dynamic changes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Faculty absence can disrupt existing schedules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Manual modification can introduce new conflicts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Entire timetable may need to be regenerated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Course sessions may not be evenly distributed</a:t>
            </a:r>
          </a:p>
          <a:p>
            <a:pPr>
              <a:spcAft>
                <a:spcPts val="1400"/>
              </a:spcAft>
              <a:defRPr sz="20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484632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[Existing System Diagram / Screenshot]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ABEFA-44D4-5835-40DF-A42F8BF2A650}"/>
              </a:ext>
            </a:extLst>
          </p:cNvPr>
          <p:cNvSpPr txBox="1"/>
          <p:nvPr/>
        </p:nvSpPr>
        <p:spPr>
          <a:xfrm>
            <a:off x="6281928" y="4928616"/>
            <a:ext cx="1929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5F6973"/>
                </a:solidFill>
              </a:rPr>
              <a:t>Existing</a:t>
            </a:r>
            <a:r>
              <a:rPr lang="en-IN" b="1" dirty="0"/>
              <a:t> </a:t>
            </a:r>
            <a:r>
              <a:rPr lang="en-IN" b="1" dirty="0">
                <a:solidFill>
                  <a:srgbClr val="5F6973"/>
                </a:solidFill>
              </a:rPr>
              <a:t>approach</a:t>
            </a:r>
          </a:p>
          <a:p>
            <a:endParaRPr lang="en-IN" dirty="0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78436141-8E4B-721D-E636-92C1A0B837E0}"/>
              </a:ext>
            </a:extLst>
          </p:cNvPr>
          <p:cNvSpPr/>
          <p:nvPr/>
        </p:nvSpPr>
        <p:spPr>
          <a:xfrm>
            <a:off x="6364224" y="5559552"/>
            <a:ext cx="795528" cy="466344"/>
          </a:xfrm>
          <a:prstGeom prst="roundRect">
            <a:avLst/>
          </a:prstGeom>
          <a:solidFill>
            <a:srgbClr val="EEF2FA"/>
          </a:solidFill>
          <a:ln>
            <a:solidFill>
              <a:srgbClr val="37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373F82"/>
                </a:solidFill>
              </a:rPr>
              <a:t>Inputs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10260CE-71CF-10CA-8F2B-ED4325E6DAEC}"/>
              </a:ext>
            </a:extLst>
          </p:cNvPr>
          <p:cNvSpPr/>
          <p:nvPr/>
        </p:nvSpPr>
        <p:spPr>
          <a:xfrm>
            <a:off x="7571232" y="5559552"/>
            <a:ext cx="1005840" cy="466344"/>
          </a:xfrm>
          <a:prstGeom prst="roundRect">
            <a:avLst/>
          </a:prstGeom>
          <a:solidFill>
            <a:srgbClr val="EEF2FA"/>
          </a:solidFill>
          <a:ln>
            <a:solidFill>
              <a:srgbClr val="37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373F82"/>
                </a:solidFill>
              </a:rPr>
              <a:t>CSP Model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53DEC377-262B-CC59-5F64-A6DF592DF225}"/>
              </a:ext>
            </a:extLst>
          </p:cNvPr>
          <p:cNvSpPr/>
          <p:nvPr/>
        </p:nvSpPr>
        <p:spPr>
          <a:xfrm>
            <a:off x="9006840" y="5559552"/>
            <a:ext cx="1143000" cy="466344"/>
          </a:xfrm>
          <a:prstGeom prst="roundRect">
            <a:avLst/>
          </a:prstGeom>
          <a:solidFill>
            <a:srgbClr val="EEF2FA"/>
          </a:solidFill>
          <a:ln>
            <a:solidFill>
              <a:srgbClr val="37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373F82"/>
                </a:solidFill>
              </a:rPr>
              <a:t>Backtracking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458F3EBD-D45A-0280-A124-AFABBE085101}"/>
              </a:ext>
            </a:extLst>
          </p:cNvPr>
          <p:cNvSpPr/>
          <p:nvPr/>
        </p:nvSpPr>
        <p:spPr>
          <a:xfrm>
            <a:off x="10518648" y="5559552"/>
            <a:ext cx="1322832" cy="466344"/>
          </a:xfrm>
          <a:prstGeom prst="roundRect">
            <a:avLst/>
          </a:prstGeom>
          <a:solidFill>
            <a:srgbClr val="EEF2FA"/>
          </a:solidFill>
          <a:ln>
            <a:solidFill>
              <a:srgbClr val="37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373F82"/>
                </a:solidFill>
              </a:rPr>
              <a:t>Full Regeneration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CB3275-A1BF-7A49-46D4-593693DAB82B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7159752" y="5792724"/>
            <a:ext cx="41148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D80010-C3B9-8365-2C25-0390D0A52115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8577072" y="5792724"/>
            <a:ext cx="429768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1900AA-21C4-13AD-A33A-CC22C4C2D962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10149840" y="5792724"/>
            <a:ext cx="368808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A911D7A4-A43A-5547-4B41-EBD7BC563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5" y="1883664"/>
            <a:ext cx="4334157" cy="2176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78408"/>
            <a:ext cx="530352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5F6973"/>
                </a:solidFill>
              </a:rPr>
              <a:t>The proposed system models university timetable generation as a Constraint Satisfaction Problem (CSP) and uses AI-based search to generate a valid and balanced timetable.</a:t>
            </a:r>
          </a:p>
          <a:p>
            <a:r>
              <a:rPr lang="en-IN" b="1" dirty="0">
                <a:solidFill>
                  <a:srgbClr val="5F6973"/>
                </a:solidFill>
              </a:rPr>
              <a:t>Key 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University-wide timetable generation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Handles multiple departments and sections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Considers faculty, room and section constraints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Uses Backtracking + MRV + LCV + Forward Checking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Distributes course periods evenly across the week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Supports theory and laboratory scheduling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5F6973"/>
                </a:solidFill>
              </a:rPr>
              <a:t>Provides role-based access for Admin, Faculty and Students</a:t>
            </a:r>
          </a:p>
          <a:p>
            <a:pPr>
              <a:spcAft>
                <a:spcPts val="1400"/>
              </a:spcAft>
              <a:defRPr sz="20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484632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[Proposed System Diagram]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E40AB91E-1AB7-1C94-252F-44EF3CDC64DF}"/>
              </a:ext>
            </a:extLst>
          </p:cNvPr>
          <p:cNvSpPr/>
          <p:nvPr/>
        </p:nvSpPr>
        <p:spPr>
          <a:xfrm>
            <a:off x="640080" y="4709160"/>
            <a:ext cx="5455920" cy="1609344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114A3A-9B9E-3A1A-2A1E-5A6C30104C5A}"/>
              </a:ext>
            </a:extLst>
          </p:cNvPr>
          <p:cNvSpPr txBox="1"/>
          <p:nvPr/>
        </p:nvSpPr>
        <p:spPr>
          <a:xfrm>
            <a:off x="810768" y="4737271"/>
            <a:ext cx="50413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Novelty – Adaptive Rescheduling</a:t>
            </a:r>
          </a:p>
          <a:p>
            <a:pPr>
              <a:buNone/>
            </a:pPr>
            <a:r>
              <a:rPr lang="en-IN" sz="1600" dirty="0"/>
              <a:t>When a faculty member applies for leave: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Identify the affected class.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Search for a </a:t>
            </a:r>
            <a:r>
              <a:rPr lang="en-IN" sz="1600" b="1" dirty="0"/>
              <a:t>qualified and available substitute</a:t>
            </a:r>
            <a:r>
              <a:rPr lang="en-IN" sz="16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Else, </a:t>
            </a:r>
            <a:r>
              <a:rPr lang="en-IN" sz="1600" b="1" dirty="0"/>
              <a:t>reschedule only the affected class</a:t>
            </a:r>
            <a:r>
              <a:rPr lang="en-IN" sz="16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Preserve remaining timetable - minimum changes.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10471C-6052-83E7-C1F0-8F04E66F6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11115"/>
            <a:ext cx="5303520" cy="35356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Architecture /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29143FED-467B-A51E-C8A7-5F2F91E50906}"/>
              </a:ext>
            </a:extLst>
          </p:cNvPr>
          <p:cNvSpPr/>
          <p:nvPr/>
        </p:nvSpPr>
        <p:spPr>
          <a:xfrm>
            <a:off x="950976" y="1389888"/>
            <a:ext cx="2176272" cy="1874520"/>
          </a:xfrm>
          <a:prstGeom prst="roundRect">
            <a:avLst/>
          </a:prstGeom>
          <a:solidFill>
            <a:srgbClr val="EEF2FA"/>
          </a:solidFill>
          <a:ln>
            <a:solidFill>
              <a:srgbClr val="37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sz="2000" b="1" dirty="0">
                <a:solidFill>
                  <a:srgbClr val="373F82"/>
                </a:solidFill>
              </a:rPr>
              <a:t>INPUT</a:t>
            </a:r>
            <a:br>
              <a:rPr sz="2000" dirty="0"/>
            </a:br>
            <a:r>
              <a:rPr sz="2000" b="1" dirty="0">
                <a:solidFill>
                  <a:schemeClr val="tx1"/>
                </a:solidFill>
              </a:rPr>
              <a:t>Departments • Sections • Courses</a:t>
            </a:r>
            <a:br>
              <a:rPr sz="2000" dirty="0">
                <a:solidFill>
                  <a:schemeClr val="tx1"/>
                </a:solidFill>
              </a:rPr>
            </a:br>
            <a:r>
              <a:rPr sz="2000" b="1" dirty="0">
                <a:solidFill>
                  <a:schemeClr val="tx1"/>
                </a:solidFill>
              </a:rPr>
              <a:t>Faculty • Rooms • L/T/P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9078EC9B-BDAC-261F-F0BE-41791758A591}"/>
              </a:ext>
            </a:extLst>
          </p:cNvPr>
          <p:cNvSpPr/>
          <p:nvPr/>
        </p:nvSpPr>
        <p:spPr>
          <a:xfrm>
            <a:off x="4791456" y="1325880"/>
            <a:ext cx="2633472" cy="2020824"/>
          </a:xfrm>
          <a:prstGeom prst="roundRect">
            <a:avLst/>
          </a:prstGeom>
          <a:solidFill>
            <a:srgbClr val="EEF2FA"/>
          </a:solidFill>
          <a:ln>
            <a:solidFill>
              <a:srgbClr val="37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rgbClr val="373F82"/>
                </a:solidFill>
              </a:rPr>
              <a:t>PREPROCESSING - </a:t>
            </a:r>
            <a:r>
              <a:rPr sz="2000" b="1" dirty="0">
                <a:solidFill>
                  <a:srgbClr val="373F82"/>
                </a:solidFill>
              </a:rPr>
              <a:t>CSP FORMULATION</a:t>
            </a:r>
            <a:br>
              <a:rPr sz="2000" dirty="0"/>
            </a:br>
            <a:r>
              <a:rPr sz="2000" b="1" dirty="0">
                <a:solidFill>
                  <a:schemeClr val="tx1"/>
                </a:solidFill>
              </a:rPr>
              <a:t>Variables • Domains</a:t>
            </a:r>
            <a:br>
              <a:rPr sz="2000" dirty="0">
                <a:solidFill>
                  <a:schemeClr val="tx1"/>
                </a:solidFill>
              </a:rPr>
            </a:br>
            <a:r>
              <a:rPr sz="2000" b="1" dirty="0">
                <a:solidFill>
                  <a:schemeClr val="tx1"/>
                </a:solidFill>
              </a:rPr>
              <a:t>Hard &amp; soft constraints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B594DA54-0454-6DE3-F3DC-854D8299A823}"/>
              </a:ext>
            </a:extLst>
          </p:cNvPr>
          <p:cNvSpPr/>
          <p:nvPr/>
        </p:nvSpPr>
        <p:spPr>
          <a:xfrm>
            <a:off x="9070848" y="1389888"/>
            <a:ext cx="2286000" cy="1874520"/>
          </a:xfrm>
          <a:prstGeom prst="roundRect">
            <a:avLst/>
          </a:prstGeom>
          <a:solidFill>
            <a:srgbClr val="EEF2FA"/>
          </a:solidFill>
          <a:ln>
            <a:solidFill>
              <a:srgbClr val="37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sz="2000" b="1" dirty="0">
                <a:solidFill>
                  <a:srgbClr val="373F82"/>
                </a:solidFill>
              </a:rPr>
              <a:t>CLASSICAL AI SEARCH</a:t>
            </a:r>
            <a:br>
              <a:rPr sz="2000" dirty="0"/>
            </a:br>
            <a:r>
              <a:rPr sz="2000" b="1" dirty="0">
                <a:solidFill>
                  <a:schemeClr val="tx1"/>
                </a:solidFill>
              </a:rPr>
              <a:t>Backtracking</a:t>
            </a:r>
            <a:br>
              <a:rPr sz="2000" dirty="0">
                <a:solidFill>
                  <a:schemeClr val="tx1"/>
                </a:solidFill>
              </a:rPr>
            </a:br>
            <a:r>
              <a:rPr sz="2000" b="1" dirty="0">
                <a:solidFill>
                  <a:schemeClr val="tx1"/>
                </a:solidFill>
              </a:rPr>
              <a:t>MRV • LCV • Forward Checking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4F468FE7-8469-37B2-966E-06E963E3284A}"/>
              </a:ext>
            </a:extLst>
          </p:cNvPr>
          <p:cNvSpPr/>
          <p:nvPr/>
        </p:nvSpPr>
        <p:spPr>
          <a:xfrm>
            <a:off x="6196584" y="4123944"/>
            <a:ext cx="3395472" cy="1673352"/>
          </a:xfrm>
          <a:prstGeom prst="roundRect">
            <a:avLst/>
          </a:prstGeom>
          <a:solidFill>
            <a:srgbClr val="EEF2FA"/>
          </a:solidFill>
          <a:ln>
            <a:solidFill>
              <a:srgbClr val="37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sz="2000" b="1" dirty="0">
                <a:solidFill>
                  <a:srgbClr val="373F82"/>
                </a:solidFill>
              </a:rPr>
              <a:t>VALIDATION &amp; ADAPTATION</a:t>
            </a:r>
            <a:br>
              <a:rPr sz="2000" dirty="0"/>
            </a:br>
            <a:r>
              <a:rPr sz="2000" b="1" dirty="0">
                <a:solidFill>
                  <a:schemeClr val="tx1"/>
                </a:solidFill>
              </a:rPr>
              <a:t>Conflict checks • Stability</a:t>
            </a:r>
            <a:br>
              <a:rPr sz="2000" dirty="0">
                <a:solidFill>
                  <a:schemeClr val="tx1"/>
                </a:solidFill>
              </a:rPr>
            </a:br>
            <a:r>
              <a:rPr sz="2000" b="1" dirty="0">
                <a:solidFill>
                  <a:schemeClr val="tx1"/>
                </a:solidFill>
              </a:rPr>
              <a:t>Leave / Substitute / Reschedule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774759B0-BC64-A097-DF2E-AD24E8B511A5}"/>
              </a:ext>
            </a:extLst>
          </p:cNvPr>
          <p:cNvSpPr/>
          <p:nvPr/>
        </p:nvSpPr>
        <p:spPr>
          <a:xfrm>
            <a:off x="2852928" y="4123944"/>
            <a:ext cx="2404872" cy="1673352"/>
          </a:xfrm>
          <a:prstGeom prst="roundRect">
            <a:avLst/>
          </a:prstGeom>
          <a:solidFill>
            <a:srgbClr val="EEF2FA"/>
          </a:solidFill>
          <a:ln>
            <a:solidFill>
              <a:srgbClr val="37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sz="2000" b="1" dirty="0">
                <a:solidFill>
                  <a:srgbClr val="373F82"/>
                </a:solidFill>
              </a:rPr>
              <a:t>OUTPUT</a:t>
            </a:r>
            <a:br>
              <a:rPr sz="2000" dirty="0"/>
            </a:br>
            <a:r>
              <a:rPr sz="2000" b="1" dirty="0">
                <a:solidFill>
                  <a:schemeClr val="tx1"/>
                </a:solidFill>
              </a:rPr>
              <a:t>University Timetable</a:t>
            </a:r>
            <a:br>
              <a:rPr sz="2000" dirty="0">
                <a:solidFill>
                  <a:schemeClr val="tx1"/>
                </a:solidFill>
              </a:rPr>
            </a:br>
            <a:r>
              <a:rPr sz="2000" b="1" dirty="0">
                <a:solidFill>
                  <a:schemeClr val="tx1"/>
                </a:solidFill>
              </a:rPr>
              <a:t>Role-based UI • Updated T</a:t>
            </a:r>
            <a:r>
              <a:rPr lang="en-IN" sz="2000" b="1" dirty="0" err="1">
                <a:solidFill>
                  <a:schemeClr val="tx1"/>
                </a:solidFill>
              </a:rPr>
              <a:t>imetable</a:t>
            </a:r>
            <a:endParaRPr sz="2000" b="1" dirty="0">
              <a:solidFill>
                <a:schemeClr val="tx1"/>
              </a:solidFill>
            </a:endParaRP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2247CE32-ED95-5093-8B48-4F5A6616E71F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127248" y="2327148"/>
            <a:ext cx="1664208" cy="9144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A96FFBA9-84DC-5ABE-8FA6-1207837D2719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24928" y="2327148"/>
            <a:ext cx="1645920" cy="9144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A9C7DC6-9C32-7BE3-E055-57DDD66F3A6A}"/>
              </a:ext>
            </a:extLst>
          </p:cNvPr>
          <p:cNvCxnSpPr>
            <a:stCxn id="14" idx="2"/>
            <a:endCxn id="15" idx="3"/>
          </p:cNvCxnSpPr>
          <p:nvPr/>
        </p:nvCxnSpPr>
        <p:spPr>
          <a:xfrm rot="5400000">
            <a:off x="9054846" y="3801618"/>
            <a:ext cx="1696212" cy="6217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DCB6220-A79C-EFBD-5DE2-38839FED2002}"/>
              </a:ext>
            </a:extLst>
          </p:cNvPr>
          <p:cNvCxnSpPr>
            <a:cxnSpLocks/>
            <a:stCxn id="15" idx="1"/>
            <a:endCxn id="16" idx="3"/>
          </p:cNvCxnSpPr>
          <p:nvPr/>
        </p:nvCxnSpPr>
        <p:spPr>
          <a:xfrm rot="10800000">
            <a:off x="5257800" y="4960620"/>
            <a:ext cx="938784" cy="12700"/>
          </a:xfrm>
          <a:prstGeom prst="bentConnector3">
            <a:avLst>
              <a:gd name="adj1" fmla="val -64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3756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1. Data Collection</a:t>
            </a:r>
            <a:endParaRPr lang="en-IN" dirty="0"/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chemeClr val="tx1"/>
                </a:solidFill>
              </a:rPr>
              <a:t>The system collects curriculum information, departments, sections, faculty, classrooms and laboratories.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34840" y="1234440"/>
            <a:ext cx="333756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2. </a:t>
            </a:r>
            <a:r>
              <a:rPr lang="en-US" dirty="0"/>
              <a:t>CSP Formulation</a:t>
            </a:r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Each required weekly class session is represented as a CSP variable. Its domain contains valid combinations of day, period and room.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0" y="1234440"/>
            <a:ext cx="333756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3. </a:t>
            </a:r>
            <a:r>
              <a:rPr lang="en-IN" sz="2000" b="1" dirty="0">
                <a:solidFill>
                  <a:srgbClr val="3465A4"/>
                </a:solidFill>
              </a:rPr>
              <a:t>Constraint Checking </a:t>
            </a:r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chemeClr val="tx1"/>
                </a:solidFill>
              </a:rPr>
              <a:t>Avoid faculty, room and section conflicts.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3337560" cy="2084832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4. </a:t>
            </a:r>
            <a:r>
              <a:rPr lang="en-IN" sz="2000" b="1" dirty="0">
                <a:solidFill>
                  <a:srgbClr val="3465A4"/>
                </a:solidFill>
              </a:rPr>
              <a:t>AI Search </a:t>
            </a:r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chemeClr val="tx1"/>
                </a:solidFill>
              </a:rPr>
              <a:t>Apply</a:t>
            </a:r>
            <a:r>
              <a:rPr lang="en-IN" sz="2000" b="1" dirty="0">
                <a:solidFill>
                  <a:srgbClr val="3465A4"/>
                </a:solidFill>
              </a:rPr>
              <a:t> </a:t>
            </a:r>
            <a:r>
              <a:rPr lang="en-IN" sz="2000" b="1" dirty="0">
                <a:solidFill>
                  <a:schemeClr val="tx1"/>
                </a:solidFill>
              </a:rPr>
              <a:t>Backtracking with MRV, LCV and Forward Checking.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3703320"/>
            <a:ext cx="3337560" cy="2084832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rgbClr val="3465A4"/>
                </a:solidFill>
              </a:rPr>
              <a:t>5. Validation </a:t>
            </a:r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chemeClr val="tx1"/>
                </a:solidFill>
              </a:rPr>
              <a:t>Verify weekly subject requirements and timetable validity.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0" y="3703320"/>
            <a:ext cx="3337560" cy="2084832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US" dirty="0"/>
              <a:t>6. Adaptive Rescheduling </a:t>
            </a:r>
            <a:r>
              <a:rPr lang="en-US" dirty="0">
                <a:solidFill>
                  <a:schemeClr val="tx1"/>
                </a:solidFill>
              </a:rPr>
              <a:t>Find a substitute for absent faculty or reschedule the affected class.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5F6973"/>
                </a:solidFill>
              </a:defRPr>
            </a:pPr>
            <a:r>
              <a:rPr dirty="0"/>
              <a:t>Programming Language: Python</a:t>
            </a:r>
          </a:p>
          <a:p>
            <a:pPr>
              <a:spcAft>
                <a:spcPts val="1400"/>
              </a:spcAft>
              <a:defRPr sz="2100">
                <a:solidFill>
                  <a:srgbClr val="5F6973"/>
                </a:solidFill>
              </a:defRPr>
            </a:pPr>
            <a:r>
              <a:rPr dirty="0"/>
              <a:t>Framework / Library: </a:t>
            </a:r>
            <a:r>
              <a:rPr lang="en-IN" dirty="0"/>
              <a:t>Flask</a:t>
            </a:r>
            <a:endParaRPr dirty="0"/>
          </a:p>
          <a:p>
            <a:pPr>
              <a:spcAft>
                <a:spcPts val="1400"/>
              </a:spcAft>
              <a:defRPr sz="2100">
                <a:solidFill>
                  <a:srgbClr val="5F6973"/>
                </a:solidFill>
              </a:defRPr>
            </a:pPr>
            <a:r>
              <a:rPr dirty="0"/>
              <a:t>Database: </a:t>
            </a:r>
            <a:r>
              <a:rPr lang="en-IN" dirty="0"/>
              <a:t>SQLite</a:t>
            </a:r>
          </a:p>
          <a:p>
            <a:pPr>
              <a:spcAft>
                <a:spcPts val="1400"/>
              </a:spcAft>
              <a:defRPr sz="2100">
                <a:solidFill>
                  <a:srgbClr val="5F6973"/>
                </a:solidFill>
              </a:defRPr>
            </a:pPr>
            <a:r>
              <a:rPr lang="en-IN" sz="2100" dirty="0">
                <a:solidFill>
                  <a:srgbClr val="5F6973"/>
                </a:solidFill>
              </a:rPr>
              <a:t>Frontend</a:t>
            </a:r>
            <a:r>
              <a:rPr lang="en-IN" sz="2100" b="1" dirty="0">
                <a:solidFill>
                  <a:srgbClr val="5F6973"/>
                </a:solidFill>
              </a:rPr>
              <a:t>:</a:t>
            </a:r>
            <a:r>
              <a:rPr lang="en-IN" sz="2100" dirty="0">
                <a:solidFill>
                  <a:srgbClr val="5F6973"/>
                </a:solidFill>
              </a:rPr>
              <a:t> HTML, CSS, JavaScript</a:t>
            </a:r>
          </a:p>
          <a:p>
            <a:pPr>
              <a:spcAft>
                <a:spcPts val="1400"/>
              </a:spcAft>
              <a:defRPr sz="2100">
                <a:solidFill>
                  <a:srgbClr val="5F6973"/>
                </a:solidFill>
              </a:defRPr>
            </a:pPr>
            <a:r>
              <a:rPr lang="en-IN" sz="2100" dirty="0">
                <a:solidFill>
                  <a:srgbClr val="5F6973"/>
                </a:solidFill>
              </a:rPr>
              <a:t>AI Techniques: CSP, Backtracking, MRV, LCV, Forward Checking</a:t>
            </a:r>
            <a:endParaRPr b="1" dirty="0"/>
          </a:p>
          <a:p>
            <a:pPr>
              <a:spcAft>
                <a:spcPts val="1400"/>
              </a:spcAft>
              <a:defRPr sz="2100">
                <a:solidFill>
                  <a:srgbClr val="5F6973"/>
                </a:solidFill>
              </a:defRPr>
            </a:pPr>
            <a:r>
              <a:rPr dirty="0"/>
              <a:t>Tools / IDE: </a:t>
            </a:r>
            <a:r>
              <a:rPr lang="en-IN" sz="2100" dirty="0">
                <a:solidFill>
                  <a:srgbClr val="5F6973"/>
                </a:solidFill>
              </a:rPr>
              <a:t>VS Code, Git/GitHub, Web Browser</a:t>
            </a:r>
            <a:endParaRPr dirty="0"/>
          </a:p>
          <a:p>
            <a:pPr>
              <a:spcAft>
                <a:spcPts val="1400"/>
              </a:spcAft>
              <a:defRPr sz="2100">
                <a:solidFill>
                  <a:srgbClr val="5F6973"/>
                </a:solidFill>
              </a:defRPr>
            </a:pPr>
            <a:r>
              <a:rPr dirty="0"/>
              <a:t>Hardware:</a:t>
            </a:r>
            <a:r>
              <a:rPr lang="en-IN" dirty="0"/>
              <a:t> </a:t>
            </a:r>
            <a:r>
              <a:rPr lang="en-IN" sz="2100" dirty="0">
                <a:solidFill>
                  <a:srgbClr val="5F6973"/>
                </a:solidFill>
              </a:rPr>
              <a:t>A standard laptop/desktop with Python support is sufficient. No specialized hardware is required.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Module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850392"/>
            <a:ext cx="5449824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Module 1 – University Data Management</a:t>
            </a:r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US" dirty="0"/>
              <a:t>Maintains departments, sections, subjects, faculty, classrooms, laboratories and course offerings.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45352" y="859536"/>
            <a:ext cx="5449823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dirty="0">
                <a:solidFill>
                  <a:schemeClr val="tx1"/>
                </a:solidFill>
              </a:rPr>
              <a:t>Module 2 – CSP Formulation</a:t>
            </a:r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IN" dirty="0"/>
              <a:t>Converts timetable requirements into CSP variables, domains and constraints.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48056" y="2651760"/>
            <a:ext cx="5449824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Module 3 – Constraint Validation</a:t>
            </a:r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US" dirty="0"/>
              <a:t>Checks faculty, room, section, room-type and weekly-period constraints to ensure timetable validity.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45352" y="2660904"/>
            <a:ext cx="5449823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Module 4 – Optimized Search</a:t>
            </a:r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US" dirty="0"/>
              <a:t>Uses Backtracking with MRV, LCV and Forward Checking to intelligently search for timetable assignments.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48057" y="4498848"/>
            <a:ext cx="11247118" cy="1709928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Module 5 – Adaptive Timetable Rescheduling</a:t>
            </a:r>
          </a:p>
          <a:p>
            <a:pPr algn="just">
              <a:defRPr sz="2000" b="1">
                <a:solidFill>
                  <a:srgbClr val="3465A4"/>
                </a:solidFill>
              </a:defRPr>
            </a:pPr>
            <a:r>
              <a:rPr lang="en-US" dirty="0"/>
              <a:t>Handles faculty leave requests, searches for qualified substitutes and, when necessary, reschedules only affected classes while preserving the remaining timetable.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37449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lang="en-IN" dirty="0"/>
              <a:t>Output</a:t>
            </a:r>
            <a:r>
              <a:rPr dirty="0"/>
              <a:t>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92D40B-AEB0-EA94-F9FC-55793DA2B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28" y="1130182"/>
            <a:ext cx="5043373" cy="21890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F0AB92-4AC1-F1F1-0EFD-CEFE9A77C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61" y="1119418"/>
            <a:ext cx="5134811" cy="21998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2CDEDE-C400-8AC6-FE5F-2C364F6A8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28" y="3750606"/>
            <a:ext cx="5043373" cy="24401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978884-D137-EC38-BAC8-7D6AD91DC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85" y="3750606"/>
            <a:ext cx="5166927" cy="24401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1FD6F-148A-592C-E58C-AB7D2C53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3DA32F-69D2-5798-854D-9BF21A32A371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D36DF-54F2-3FAA-ACC6-01D6F86C069B}"/>
              </a:ext>
            </a:extLst>
          </p:cNvPr>
          <p:cNvSpPr txBox="1"/>
          <p:nvPr/>
        </p:nvSpPr>
        <p:spPr>
          <a:xfrm>
            <a:off x="502920" y="118872"/>
            <a:ext cx="237449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lang="en-IN" dirty="0"/>
              <a:t>Output</a:t>
            </a:r>
            <a:r>
              <a:rPr dirty="0"/>
              <a:t> /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ED4AB-4FB6-10C4-FB6E-E349B75A9732}"/>
              </a:ext>
            </a:extLst>
          </p:cNvPr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3FDE6-2F17-4080-3131-17707D4A9A87}"/>
              </a:ext>
            </a:extLst>
          </p:cNvPr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22D1B-F92D-5907-BFD0-3C2D3EE76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53" y="965021"/>
            <a:ext cx="9991463" cy="518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88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Project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044262"/>
              </p:ext>
            </p:extLst>
          </p:nvPr>
        </p:nvGraphicFramePr>
        <p:xfrm>
          <a:off x="1344168" y="1271016"/>
          <a:ext cx="9482328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0388">
                  <a:extLst>
                    <a:ext uri="{9D8B030D-6E8A-4147-A177-3AD203B41FA5}">
                      <a16:colId xmlns:a16="http://schemas.microsoft.com/office/drawing/2014/main" val="2909092699"/>
                    </a:ext>
                  </a:extLst>
                </a:gridCol>
              </a:tblGrid>
              <a:tr h="783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Module</a:t>
                      </a:r>
                      <a:r>
                        <a:rPr dirty="0"/>
                        <a:t> 1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Module</a:t>
                      </a:r>
                      <a:r>
                        <a:rPr dirty="0"/>
                        <a:t> 2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Module</a:t>
                      </a:r>
                      <a:r>
                        <a:rPr dirty="0"/>
                        <a:t> 3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Module</a:t>
                      </a:r>
                      <a:r>
                        <a:rPr dirty="0"/>
                        <a:t> 4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/>
                        <a:t>Module 5</a:t>
                      </a:r>
                      <a:endParaRPr dirty="0"/>
                    </a:p>
                  </a:txBody>
                  <a:tcPr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3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IN" dirty="0"/>
                        <a:t>Description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3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Data Management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3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CSP Formulation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3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Constraint Validation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3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Optimized Search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300" kern="1200" dirty="0">
                          <a:solidFill>
                            <a:srgbClr val="5F6973"/>
                          </a:solidFill>
                          <a:latin typeface="+mn-lt"/>
                          <a:ea typeface="+mn-ea"/>
                          <a:cs typeface="+mn-cs"/>
                        </a:rPr>
                        <a:t>Adaptive Rescheduling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33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IN" dirty="0"/>
                        <a:t>Status</a:t>
                      </a:r>
                    </a:p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endParaRPr lang="en-IN" dirty="0"/>
                    </a:p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endParaRPr lang="en-IN" dirty="0"/>
                    </a:p>
                    <a:p>
                      <a:pPr algn="ctr"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IN" dirty="0"/>
                        <a:t>Pending</a:t>
                      </a:r>
                      <a:endParaRPr dirty="0"/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1542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F390A460-DE12-959C-EB5D-73A8AD064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3969" y="3046476"/>
            <a:ext cx="304800" cy="304800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4DFB6283-5078-F2BC-C4B2-7D7602CF4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4548" y="3046476"/>
            <a:ext cx="304800" cy="30480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26353032-7754-D8F0-3A97-867E691B1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3890" y="3046476"/>
            <a:ext cx="304800" cy="304800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A2E3C816-DC0C-B434-ECA1-D7E8FD90D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3232" y="3046476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Current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52730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5F6973"/>
                </a:solidFill>
              </a:rPr>
              <a:t>Completed</a:t>
            </a:r>
          </a:p>
          <a:p>
            <a:r>
              <a:rPr lang="en-IN" sz="2200" dirty="0">
                <a:solidFill>
                  <a:srgbClr val="5F6973"/>
                </a:solidFill>
              </a:rPr>
              <a:t>✓ Literature survey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Problem identification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Requirement analysis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CSP formulation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University-wide data model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Timetable generation engine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Backtracking implementation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MRV, LCV and Forward Checking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Constraint validation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Multi-department support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Flask-based UI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✓ Faculty leave request workflow</a:t>
            </a:r>
          </a:p>
          <a:p>
            <a:endParaRPr lang="en-IN" sz="2200" dirty="0">
              <a:solidFill>
                <a:srgbClr val="5F6973"/>
              </a:solidFill>
            </a:endParaRPr>
          </a:p>
          <a:p>
            <a:pPr>
              <a:spcAft>
                <a:spcPts val="1400"/>
              </a:spcAft>
              <a:defRPr sz="22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68D23-4ADC-1DD1-979A-733ABC9A7901}"/>
              </a:ext>
            </a:extLst>
          </p:cNvPr>
          <p:cNvSpPr txBox="1"/>
          <p:nvPr/>
        </p:nvSpPr>
        <p:spPr>
          <a:xfrm>
            <a:off x="5989320" y="1143000"/>
            <a:ext cx="535838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5F6973"/>
                </a:solidFill>
              </a:rPr>
              <a:t>Remaining</a:t>
            </a:r>
          </a:p>
          <a:p>
            <a:pPr>
              <a:buNone/>
            </a:pPr>
            <a:r>
              <a:rPr lang="en-IN" sz="2200" dirty="0">
                <a:solidFill>
                  <a:srgbClr val="5F6973"/>
                </a:solidFill>
              </a:rPr>
              <a:t>☐ Substitute faculty selection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☐ Adaptive rescheduling logic</a:t>
            </a:r>
          </a:p>
          <a:p>
            <a:pPr>
              <a:buNone/>
            </a:pPr>
            <a:r>
              <a:rPr lang="en-IN" sz="2200" dirty="0">
                <a:solidFill>
                  <a:srgbClr val="5F6973"/>
                </a:solidFill>
              </a:rPr>
              <a:t>☐ Large-scale performance benchmarking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☐ More extensive disruption experiments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☐ Final UI refinement</a:t>
            </a:r>
            <a:br>
              <a:rPr lang="en-IN" sz="2200" dirty="0">
                <a:solidFill>
                  <a:srgbClr val="5F6973"/>
                </a:solidFill>
              </a:rPr>
            </a:br>
            <a:r>
              <a:rPr lang="en-IN" sz="2200" dirty="0">
                <a:solidFill>
                  <a:srgbClr val="5F6973"/>
                </a:solidFill>
              </a:rPr>
              <a:t>☐ Final documentation and evaluation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280160"/>
            <a:ext cx="98663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5F6973"/>
                </a:solidFill>
              </a:rPr>
              <a:t>The current system can be extended into a complete university scheduling platform.</a:t>
            </a:r>
          </a:p>
          <a:p>
            <a:endParaRPr lang="en-IN" sz="2200" dirty="0">
              <a:solidFill>
                <a:srgbClr val="5F6973"/>
              </a:solidFill>
            </a:endParaRPr>
          </a:p>
          <a:p>
            <a:r>
              <a:rPr lang="en-IN" sz="2200" b="1" dirty="0">
                <a:solidFill>
                  <a:srgbClr val="5F6973"/>
                </a:solidFill>
              </a:rPr>
              <a:t>Future enhancements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Real-time notifications for timetable changes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Mobile-friendly student and faculty interface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Secure authentication and authorization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Automatic email/app notifications for approved leave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Better substitute ranking based on workload and expertise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Multi-day and emergency absence handling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Integration with university attendance systems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Larger-scale performance benchmarking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5F6973"/>
                </a:solidFill>
              </a:rPr>
              <a:t>Historical timetable analysis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solidFill>
                  <a:srgbClr val="5F6973"/>
                </a:solidFill>
              </a:rPr>
              <a:t>The project applies Classical AI and CSP techniques to automate university timetable generation. The system combines Backtracking, MRV, LCV and Forward Checking to produce valid and balanced schedules.</a:t>
            </a:r>
          </a:p>
          <a:p>
            <a:r>
              <a:rPr lang="en-IN" sz="2200" b="1" dirty="0">
                <a:solidFill>
                  <a:srgbClr val="5F6973"/>
                </a:solidFill>
              </a:rPr>
              <a:t>Key Contribution</a:t>
            </a:r>
          </a:p>
          <a:p>
            <a:r>
              <a:rPr lang="en-IN" sz="2200" dirty="0">
                <a:solidFill>
                  <a:srgbClr val="5F6973"/>
                </a:solidFill>
              </a:rPr>
              <a:t>The proposed adaptive rescheduling mechanism handles faculty absence by first finding a qualified substitute and, if unavailable, rescheduling only the affected class.</a:t>
            </a:r>
          </a:p>
          <a:p>
            <a:endParaRPr lang="en-IN" sz="2200" dirty="0">
              <a:solidFill>
                <a:srgbClr val="5F697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C9CE7-93B4-7707-1E8D-32088B8FEE57}"/>
              </a:ext>
            </a:extLst>
          </p:cNvPr>
          <p:cNvSpPr txBox="1"/>
          <p:nvPr/>
        </p:nvSpPr>
        <p:spPr>
          <a:xfrm>
            <a:off x="800100" y="4184386"/>
            <a:ext cx="3204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5F6973"/>
                </a:solidFill>
              </a:rPr>
              <a:t>FROM </a:t>
            </a:r>
          </a:p>
          <a:p>
            <a:r>
              <a:rPr lang="en-IN" sz="1800" dirty="0">
                <a:solidFill>
                  <a:srgbClr val="5F6973"/>
                </a:solidFill>
              </a:rPr>
              <a:t>STATIC TIMETABLE GENERATION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5183F-CB75-36A1-59E5-3AAA00FEA5FB}"/>
              </a:ext>
            </a:extLst>
          </p:cNvPr>
          <p:cNvSpPr txBox="1"/>
          <p:nvPr/>
        </p:nvSpPr>
        <p:spPr>
          <a:xfrm>
            <a:off x="7450074" y="4241726"/>
            <a:ext cx="3941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5F6973"/>
                </a:solidFill>
              </a:rPr>
              <a:t>TO </a:t>
            </a:r>
          </a:p>
          <a:p>
            <a:r>
              <a:rPr lang="en-IN" sz="1800" dirty="0">
                <a:solidFill>
                  <a:srgbClr val="5F6973"/>
                </a:solidFill>
              </a:rPr>
              <a:t>ADAPTIVE TIMETABLE MANAGEMENT.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4CB18E4-239C-5C2B-4521-D4691EF24DF8}"/>
              </a:ext>
            </a:extLst>
          </p:cNvPr>
          <p:cNvSpPr/>
          <p:nvPr/>
        </p:nvSpPr>
        <p:spPr>
          <a:xfrm>
            <a:off x="4873752" y="4434840"/>
            <a:ext cx="1828800" cy="301752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/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5F6973"/>
                </a:solidFill>
              </a:rPr>
              <a:t>[1] Zhang, L., &amp; Lau, S. K. (2005). Constructing university timetable using constraint satisfaction programming approach. Proceedings of the International Conference on Computational Intelligence for Modelling, Control and Automation, 2, 55–60. </a:t>
            </a:r>
            <a:r>
              <a:rPr lang="en-US" sz="2000" dirty="0">
                <a:solidFill>
                  <a:srgbClr val="5F697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https://doi.org/10.1109/CIMCA.2005.1631445</a:t>
            </a:r>
            <a:endParaRPr lang="en-US" sz="2000" dirty="0">
              <a:solidFill>
                <a:srgbClr val="5F6973"/>
              </a:solidFill>
            </a:endParaRPr>
          </a:p>
          <a:p>
            <a:pPr algn="just"/>
            <a:endParaRPr lang="en-US" sz="2000" dirty="0">
              <a:solidFill>
                <a:srgbClr val="5F6973"/>
              </a:solidFill>
            </a:endParaRPr>
          </a:p>
          <a:p>
            <a:pPr algn="just"/>
            <a:r>
              <a:rPr lang="en-US" sz="2000" dirty="0">
                <a:solidFill>
                  <a:srgbClr val="5F6973"/>
                </a:solidFill>
              </a:rPr>
              <a:t>[2] </a:t>
            </a:r>
            <a:r>
              <a:rPr lang="en-IN" sz="2000" dirty="0">
                <a:solidFill>
                  <a:srgbClr val="5F6973"/>
                </a:solidFill>
              </a:rPr>
              <a:t>Abdelraouf, I., </a:t>
            </a:r>
            <a:r>
              <a:rPr lang="en-IN" sz="2000" dirty="0" err="1">
                <a:solidFill>
                  <a:srgbClr val="5F6973"/>
                </a:solidFill>
              </a:rPr>
              <a:t>Abdennadher</a:t>
            </a:r>
            <a:r>
              <a:rPr lang="en-IN" sz="2000" dirty="0">
                <a:solidFill>
                  <a:srgbClr val="5F6973"/>
                </a:solidFill>
              </a:rPr>
              <a:t>, S., &amp; </a:t>
            </a:r>
            <a:r>
              <a:rPr lang="en-IN" sz="2000" dirty="0" err="1">
                <a:solidFill>
                  <a:srgbClr val="5F6973"/>
                </a:solidFill>
              </a:rPr>
              <a:t>Gervet</a:t>
            </a:r>
            <a:r>
              <a:rPr lang="en-IN" sz="2000" dirty="0">
                <a:solidFill>
                  <a:srgbClr val="5F6973"/>
                </a:solidFill>
              </a:rPr>
              <a:t>, C. (2011). A visual entity-relationship model for constraint-based university timetabling. </a:t>
            </a:r>
            <a:r>
              <a:rPr lang="en-IN" sz="2000" dirty="0" err="1">
                <a:solidFill>
                  <a:srgbClr val="5F6973"/>
                </a:solidFill>
              </a:rPr>
              <a:t>arXiv</a:t>
            </a:r>
            <a:r>
              <a:rPr lang="en-IN" sz="2000" dirty="0">
                <a:solidFill>
                  <a:srgbClr val="5F6973"/>
                </a:solidFill>
              </a:rPr>
              <a:t>. </a:t>
            </a:r>
            <a:r>
              <a:rPr lang="en-IN" sz="2000" dirty="0">
                <a:solidFill>
                  <a:srgbClr val="5F697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https://arxiv.org/abs/1109.6112</a:t>
            </a:r>
            <a:endParaRPr lang="en-IN" sz="2000" dirty="0">
              <a:solidFill>
                <a:srgbClr val="5F6973"/>
              </a:solidFill>
            </a:endParaRPr>
          </a:p>
          <a:p>
            <a:pPr algn="just"/>
            <a:endParaRPr lang="en-IN" sz="2000" dirty="0">
              <a:solidFill>
                <a:srgbClr val="5F6973"/>
              </a:solidFill>
            </a:endParaRPr>
          </a:p>
          <a:p>
            <a:pPr algn="just"/>
            <a:r>
              <a:rPr lang="en-US" sz="2000" dirty="0">
                <a:solidFill>
                  <a:srgbClr val="5F6973"/>
                </a:solidFill>
              </a:rPr>
              <a:t>[3] </a:t>
            </a:r>
            <a:r>
              <a:rPr lang="en-US" sz="2000" dirty="0" err="1">
                <a:solidFill>
                  <a:srgbClr val="5F6973"/>
                </a:solidFill>
              </a:rPr>
              <a:t>Ceschia</a:t>
            </a:r>
            <a:r>
              <a:rPr lang="en-US" sz="2000" dirty="0">
                <a:solidFill>
                  <a:srgbClr val="5F6973"/>
                </a:solidFill>
              </a:rPr>
              <a:t>, M., Di </a:t>
            </a:r>
            <a:r>
              <a:rPr lang="en-US" sz="2000" dirty="0" err="1">
                <a:solidFill>
                  <a:srgbClr val="5F6973"/>
                </a:solidFill>
              </a:rPr>
              <a:t>Gaspero</a:t>
            </a:r>
            <a:r>
              <a:rPr lang="en-US" sz="2000" dirty="0">
                <a:solidFill>
                  <a:srgbClr val="5F6973"/>
                </a:solidFill>
              </a:rPr>
              <a:t>, T., </a:t>
            </a:r>
            <a:r>
              <a:rPr lang="en-US" sz="2000" dirty="0" err="1">
                <a:solidFill>
                  <a:srgbClr val="5F6973"/>
                </a:solidFill>
              </a:rPr>
              <a:t>Schaerf</a:t>
            </a:r>
            <a:r>
              <a:rPr lang="en-US" sz="2000" dirty="0">
                <a:solidFill>
                  <a:srgbClr val="5F6973"/>
                </a:solidFill>
              </a:rPr>
              <a:t>, A., &amp; others. (2022). Educational timetabling: Problems, benchmarks and state-of-the-art results. Annals of Operations Research. </a:t>
            </a:r>
          </a:p>
          <a:p>
            <a:pPr algn="just"/>
            <a:endParaRPr lang="en-US" sz="2000" dirty="0">
              <a:solidFill>
                <a:srgbClr val="5F6973"/>
              </a:solidFill>
            </a:endParaRPr>
          </a:p>
          <a:p>
            <a:pPr algn="just"/>
            <a:r>
              <a:rPr lang="en-US" sz="2000" dirty="0">
                <a:solidFill>
                  <a:srgbClr val="5F6973"/>
                </a:solidFill>
              </a:rPr>
              <a:t>[4] Cheng, C., Kang, L., Leung, N., &amp; White, G. M. (2005). Investigations of a constraint logic programming approach to university timetabling. Lecture Notes in Computer Science.</a:t>
            </a:r>
          </a:p>
          <a:p>
            <a:pPr algn="just"/>
            <a:endParaRPr lang="en-US" sz="2000" dirty="0">
              <a:solidFill>
                <a:srgbClr val="5F6973"/>
              </a:solidFill>
            </a:endParaRPr>
          </a:p>
          <a:p>
            <a:pPr algn="just"/>
            <a:r>
              <a:rPr lang="en-US" sz="2000" dirty="0">
                <a:solidFill>
                  <a:srgbClr val="5F6973"/>
                </a:solidFill>
              </a:rPr>
              <a:t>[5] Burke, E. K., Mareček, J., Parkes, A. J., &amp; </a:t>
            </a:r>
            <a:r>
              <a:rPr lang="en-US" sz="2000" dirty="0" err="1">
                <a:solidFill>
                  <a:srgbClr val="5F6973"/>
                </a:solidFill>
              </a:rPr>
              <a:t>Rudová</a:t>
            </a:r>
            <a:r>
              <a:rPr lang="en-US" sz="2000" dirty="0">
                <a:solidFill>
                  <a:srgbClr val="5F6973"/>
                </a:solidFill>
              </a:rPr>
              <a:t>, H. (2009). Decomposition, reformulation, and diving in university course timetabling. Operations Research Proceedings. </a:t>
            </a:r>
            <a:r>
              <a:rPr lang="en-US" sz="2000" dirty="0">
                <a:solidFill>
                  <a:srgbClr val="5F6973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https://arxiv.org/abs/0903.1095</a:t>
            </a:r>
            <a:endParaRPr sz="2000" dirty="0">
              <a:solidFill>
                <a:srgbClr val="5F697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417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rPr lang="en-US" dirty="0"/>
              <a:t>Cyber Security  |  Project Review – 1  |  2026-27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2215</TotalTime>
  <Words>1818</Words>
  <Application>Microsoft Office PowerPoint</Application>
  <PresentationFormat>Widescreen</PresentationFormat>
  <Paragraphs>242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Ponsurabhi Ponsurabhi</cp:lastModifiedBy>
  <cp:revision>20</cp:revision>
  <dcterms:created xsi:type="dcterms:W3CDTF">2013-01-27T09:14:16Z</dcterms:created>
  <dcterms:modified xsi:type="dcterms:W3CDTF">2026-09-11T16:04:00Z</dcterms:modified>
  <cp:category/>
</cp:coreProperties>
</file>