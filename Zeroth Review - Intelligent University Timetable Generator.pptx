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handoutMaster" Target="handoutMasters/handout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F31E85-6B50-4414-8303-1660ABD7E6B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FCE1D-0AE9-4302-BF12-A2B0CA32A9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3B001-ABFF-418E-9154-637B4600883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54E17-5DD5-4758-8B2D-0B3BE7289F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A4D68-88AA-42B1-B509-F1FA04B3A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9E7C3-5A08-4764-A95A-BBECC46AC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26868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A9BA1-D418-46F7-B646-16F2E4E1F9F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2CE00-EA5F-4FB0-8537-EFD9EFC07C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55755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A59A-BCBE-48E2-A350-FB035DDEC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F6DBD-B524-460B-AA44-E186583A4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4A3FC-54A1-489A-8276-92648A22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1A6A6-A7F2-4933-9075-6FF54A45A246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D5EB-B231-46BD-AC05-9475512F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ACC44-0FA3-41D7-8827-56818F3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53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A280-D3AA-4359-82E8-23CF7F95F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0452E-B981-494B-AF11-EEEB6CB1B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6FC46-05C5-491A-98F5-67DFE9F1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3293B-E7C6-4EBD-97F1-D064646A23FC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C7F8E-CF1F-4BF8-9AB5-1D86268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CA77-D61D-46CC-A34B-A12DBAB3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56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E4260-F786-41D5-AA19-25971DA5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54B45-ABB3-43F6-A69A-330D3EEE3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FBA7F-C03D-42BA-860F-C0084E05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31AF-597A-4011-A47A-590DF41FF4CE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C5C7F-0F76-4539-A47B-34FE706B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38696-8488-4503-B740-D2352312E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0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B93C4-F8EF-4CB4-90F1-A6F2C253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5783-F42E-4766-9BD6-9281265A4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CDE48A-A630-45BF-BFE4-7FAE6E8FE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3FBA5-DF65-41CC-BAA5-E9D93CAD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8AE2A-4198-4CFC-8A3D-99793047056B}" type="datetime1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48E5F-5552-416B-BC90-C62417A3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DDB7E-587A-4AA5-8A58-352BC20C7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704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7CEE-8F3F-40F1-B22D-D53F1637F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AEE05-D573-4122-8E24-00B78F74B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22DC4-F974-49BF-B147-72208B764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9CDB9-0076-4DF6-9690-182E5157A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3C982-67D7-427B-8C3D-1FF7CC53E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65A0D-D7E5-4F76-A5DC-B3A473496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E98C-4750-4DE8-AE7D-913096F33BA4}" type="datetime1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4A474-160B-4E5B-B8C1-9A764A89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52139-45CD-4883-962C-8B58CD26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5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30830-F074-417B-B120-745038C2D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C52E2-6C9D-4F48-9885-60AA29DE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4900D-B9D7-4B48-B03E-93C6BFA38FDB}" type="datetime1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F0182-AF02-46DC-A005-32A72DB4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F1EB-8B71-439F-B1E9-6EA720C1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62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52A6E2-8CED-468E-B9C8-63EEF92A1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D085-2496-430D-A475-FB3919DB8C97}" type="datetime1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DDBB6-47BF-4BE7-97E4-AB044897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0F90C-24D0-4C65-99B4-EADB86BE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10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5C33-D77F-42B7-969F-DE257926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8D13-72C5-42CB-BDE1-8AA6B32DD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5EF6E-114D-425F-BB1A-C35164117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18FDF-36DE-48DA-886F-421C2203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6D8D-D6A6-4D95-BF85-9EF8F0710FA7}" type="datetime1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1A6E3-D660-40AD-AC51-1F8805A5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90E82-A75D-48B1-B3E6-FF48ADF80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704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577C-5B3A-48AD-9B45-4A9C9A23E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30F3EF-BF57-46A6-9EB6-2DA43D25D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5DFA0-E5C8-4DDF-B283-4A2DD170A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A8042-4719-4615-8878-7A26662F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03A52-04AE-48F7-9FCF-E17B2D2BA4E4}" type="datetime1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B10D6-FDCC-4E80-9116-42BC543C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E45E7-2218-4691-9448-44DD3A1A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28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F59C-24A2-4159-9380-F6AAEA13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AC032-FA02-45A1-B799-75A08E888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9FC9-D5D3-4E4A-9286-9E96B8147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E1855-FF8B-4A8F-B974-476D0BEFE359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9B5AB-659C-41B0-9073-34826E629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DCFD4-462A-4C50-9A15-A34E5BAD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08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6CEE7-4472-4220-ABE7-624EBBAB3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BCA2D1-1973-4733-9AC1-AA8B41575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8E509-CC9E-46C7-BCB4-B4C77706F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94AA9-A825-4631-9385-0F96794CA13F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ADC3E-64E9-4052-AAAA-0A77E649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93A4B-8F28-4558-9932-5AEBAE56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892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61322-C13F-4F32-A9C2-A66C573C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4B022-D55F-4115-A03E-92A7A835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1FBDE-AF6F-4F87-97D2-A1D19B658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DD9C9-F760-491D-BEB2-C9719B2DAA72}" type="datetime1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5F895-F6B3-49E8-AE71-CA9D6A533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1C5C0-3DE6-438F-852E-4102D3E14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CF31F-072A-420B-BD3B-3E62C5546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06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109.6112" TargetMode="External" /><Relationship Id="rId2" Type="http://schemas.openxmlformats.org/officeDocument/2006/relationships/hyperlink" Target="https://doi.org/10.1109/CIMCA.2005.1631445" TargetMode="Externa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arxiv.org/abs/0903.1095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ome | Rajalakshmi Engineering College (REC)">
            <a:extLst>
              <a:ext uri="{FF2B5EF4-FFF2-40B4-BE49-F238E27FC236}">
                <a16:creationId xmlns:a16="http://schemas.microsoft.com/office/drawing/2014/main" id="{B5C75A04-8A80-4B12-82DD-FB4D79DA72B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305720" y="497541"/>
            <a:ext cx="3580560" cy="11559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>
            <a:extLst>
              <a:ext uri="{FF2B5EF4-FFF2-40B4-BE49-F238E27FC236}">
                <a16:creationId xmlns:a16="http://schemas.microsoft.com/office/drawing/2014/main" id="{06BEF5B7-F160-4818-BC4E-3751DDE221D5}"/>
              </a:ext>
            </a:extLst>
          </p:cNvPr>
          <p:cNvSpPr txBox="1">
            <a:spLocks/>
          </p:cNvSpPr>
          <p:nvPr/>
        </p:nvSpPr>
        <p:spPr>
          <a:xfrm>
            <a:off x="1488141" y="1653501"/>
            <a:ext cx="9601199" cy="393151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3200" spc="-1" dirty="0">
                <a:solidFill>
                  <a:schemeClr val="dk1"/>
                </a:solidFill>
                <a:latin typeface="Calibri"/>
              </a:rPr>
              <a:t>              </a:t>
            </a:r>
            <a:r>
              <a:rPr lang="en-US" sz="4000" spc="-1" dirty="0">
                <a:solidFill>
                  <a:schemeClr val="dk1"/>
                </a:solidFill>
                <a:latin typeface="Times New Roman"/>
              </a:rPr>
              <a:t>Department of Cyber Security</a:t>
            </a:r>
            <a:endParaRPr lang="en-IN" sz="40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4000" spc="-1" dirty="0">
                <a:solidFill>
                  <a:schemeClr val="dk1"/>
                </a:solidFill>
                <a:latin typeface="Times New Roman"/>
              </a:rPr>
              <a:t>             2026-2027- Odd Semester</a:t>
            </a:r>
            <a:endParaRPr lang="en-IN" sz="40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4000" spc="-1" dirty="0">
                <a:solidFill>
                  <a:schemeClr val="dk1"/>
                </a:solidFill>
                <a:latin typeface="Times New Roman"/>
              </a:rPr>
              <a:t>                       III Year /V Sem</a:t>
            </a: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b="1" dirty="0"/>
              <a:t>          CS23533-FOUNDATIONS OF ARTIFICIAL INTELLIGENCE</a:t>
            </a:r>
            <a:endParaRPr lang="en-IN" sz="40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4000" spc="-1" dirty="0">
                <a:solidFill>
                  <a:schemeClr val="dk1"/>
                </a:solidFill>
                <a:latin typeface="Times New Roman"/>
              </a:rPr>
              <a:t>              Zeroth Review – 31/07/2026</a:t>
            </a:r>
            <a:endParaRPr lang="en-IN" sz="4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D81229B-0330-4B71-AFEC-B3C206A7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ome | Rajalakshmi Engineering College (REC)">
            <a:extLst>
              <a:ext uri="{FF2B5EF4-FFF2-40B4-BE49-F238E27FC236}">
                <a16:creationId xmlns:a16="http://schemas.microsoft.com/office/drawing/2014/main" id="{B5C75A04-8A80-4B12-82DD-FB4D79DA72B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030071" y="497541"/>
            <a:ext cx="4856209" cy="115596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>
            <a:extLst>
              <a:ext uri="{FF2B5EF4-FFF2-40B4-BE49-F238E27FC236}">
                <a16:creationId xmlns:a16="http://schemas.microsoft.com/office/drawing/2014/main" id="{06BEF5B7-F160-4818-BC4E-3751DDE221D5}"/>
              </a:ext>
            </a:extLst>
          </p:cNvPr>
          <p:cNvSpPr txBox="1">
            <a:spLocks/>
          </p:cNvSpPr>
          <p:nvPr/>
        </p:nvSpPr>
        <p:spPr>
          <a:xfrm>
            <a:off x="1105620" y="1653501"/>
            <a:ext cx="9601199" cy="177549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3200" spc="-1" dirty="0">
                <a:solidFill>
                  <a:schemeClr val="dk1"/>
                </a:solidFill>
                <a:latin typeface="Calibri"/>
              </a:rPr>
              <a:t>                                 </a:t>
            </a:r>
          </a:p>
          <a:p>
            <a:pPr indent="0" algn="ctr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3200" b="1" spc="-1" dirty="0">
                <a:solidFill>
                  <a:schemeClr val="dk1"/>
                </a:solidFill>
                <a:latin typeface="Calibri"/>
              </a:rPr>
              <a:t>INTELLIGENT UNIVERSITY TIMETABLE GENERATOR</a:t>
            </a:r>
            <a:endParaRPr lang="en-IN" sz="4000" b="1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>
            <a:extLst>
              <a:ext uri="{FF2B5EF4-FFF2-40B4-BE49-F238E27FC236}">
                <a16:creationId xmlns:a16="http://schemas.microsoft.com/office/drawing/2014/main" id="{C32D6708-F773-46E7-9E94-72075E88B5CC}"/>
              </a:ext>
            </a:extLst>
          </p:cNvPr>
          <p:cNvSpPr txBox="1">
            <a:spLocks/>
          </p:cNvSpPr>
          <p:nvPr/>
        </p:nvSpPr>
        <p:spPr>
          <a:xfrm>
            <a:off x="1992531" y="3278879"/>
            <a:ext cx="4626851" cy="19256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spc="-1" dirty="0">
                <a:solidFill>
                  <a:schemeClr val="dk1"/>
                </a:solidFill>
                <a:latin typeface="Times New Roman"/>
              </a:rPr>
              <a:t>Batch Members :</a:t>
            </a: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spc="-1" dirty="0">
                <a:solidFill>
                  <a:schemeClr val="dk1"/>
                </a:solidFill>
                <a:latin typeface="Times New Roman"/>
              </a:rPr>
              <a:t>1. Name: Reg.no : </a:t>
            </a:r>
            <a:r>
              <a:rPr lang="en-US" sz="2000" b="1" spc="-1" dirty="0" err="1">
                <a:solidFill>
                  <a:schemeClr val="dk1"/>
                </a:solidFill>
                <a:latin typeface="Times New Roman"/>
              </a:rPr>
              <a:t>Ponsurabhi.V</a:t>
            </a:r>
            <a:r>
              <a:rPr lang="en-US" sz="2000" b="1" spc="-1" dirty="0">
                <a:solidFill>
                  <a:schemeClr val="dk1"/>
                </a:solidFill>
                <a:latin typeface="Times New Roman"/>
              </a:rPr>
              <a:t> 241901077</a:t>
            </a: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000" b="1" spc="-1" dirty="0">
                <a:solidFill>
                  <a:schemeClr val="dk1"/>
                </a:solidFill>
                <a:latin typeface="Times New Roman"/>
              </a:rPr>
              <a:t>2. Name: Reg.no : </a:t>
            </a:r>
            <a:r>
              <a:rPr lang="en-US" sz="2000" b="1" spc="-1" dirty="0" err="1">
                <a:solidFill>
                  <a:schemeClr val="dk1"/>
                </a:solidFill>
                <a:latin typeface="Times New Roman"/>
              </a:rPr>
              <a:t>Swarnamala.V</a:t>
            </a:r>
            <a:r>
              <a:rPr lang="en-US" sz="2000" b="1" spc="-1" dirty="0">
                <a:solidFill>
                  <a:schemeClr val="dk1"/>
                </a:solidFill>
                <a:latin typeface="Times New Roman"/>
              </a:rPr>
              <a:t> 241901116</a:t>
            </a:r>
            <a:endParaRPr lang="en-IN" sz="20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IN" sz="2000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IN" sz="1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>
            <a:extLst>
              <a:ext uri="{FF2B5EF4-FFF2-40B4-BE49-F238E27FC236}">
                <a16:creationId xmlns:a16="http://schemas.microsoft.com/office/drawing/2014/main" id="{34960059-C4DC-4A0F-82B7-476907EEDA90}"/>
              </a:ext>
            </a:extLst>
          </p:cNvPr>
          <p:cNvSpPr txBox="1">
            <a:spLocks/>
          </p:cNvSpPr>
          <p:nvPr/>
        </p:nvSpPr>
        <p:spPr>
          <a:xfrm>
            <a:off x="6596500" y="3278879"/>
            <a:ext cx="4086554" cy="161071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chemeClr val="dk1"/>
                </a:solidFill>
                <a:latin typeface="Times New Roman"/>
              </a:rPr>
              <a:t>Supervisor: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strike="noStrike" spc="-1" dirty="0">
                <a:solidFill>
                  <a:schemeClr val="dk1"/>
                </a:solidFill>
                <a:latin typeface="Times New Roman"/>
              </a:rPr>
              <a:t>Dr. </a:t>
            </a:r>
            <a:r>
              <a:rPr lang="en-US" sz="2000" b="1" strike="noStrike" spc="-1" dirty="0" err="1">
                <a:solidFill>
                  <a:schemeClr val="dk1"/>
                </a:solidFill>
                <a:latin typeface="Times New Roman"/>
              </a:rPr>
              <a:t>S.Bhuvana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spc="-1" baseline="33000" dirty="0">
                <a:solidFill>
                  <a:schemeClr val="dk1"/>
                </a:solidFill>
                <a:latin typeface="Times New Roman"/>
              </a:rPr>
              <a:t>Assistant Professor[SG]</a:t>
            </a: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endParaRPr lang="en-IN" sz="18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EA50C1-7D90-44B1-A258-E5A0DCD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84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9FF9B-84EC-4676-8D8A-BE77AD168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pc="-1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OUTLINE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BC5E5-D6BC-4856-A612-FD644827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882" y="1771837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IN" spc="-1" dirty="0">
                <a:solidFill>
                  <a:schemeClr val="dk1"/>
                </a:solidFill>
                <a:latin typeface="Times New Roman"/>
              </a:rPr>
              <a:t>Abstract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IN" spc="-1" dirty="0">
                <a:solidFill>
                  <a:schemeClr val="dk1"/>
                </a:solidFill>
                <a:latin typeface="Times New Roman"/>
              </a:rPr>
              <a:t>Objective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IN" spc="-1" dirty="0">
                <a:solidFill>
                  <a:schemeClr val="dk1"/>
                </a:solidFill>
                <a:latin typeface="Times New Roman"/>
              </a:rPr>
              <a:t>Literature Survey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/>
              </a:rPr>
              <a:t>Summary of Literature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IN" spc="-1" dirty="0">
                <a:solidFill>
                  <a:schemeClr val="dk1"/>
                </a:solidFill>
                <a:latin typeface="Times New Roman"/>
              </a:rPr>
              <a:t>Proposed System &amp; Novelty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IN" spc="-1" dirty="0">
                <a:solidFill>
                  <a:schemeClr val="dk1"/>
                </a:solidFill>
                <a:latin typeface="Times New Roman"/>
              </a:rPr>
              <a:t>Block Diagram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chemeClr val="dk1"/>
                </a:solidFill>
                <a:latin typeface="Times New Roman"/>
              </a:rPr>
              <a:t>Hardware/Software requirements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50000"/>
              </a:lnSpc>
              <a:spcBef>
                <a:spcPts val="819"/>
              </a:spcBef>
              <a:buClr>
                <a:srgbClr val="000000"/>
              </a:buClr>
              <a:buFont typeface="Arial"/>
              <a:buChar char="•"/>
            </a:pPr>
            <a:r>
              <a:rPr lang="en-IN" spc="-1" dirty="0">
                <a:solidFill>
                  <a:schemeClr val="dk1"/>
                </a:solidFill>
                <a:latin typeface="Times New Roman"/>
              </a:rPr>
              <a:t>References</a:t>
            </a:r>
            <a:endParaRPr lang="en-IN" spc="-1" dirty="0">
              <a:solidFill>
                <a:srgbClr val="000000"/>
              </a:solidFill>
              <a:latin typeface="Arial"/>
            </a:endParaRPr>
          </a:p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66A6D-AFEB-431C-8C27-3D289E1F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2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0574-4D6E-453A-A5B1-E1B1A012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ABSTRACT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70EE2-8C3E-4EFA-8326-85AEA10A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University timetable scheduling is a complex problem involving multiple constraints such as faculty availability, classroom allocation, subject hours, and section scheduling. Manual timetable preparation is time-consuming and often results in scheduling conflicts. This project proposes an Intelligent Adaptive University Timetable Generator based on Constraint Satisfaction Problem (CSP) and Backtracking Search. The system automatically generates a conflict-free timetable while satisfying all predefined constraints. Unlike conventional timetable generators, the proposed system supports adaptive timetable regeneration by rescheduling only the affected classes when a faculty member becomes unavailable, thereby preserving the remaining timetable.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53352-E09F-4AB3-90E5-A8680AC6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1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A73F-58BE-494C-9E37-463BBF53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OBJECTIVE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E6CE6-DDFD-4A02-805E-988882856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university timetable generation.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faculty, room, and section conflicts.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Classical AI using CSP and Backtracking Search.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valid timetable satisfying all hard constraints.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adaptive rescheduling for faculty unavailability.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scheduling effort and improve efficiency.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E4B311-0D66-420D-91AF-1DC9BBF4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813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21B0-8A61-4C94-955E-EB6F2E03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pc="-1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Literature Survey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AD0D87-7379-47F8-8088-D1CC072234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78804"/>
              </p:ext>
            </p:extLst>
          </p:nvPr>
        </p:nvGraphicFramePr>
        <p:xfrm>
          <a:off x="605928" y="1539188"/>
          <a:ext cx="11082968" cy="4471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3696">
                  <a:extLst>
                    <a:ext uri="{9D8B030D-6E8A-4147-A177-3AD203B41FA5}">
                      <a16:colId xmlns:a16="http://schemas.microsoft.com/office/drawing/2014/main" val="211445039"/>
                    </a:ext>
                  </a:extLst>
                </a:gridCol>
                <a:gridCol w="1311007">
                  <a:extLst>
                    <a:ext uri="{9D8B030D-6E8A-4147-A177-3AD203B41FA5}">
                      <a16:colId xmlns:a16="http://schemas.microsoft.com/office/drawing/2014/main" val="2379671661"/>
                    </a:ext>
                  </a:extLst>
                </a:gridCol>
                <a:gridCol w="2798285">
                  <a:extLst>
                    <a:ext uri="{9D8B030D-6E8A-4147-A177-3AD203B41FA5}">
                      <a16:colId xmlns:a16="http://schemas.microsoft.com/office/drawing/2014/main" val="1466785847"/>
                    </a:ext>
                  </a:extLst>
                </a:gridCol>
                <a:gridCol w="2599980">
                  <a:extLst>
                    <a:ext uri="{9D8B030D-6E8A-4147-A177-3AD203B41FA5}">
                      <a16:colId xmlns:a16="http://schemas.microsoft.com/office/drawing/2014/main" val="1579054086"/>
                    </a:ext>
                  </a:extLst>
                </a:gridCol>
              </a:tblGrid>
              <a:tr h="49893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069419"/>
                  </a:ext>
                </a:extLst>
              </a:tr>
              <a:tr h="58949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Constructing University Timetable Using Constraint Satisfaction Programming Approach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Lixi Zhang, Sim Kim Lau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CSP, Backtracking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231002"/>
                  </a:ext>
                </a:extLst>
              </a:tr>
              <a:tr h="64457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Visual Entity-Relationship Model for Constraint-Based University Timetabling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2011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Islam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Abdelraouf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Slim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Abdennadher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Carmen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Gervet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 Programming, Entity–Relationship Modeling, CSP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0106974"/>
                  </a:ext>
                </a:extLst>
              </a:tr>
              <a:tr h="4487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Educational Timetabling: Problems, Benchmarks and State-of-the-Art Results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Matteo Ceschia, Tommaso Di Gaspero, Andrea Schaerf et al.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 Programming,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Metaheuristics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Benchmark Analysis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713615"/>
                  </a:ext>
                </a:extLst>
              </a:tr>
              <a:tr h="85903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Investigations of a Constraint Logic Programming Approach to University Timetabling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Czarina Cheng, Le Kang,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Norrus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Leung et</a:t>
                      </a:r>
                      <a:r>
                        <a:rPr lang="en-IN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 Logic Programming (CLP), Logic-Based Scheduling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903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Decomposition, Reformulation, and Diving in University Course Timetabling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Edmund K. Burke,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Jakub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Mareček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Andrew J.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Parkes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 Programming, Decomposition, Heuristic Optimization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83424-B635-4198-810C-92D50E39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432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4C7A-54D8-44AC-8481-E79F9A0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EXISTING SYSTEM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DA2FF-5972-46F4-AABC-25976B75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404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timetable preparation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satisfy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constraints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and room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occur.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timetable is regenerated even for minor changes.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administrative effort.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flexibility in handling schedule modifications. </a:t>
            </a:r>
          </a:p>
        </p:txBody>
      </p:sp>
    </p:spTree>
    <p:extLst>
      <p:ext uri="{BB962C8B-B14F-4D97-AF65-F5344CB8AC3E}">
        <p14:creationId xmlns:p14="http://schemas.microsoft.com/office/powerpoint/2010/main" val="226205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F28B-DC07-4D8C-925B-B394652D5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PROPOSED SYSTEM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172C8-9EE9-4B51-8A7A-63583EB3D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timetable generation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 Satisfaction Problem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 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conflict-free schedules.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faculty, room, and section constraints are satisfied.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allocates subjects based on weekly hours.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efficient timetable generation.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rescheduling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faculty absence.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5CFC0-E255-4A4E-B66F-160696CE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5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9B68-97AE-4226-8DFD-BC9913C5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Novelty in Proposed System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67FFA-CAE8-419B-8A9F-2AE134070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regenerate the complete timetable whenever changes occur.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proposed system: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only the affected classes.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only those timetable entries.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Reapplies CSP only to affected classes.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all unaffected timetable entries.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unnecessary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timetable stability.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D1BA5-F138-46F4-BDD0-6FDDA78C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244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72CB-375E-42B3-BAD3-3348ABA4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BLOCK DIAGRAM(PROPOSED SYSTEM)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264" y="1531156"/>
            <a:ext cx="3409628" cy="477665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343F2-D48F-4E59-8D97-DA60556C4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43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CEDF5-B9F7-4B91-858D-BB211B1C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Hardware/Software Requirements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30061-1822-407B-A876-DADB7600B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3761" y="1693423"/>
            <a:ext cx="4361761" cy="1556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i3/i5 Processor or above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GB RAM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GB Free Storage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DB36B0-5247-44F3-9298-2B524976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68385"/>
              </p:ext>
            </p:extLst>
          </p:nvPr>
        </p:nvGraphicFramePr>
        <p:xfrm>
          <a:off x="848285" y="2115238"/>
          <a:ext cx="5453350" cy="4198113"/>
        </p:xfrm>
        <a:graphic>
          <a:graphicData uri="http://schemas.openxmlformats.org/drawingml/2006/table">
            <a:tbl>
              <a:tblPr/>
              <a:tblGrid>
                <a:gridCol w="210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7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30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10/11, Linux, or 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macOS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81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3.12 or above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81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IDE/Code Editor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30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32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Technique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Constraint Satisfaction Problem (CSP), Backtracking Search, MRV, LCV, Forward Checking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1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SQLite (or MySQL for future enhancement)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30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&amp;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81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Libraries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Flask, Pandas,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NumPy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Tabulate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30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 Manager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30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Browser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Chrome / Microsoft Edge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70321" y="1608459"/>
            <a:ext cx="4605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28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855B-EB5E-4D53-95D3-8E1DF5D65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pc="-1" dirty="0">
                <a:solidFill>
                  <a:schemeClr val="accent1">
                    <a:lumMod val="50000"/>
                  </a:schemeClr>
                </a:solidFill>
                <a:latin typeface="Times New Roman"/>
              </a:rPr>
              <a:t>References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9F23D-2C1E-4B8F-BC11-10828DB19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181" y="1528165"/>
            <a:ext cx="10515600" cy="39251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Journals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Zhang, L., &amp; Lau, S. K. (2005). Constructing university timetable using constraint satisfaction programming approach.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International Conference on Computational Intelligence for Modelling, Control and Automation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55–60.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https://doi.org/10.1109/CIMCA.2005.1631445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Abdelraouf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Abdennadher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Gervet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(2011). A visual entity-relationship model for constraint-based university timetabling.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https://arxiv.org/abs/1109.6112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Ceschia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Di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Gaspero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Schaerf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others. (2022). Educational timetabling: Problems, benchmarks and state-of-the-art results.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Annals of Operations Research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Cheng, C., Kang, L., Leung, N., &amp; White, G. M. (2005). Investigations of a constraint logic programming approach to university timetabling.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Notes in Computer Science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Burke, E. K.,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Mareček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Parkes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J., 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Rudová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(2009). Decomposition, reformulation, and diving in university course timetabling.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Research Proceedings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https://arxiv.org/abs/0903.1095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76813-C5D5-412F-BEE4-27048618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Rajalakshmi Engineering College,Department of Cyber Security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5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955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OUTLINE</vt:lpstr>
      <vt:lpstr>ABSTRACT</vt:lpstr>
      <vt:lpstr>OBJECTIVE</vt:lpstr>
      <vt:lpstr>Literature Survey</vt:lpstr>
      <vt:lpstr>EXISTING SYSTEM</vt:lpstr>
      <vt:lpstr>PROPOSED SYSTEM</vt:lpstr>
      <vt:lpstr>Novelty in Proposed System</vt:lpstr>
      <vt:lpstr>BLOCK DIAGRAM(PROPOSED SYSTEM)</vt:lpstr>
      <vt:lpstr>Hardware/Software Requirements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Ponsurabhi Ponsurabhi</cp:lastModifiedBy>
  <cp:revision>32</cp:revision>
  <dcterms:created xsi:type="dcterms:W3CDTF">2026-07-28T13:30:13Z</dcterms:created>
  <dcterms:modified xsi:type="dcterms:W3CDTF">2026-10-01T02:08:58Z</dcterms:modified>
</cp:coreProperties>
</file>