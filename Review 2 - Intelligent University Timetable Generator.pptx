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76" r:id="rId4"/>
    <p:sldId id="258" r:id="rId5"/>
    <p:sldId id="277" r:id="rId6"/>
    <p:sldId id="259" r:id="rId7"/>
    <p:sldId id="278" r:id="rId8"/>
    <p:sldId id="279" r:id="rId9"/>
    <p:sldId id="271" r:id="rId10"/>
    <p:sldId id="274" r:id="rId11"/>
    <p:sldId id="272" r:id="rId12"/>
    <p:sldId id="280" r:id="rId13"/>
    <p:sldId id="273" r:id="rId14"/>
    <p:sldId id="281" r:id="rId15"/>
    <p:sldId id="282" r:id="rId16"/>
    <p:sldId id="260" r:id="rId17"/>
    <p:sldId id="268" r:id="rId18"/>
    <p:sldId id="283" r:id="rId19"/>
    <p:sldId id="261" r:id="rId20"/>
    <p:sldId id="262" r:id="rId21"/>
    <p:sldId id="284" r:id="rId22"/>
    <p:sldId id="285" r:id="rId23"/>
    <p:sldId id="286" r:id="rId24"/>
    <p:sldId id="269" r:id="rId25"/>
    <p:sldId id="263" r:id="rId26"/>
    <p:sldId id="290" r:id="rId27"/>
    <p:sldId id="302" r:id="rId28"/>
    <p:sldId id="270" r:id="rId29"/>
    <p:sldId id="295" r:id="rId30"/>
    <p:sldId id="296" r:id="rId31"/>
    <p:sldId id="297" r:id="rId32"/>
    <p:sldId id="298" r:id="rId33"/>
    <p:sldId id="299" r:id="rId34"/>
    <p:sldId id="300" r:id="rId35"/>
    <p:sldId id="301" r:id="rId36"/>
    <p:sldId id="264" r:id="rId37"/>
    <p:sldId id="293" r:id="rId38"/>
    <p:sldId id="265" r:id="rId39"/>
    <p:sldId id="266" r:id="rId40"/>
    <p:sldId id="294" r:id="rId41"/>
    <p:sldId id="267" r:id="rId42"/>
  </p:sldIdLst>
  <p:sldSz cx="12192000" cy="6858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0F679A7-86D4-4DF5-AB4A-1758B77C832E}">
          <p14:sldIdLst>
            <p14:sldId id="256"/>
            <p14:sldId id="257"/>
            <p14:sldId id="276"/>
            <p14:sldId id="258"/>
            <p14:sldId id="277"/>
            <p14:sldId id="259"/>
            <p14:sldId id="278"/>
            <p14:sldId id="279"/>
            <p14:sldId id="271"/>
            <p14:sldId id="274"/>
            <p14:sldId id="272"/>
          </p14:sldIdLst>
        </p14:section>
        <p14:section name="Untitled Section" id="{988BE7A7-AABC-42BD-A833-0C6FACC565FD}">
          <p14:sldIdLst>
            <p14:sldId id="280"/>
            <p14:sldId id="273"/>
            <p14:sldId id="281"/>
            <p14:sldId id="282"/>
            <p14:sldId id="260"/>
            <p14:sldId id="268"/>
            <p14:sldId id="283"/>
            <p14:sldId id="261"/>
            <p14:sldId id="262"/>
            <p14:sldId id="284"/>
            <p14:sldId id="285"/>
            <p14:sldId id="286"/>
            <p14:sldId id="269"/>
            <p14:sldId id="263"/>
            <p14:sldId id="290"/>
            <p14:sldId id="302"/>
            <p14:sldId id="270"/>
            <p14:sldId id="295"/>
            <p14:sldId id="296"/>
            <p14:sldId id="297"/>
            <p14:sldId id="298"/>
            <p14:sldId id="299"/>
            <p14:sldId id="300"/>
            <p14:sldId id="301"/>
            <p14:sldId id="264"/>
            <p14:sldId id="293"/>
            <p14:sldId id="265"/>
            <p14:sldId id="266"/>
            <p14:sldId id="294"/>
            <p14:sldId id="2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P" initials="H" lastIdx="1" clrIdx="0">
    <p:extLst>
      <p:ext uri="{19B8F6BF-5375-455C-9EA6-DF929625EA0E}">
        <p15:presenceInfo xmlns:p15="http://schemas.microsoft.com/office/powerpoint/2012/main" userId="HP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556" autoAdjust="0"/>
    <p:restoredTop sz="94660"/>
  </p:normalViewPr>
  <p:slideViewPr>
    <p:cSldViewPr>
      <p:cViewPr>
        <p:scale>
          <a:sx n="66" d="100"/>
          <a:sy n="66" d="100"/>
        </p:scale>
        <p:origin x="304" y="12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9E05D0-A421-4EF3-8512-AD1148C82550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1C5D9F-5FDD-4E04-AD07-37773298FB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9667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1C5D9F-5FDD-4E04-AD07-37773298FBF3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92391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1C5D9F-5FDD-4E04-AD07-37773298FBF3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41540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7">
            <a:extLst>
              <a:ext uri="{FF2B5EF4-FFF2-40B4-BE49-F238E27FC236}">
                <a16:creationId xmlns:a16="http://schemas.microsoft.com/office/drawing/2014/main" id="{8D13192D-1816-F03A-9AF1-BBA902A8A1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393950"/>
            <a:ext cx="103632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IN" sz="180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4B6A37-AD04-C654-AC92-D9CC3ADF0A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58272B-7D6B-F3CE-953F-1079FFA8D8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5F3314-4EF0-936B-77EE-175E9EF6B5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8F95DA7-9E0E-467D-A139-0471DC1777C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0965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A88B164-965D-9E09-9E7D-16374A9EAD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EE044AE8-B23C-D8C6-4D87-EADCB1C0F0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BE04F0FC-AAC5-064C-CDAD-FF80D73B38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C2143B-610F-499C-A392-DFFBE135A7B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2674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E3D50AC-D896-487B-A964-4F2362A2FC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1860975C-7E6F-6BD7-97FB-B68EFA315FE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925DB3BD-FB8F-C610-9A37-B3ADF214A3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5C213C-AC18-4D5A-BA73-4550FF50B84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3545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6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12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CC1F139-34C5-A295-F629-88EF76019A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AB20EB37-7A2A-E49D-01DB-6418D7037D0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C4FAAEF5-CC11-F779-153E-E74E333E5A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8ED4EA-E359-45F1-B86A-A40772B25C2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2587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4E764D-F83F-9CC9-8E38-FEA9647AB7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BF83D4-B422-239C-8C38-4509A66ADB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1238FA-AFA9-8287-25C9-98D6042CFD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37AD66-1F60-49BE-A2E9-D91D10CB91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8931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B80D49F1-7BF0-A0A8-0C0A-9B4F1788B3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BDDDAEBE-B0DA-0212-414B-C9FFC612D8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7430D5C8-DD0F-C0FD-D016-9055C67C40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83B680-F650-469F-A231-392F163461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681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90400DB2-066A-4CAE-071C-1EAF9DDB72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EAB14BBF-3825-C6B5-25F7-8686AAD7C35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784D417B-4541-5C9D-274F-9952E6F120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537315-F462-4C74-88B4-A900525A3FA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7779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0B1A011-C2F2-C9FC-9DD8-A4E6A00AA4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7B4C95F2-7321-CEE1-4FD5-BE988C3BAE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24AB3D0A-7C9E-40E8-0F27-0C737BD346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9B2829-DA13-4801-8FBD-6D5729CB959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1495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531D201-6E7B-DD71-C865-2CC76825209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3A474AB6-A9CC-8EC3-60F9-BBEDD90B03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414DF99B-1424-E931-A0EF-A2CCFECC39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B0EEF8-84AE-4BCB-9844-5B22523396C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5982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E0854C1-7207-EF75-A61A-B4AF54A5D7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023D97B6-49D4-67F3-668F-9724FD3523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EE4FA587-585B-1C1F-066D-B211962B0D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67E6EB-B6CA-430B-8761-75C737CF7A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9476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65118" y="304800"/>
            <a:ext cx="2669116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5651" y="304800"/>
            <a:ext cx="7806267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1D0F6A3-93FF-6A17-402C-31256BC457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FB63A9F3-AD04-ED6E-E628-12170F70CE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01BD68DD-46F8-E148-C9DD-BDF1256D37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31276A-AAE7-4DAF-B5DC-CD9EE96B703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8195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AD52653-E1AE-07CB-DCC9-CD2593D84E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BB93799-0450-059C-B337-0FA5C4C373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AutoShape 4">
            <a:extLst>
              <a:ext uri="{FF2B5EF4-FFF2-40B4-BE49-F238E27FC236}">
                <a16:creationId xmlns:a16="http://schemas.microsoft.com/office/drawing/2014/main" id="{6B43BBB4-1099-054A-DDAC-B357DD3DA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800" y="1566864"/>
            <a:ext cx="10610851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IN" sz="1800"/>
          </a:p>
        </p:txBody>
      </p:sp>
      <p:sp>
        <p:nvSpPr>
          <p:cNvPr id="1029" name="Line 5">
            <a:extLst>
              <a:ext uri="{FF2B5EF4-FFF2-40B4-BE49-F238E27FC236}">
                <a16:creationId xmlns:a16="http://schemas.microsoft.com/office/drawing/2014/main" id="{986B2119-A42B-45B1-6DCF-EF7CC29004D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2800" y="6172200"/>
            <a:ext cx="105664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6C6B070B-4AFE-871D-87ED-86092999D2D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128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FA33AF8B-6600-80BC-AB7A-98E95CF9D74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4104" name="Rectangle 8">
            <a:extLst>
              <a:ext uri="{FF2B5EF4-FFF2-40B4-BE49-F238E27FC236}">
                <a16:creationId xmlns:a16="http://schemas.microsoft.com/office/drawing/2014/main" id="{1BD9409A-4B38-651E-F54D-ABAB5C4CEBA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756AFA5A-A15D-402B-9810-66A481E9819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0801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41A2FBB-F55B-9BAA-4EBD-7D6AD7B1D9C0}"/>
              </a:ext>
            </a:extLst>
          </p:cNvPr>
          <p:cNvSpPr txBox="1">
            <a:spLocks/>
          </p:cNvSpPr>
          <p:nvPr/>
        </p:nvSpPr>
        <p:spPr>
          <a:xfrm>
            <a:off x="789712" y="2852936"/>
            <a:ext cx="10515600" cy="10255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 dirty="0">
                <a:solidFill>
                  <a:srgbClr val="7030A0"/>
                </a:solidFill>
              </a:rPr>
              <a:t>Intelligent University Timetable Generator</a:t>
            </a:r>
          </a:p>
          <a:p>
            <a:r>
              <a:rPr lang="en-IN" sz="3600" dirty="0">
                <a:solidFill>
                  <a:srgbClr val="7030A0"/>
                </a:solidFill>
              </a:rPr>
              <a:t> </a:t>
            </a:r>
            <a:r>
              <a:rPr lang="en-IN" sz="3600" b="1" dirty="0">
                <a:solidFill>
                  <a:srgbClr val="7030A0"/>
                </a:solidFill>
                <a:latin typeface="Verdana" panose="020B0604030504040204" pitchFamily="34" charset="0"/>
                <a:ea typeface="+mn-ea"/>
                <a:cs typeface="+mn-cs"/>
              </a:rPr>
              <a:t>— REVIEW 2</a:t>
            </a:r>
          </a:p>
        </p:txBody>
      </p:sp>
      <p:sp>
        <p:nvSpPr>
          <p:cNvPr id="10" name="TextBox 1">
            <a:extLst>
              <a:ext uri="{FF2B5EF4-FFF2-40B4-BE49-F238E27FC236}">
                <a16:creationId xmlns:a16="http://schemas.microsoft.com/office/drawing/2014/main" id="{2D19DAE3-8F95-230C-D485-225341D07D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2888" y="5183902"/>
            <a:ext cx="441303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2400" b="1" dirty="0">
                <a:solidFill>
                  <a:srgbClr val="FF0000"/>
                </a:solidFill>
              </a:rPr>
              <a:t>Dr. S. Bhuvana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2400" b="1" dirty="0">
                <a:solidFill>
                  <a:srgbClr val="FF0000"/>
                </a:solidFill>
              </a:rPr>
              <a:t>Assistant Professor[SG]</a:t>
            </a:r>
          </a:p>
        </p:txBody>
      </p:sp>
      <p:sp>
        <p:nvSpPr>
          <p:cNvPr id="11" name="TextBox 1">
            <a:extLst>
              <a:ext uri="{FF2B5EF4-FFF2-40B4-BE49-F238E27FC236}">
                <a16:creationId xmlns:a16="http://schemas.microsoft.com/office/drawing/2014/main" id="{19A39F01-D00C-AF01-020F-6FE15F5B4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2024" y="5183902"/>
            <a:ext cx="499328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2400" b="1" dirty="0" err="1">
                <a:solidFill>
                  <a:srgbClr val="FF0000"/>
                </a:solidFill>
              </a:rPr>
              <a:t>Ponsurabhi.V</a:t>
            </a:r>
            <a:r>
              <a:rPr lang="en-IN" altLang="en-US" sz="2400" b="1" dirty="0">
                <a:solidFill>
                  <a:srgbClr val="FF0000"/>
                </a:solidFill>
              </a:rPr>
              <a:t>  241901077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2400" b="1" dirty="0" err="1">
                <a:solidFill>
                  <a:srgbClr val="FF0000"/>
                </a:solidFill>
              </a:rPr>
              <a:t>Swarnamala.V</a:t>
            </a:r>
            <a:r>
              <a:rPr lang="en-IN" altLang="en-US" sz="2400" b="1" dirty="0">
                <a:solidFill>
                  <a:srgbClr val="FF0000"/>
                </a:solidFill>
              </a:rPr>
              <a:t> 241901116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321851EC-AC90-1CBE-0738-0329685AB2AB}"/>
              </a:ext>
            </a:extLst>
          </p:cNvPr>
          <p:cNvSpPr txBox="1">
            <a:spLocks/>
          </p:cNvSpPr>
          <p:nvPr/>
        </p:nvSpPr>
        <p:spPr>
          <a:xfrm>
            <a:off x="754333" y="980728"/>
            <a:ext cx="10515600" cy="7224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800" b="1" dirty="0">
                <a:solidFill>
                  <a:srgbClr val="002060"/>
                </a:solidFill>
                <a:latin typeface="Verdana" panose="020B0604030504040204" pitchFamily="34" charset="0"/>
                <a:ea typeface="+mn-ea"/>
                <a:cs typeface="+mn-cs"/>
              </a:rPr>
              <a:t>Department of Computer Science and Engineering</a:t>
            </a:r>
          </a:p>
          <a:p>
            <a:r>
              <a:rPr lang="en-IN" sz="2800" b="1" dirty="0">
                <a:solidFill>
                  <a:srgbClr val="002060"/>
                </a:solidFill>
                <a:latin typeface="Verdana" panose="020B0604030504040204" pitchFamily="34" charset="0"/>
                <a:ea typeface="+mn-ea"/>
                <a:cs typeface="+mn-cs"/>
              </a:rPr>
              <a:t>(Cyber Security)</a:t>
            </a:r>
          </a:p>
          <a:p>
            <a:endParaRPr lang="en-IN" sz="2800" b="1" dirty="0">
              <a:solidFill>
                <a:srgbClr val="002060"/>
              </a:solidFill>
              <a:latin typeface="Verdana" panose="020B0604030504040204" pitchFamily="34" charset="0"/>
              <a:ea typeface="+mn-ea"/>
              <a:cs typeface="+mn-cs"/>
            </a:endParaRPr>
          </a:p>
        </p:txBody>
      </p:sp>
      <p:pic>
        <p:nvPicPr>
          <p:cNvPr id="12" name="Picture 11" descr="C:\Users\REC\Downloads\REC_Logo_Color_PNG_RGB.png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933065" cy="98072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>
            <a:off x="1631504" y="1412776"/>
            <a:ext cx="101122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C00000"/>
                </a:solidFill>
                <a:latin typeface="Verdana" panose="020B0604030504040204" pitchFamily="34" charset="0"/>
              </a:rPr>
              <a:t>CS23533– Foundations of Artificial Intelligence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873101" y="1916832"/>
            <a:ext cx="16033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rgbClr val="002060"/>
                </a:solidFill>
                <a:latin typeface="Verdana" panose="020B0604030504040204" pitchFamily="34" charset="0"/>
              </a:rPr>
              <a:t>2026-2027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31392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sz="3200" b="1" dirty="0">
                <a:solidFill>
                  <a:srgbClr val="FF0000"/>
                </a:solidFill>
              </a:rPr>
              <a:t>Problem Statement and Motivation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400" b="1" dirty="0"/>
              <a:t>Problem Statement</a:t>
            </a:r>
          </a:p>
          <a:p>
            <a:pPr lvl="0"/>
            <a:r>
              <a:rPr lang="en-IN" sz="2400" dirty="0"/>
              <a:t>University timetable generation involves assigning subjects, faculty members, classrooms, laboratories, and periods without conflicts. </a:t>
            </a:r>
          </a:p>
          <a:p>
            <a:pPr lvl="0"/>
            <a:r>
              <a:rPr lang="en-IN" sz="2400" dirty="0"/>
              <a:t>Manual scheduling is time-consuming and prone to errors. </a:t>
            </a:r>
          </a:p>
          <a:p>
            <a:pPr lvl="0"/>
            <a:r>
              <a:rPr lang="en-IN" sz="2400" dirty="0"/>
              <a:t>Faculty unavailability can disrupt an existing timetable and require several changes. </a:t>
            </a:r>
          </a:p>
          <a:p>
            <a:pPr lvl="0"/>
            <a:r>
              <a:rPr lang="en-IN" sz="2400" dirty="0"/>
              <a:t>Conventional timetable generation may require regenerating the entire timetable even when only a few classes are affected.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2</a:t>
            </a:fld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3FC137-6A02-7B7D-559A-A4A8191A46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2800" y="6245225"/>
            <a:ext cx="2641600" cy="476250"/>
          </a:xfrm>
        </p:spPr>
        <p:txBody>
          <a:bodyPr/>
          <a:lstStyle/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412D91-8283-12A1-3AC5-BFC97501C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Computer Science and Engineering (Cyber Security)</a:t>
            </a:r>
          </a:p>
        </p:txBody>
      </p:sp>
    </p:spTree>
    <p:extLst>
      <p:ext uri="{BB962C8B-B14F-4D97-AF65-F5344CB8AC3E}">
        <p14:creationId xmlns:p14="http://schemas.microsoft.com/office/powerpoint/2010/main" val="16583869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04277-AE90-C5E3-6C1C-3A8708739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sz="3200" b="1" dirty="0">
                <a:solidFill>
                  <a:srgbClr val="FF0000"/>
                </a:solidFill>
              </a:rPr>
              <a:t>Problem Statement and Motivation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780693-E828-9AC3-0FE2-55E425168A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1" y="1700808"/>
            <a:ext cx="10668000" cy="4267200"/>
          </a:xfrm>
        </p:spPr>
        <p:txBody>
          <a:bodyPr/>
          <a:lstStyle/>
          <a:p>
            <a:pPr marL="0" indent="0">
              <a:buNone/>
            </a:pPr>
            <a:r>
              <a:rPr lang="en-IN" sz="2400" b="1" dirty="0"/>
              <a:t>Motivation:</a:t>
            </a:r>
          </a:p>
          <a:p>
            <a:pPr lvl="0" algn="just"/>
            <a:r>
              <a:rPr lang="en-IN" sz="2400" dirty="0"/>
              <a:t>Automate timetable generation using classical Artificial Intelligence techniques. </a:t>
            </a:r>
          </a:p>
          <a:p>
            <a:pPr lvl="0" algn="just"/>
            <a:r>
              <a:rPr lang="en-IN" sz="2400" dirty="0"/>
              <a:t>Reduce faculty, classroom, and section conflicts. </a:t>
            </a:r>
          </a:p>
          <a:p>
            <a:pPr lvl="0" algn="just"/>
            <a:r>
              <a:rPr lang="en-IN" sz="2400" dirty="0"/>
              <a:t>Adapt to faculty leave while preserving unaffected timetable assignments. </a:t>
            </a:r>
          </a:p>
          <a:p>
            <a:pPr lvl="0" algn="just"/>
            <a:r>
              <a:rPr lang="en-IN" sz="2400" dirty="0"/>
              <a:t>Improve scheduling efficiency, consistency, and maintainability. </a:t>
            </a:r>
          </a:p>
          <a:p>
            <a:pPr marL="0" indent="0">
              <a:buNone/>
            </a:pPr>
            <a:r>
              <a:rPr lang="en-IN" sz="2400" b="1" dirty="0"/>
              <a:t>Problem Addressed</a:t>
            </a:r>
          </a:p>
          <a:p>
            <a:pPr marL="0" indent="0" algn="just">
              <a:buNone/>
            </a:pPr>
            <a:r>
              <a:rPr lang="en-IN" sz="2400" b="1" dirty="0"/>
              <a:t>How can a university timetable be generated automatically and adapted to changes using CSP while minimizing unnecessary changes to the existing schedule?</a:t>
            </a:r>
            <a:endParaRPr lang="en-IN" sz="2400" dirty="0"/>
          </a:p>
          <a:p>
            <a:endParaRPr lang="en-IN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31688-7E86-5769-6AD6-19D0C8735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B6A783-FE6D-8440-9F16-36EC43203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Department of Computer Science and Engineering (Cyber Security)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70CE11-1C65-229C-8726-8FB897EEE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C2143B-610F-499C-A392-DFFBE135A7B2}" type="slidenum">
              <a:rPr lang="en-US" altLang="en-US" smtClean="0"/>
              <a:pPr>
                <a:defRPr/>
              </a:pPr>
              <a:t>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8365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sz="3200" b="1" dirty="0">
                <a:solidFill>
                  <a:srgbClr val="FF0000"/>
                </a:solidFill>
              </a:rPr>
              <a:t>Objectives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1" y="1628800"/>
            <a:ext cx="10668000" cy="4267200"/>
          </a:xfrm>
        </p:spPr>
        <p:txBody>
          <a:bodyPr/>
          <a:lstStyle/>
          <a:p>
            <a:pPr marL="0" indent="0" algn="just">
              <a:buNone/>
            </a:pPr>
            <a:r>
              <a:rPr lang="en-IN" sz="2400" b="1" dirty="0"/>
              <a:t>Primary Objectives:</a:t>
            </a:r>
          </a:p>
          <a:p>
            <a:pPr lvl="0" algn="just"/>
            <a:r>
              <a:rPr lang="en-IN" sz="2400" dirty="0"/>
              <a:t>Develop an automated university timetable generator using Constraint Satisfaction Problems. </a:t>
            </a:r>
          </a:p>
          <a:p>
            <a:pPr lvl="0" algn="just"/>
            <a:r>
              <a:rPr lang="en-IN" sz="2400" dirty="0"/>
              <a:t>Model class sessions, time slots, faculty, sections, rooms, and laboratories as CSP variables and constraints. </a:t>
            </a:r>
          </a:p>
          <a:p>
            <a:pPr lvl="0" algn="just"/>
            <a:r>
              <a:rPr lang="en-IN" sz="2400" dirty="0"/>
              <a:t>Implement Backtracking Search to find valid timetable assignments. </a:t>
            </a:r>
          </a:p>
          <a:p>
            <a:pPr lvl="0" algn="just"/>
            <a:r>
              <a:rPr lang="en-IN" sz="2400" dirty="0"/>
              <a:t>Apply Minimum Remaining Values (MRV), Least Constraining Value (LCV), and Forward Checking to improve search efficiency. </a:t>
            </a:r>
          </a:p>
          <a:p>
            <a:pPr lvl="0" algn="just"/>
            <a:r>
              <a:rPr lang="en-IN" sz="2400" dirty="0"/>
              <a:t>Develop an adaptive rescheduling mechanism for faculty leave. </a:t>
            </a:r>
          </a:p>
          <a:p>
            <a:pPr lvl="0" algn="just"/>
            <a:r>
              <a:rPr lang="en-IN" sz="2400" dirty="0"/>
              <a:t>Preserve unaffected timetable assignments whenever possible. </a:t>
            </a:r>
          </a:p>
          <a:p>
            <a:pPr marL="0" indent="0" algn="just">
              <a:buNone/>
            </a:pPr>
            <a:endParaRPr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4</a:t>
            </a:fld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A7601-F2FB-BF6E-BC12-F348217FAF3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2800" y="6265118"/>
            <a:ext cx="2641600" cy="476250"/>
          </a:xfrm>
        </p:spPr>
        <p:txBody>
          <a:bodyPr/>
          <a:lstStyle/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609853-27C5-01BC-EF4D-68123C1B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65118"/>
            <a:ext cx="3860800" cy="476250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Computer Science and Engineering (Cyber Security)</a:t>
            </a:r>
          </a:p>
        </p:txBody>
      </p:sp>
    </p:spTree>
    <p:extLst>
      <p:ext uri="{BB962C8B-B14F-4D97-AF65-F5344CB8AC3E}">
        <p14:creationId xmlns:p14="http://schemas.microsoft.com/office/powerpoint/2010/main" val="33393136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3F161-F4FE-7D33-795E-AB1E04504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819943"/>
          </a:xfrm>
        </p:spPr>
        <p:txBody>
          <a:bodyPr/>
          <a:lstStyle/>
          <a:p>
            <a:pPr algn="ctr"/>
            <a:r>
              <a:rPr lang="en-IN" altLang="en-US" sz="3200" b="1" dirty="0">
                <a:solidFill>
                  <a:srgbClr val="FF0000"/>
                </a:solidFill>
              </a:rPr>
              <a:t>Objectives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00E82-026A-35EA-F696-119371888B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1" y="1556792"/>
            <a:ext cx="10668000" cy="4463008"/>
          </a:xfrm>
        </p:spPr>
        <p:txBody>
          <a:bodyPr/>
          <a:lstStyle/>
          <a:p>
            <a:pPr marL="0" indent="0" algn="just">
              <a:buNone/>
            </a:pPr>
            <a:r>
              <a:rPr lang="en-IN" sz="2400" b="1" dirty="0"/>
              <a:t>Expected Outcomes:</a:t>
            </a:r>
          </a:p>
          <a:p>
            <a:pPr lvl="0" algn="just"/>
            <a:r>
              <a:rPr lang="en-IN" sz="2400" dirty="0"/>
              <a:t>Conflict-free timetable generation. </a:t>
            </a:r>
          </a:p>
          <a:p>
            <a:pPr lvl="0" algn="just"/>
            <a:r>
              <a:rPr lang="en-IN" sz="2400" dirty="0"/>
              <a:t>Automatic identification of affected classes. </a:t>
            </a:r>
          </a:p>
          <a:p>
            <a:pPr lvl="0" algn="just"/>
            <a:r>
              <a:rPr lang="en-IN" sz="2400" dirty="0"/>
              <a:t>Reduced unnecessary timetable modifications. </a:t>
            </a:r>
          </a:p>
          <a:p>
            <a:pPr lvl="0" algn="just"/>
            <a:r>
              <a:rPr lang="en-IN" sz="2400" dirty="0"/>
              <a:t>Role-based access for administrators, faculty, and students. </a:t>
            </a:r>
          </a:p>
          <a:p>
            <a:pPr lvl="0" algn="just"/>
            <a:r>
              <a:rPr lang="en-IN" sz="2400" dirty="0"/>
              <a:t>Evaluation using execution time, search nodes, backtracks, constraint checks, and timetable stability. </a:t>
            </a:r>
          </a:p>
          <a:p>
            <a:pPr marL="0" indent="0" algn="just">
              <a:buNone/>
            </a:pPr>
            <a:r>
              <a:rPr lang="en-IN" sz="2400" b="1" dirty="0"/>
              <a:t>Current Status</a:t>
            </a:r>
          </a:p>
          <a:p>
            <a:pPr marL="0" indent="0" algn="just">
              <a:buNone/>
            </a:pPr>
            <a:r>
              <a:rPr lang="en-IN" sz="2400" b="1" dirty="0"/>
              <a:t>Core timetable generation, role-based interfaces, and the adaptive rescheduling demonstration have been implemented.</a:t>
            </a:r>
            <a:endParaRPr lang="en-IN" sz="2400" dirty="0"/>
          </a:p>
          <a:p>
            <a:pPr algn="just"/>
            <a:endParaRPr lang="en-IN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BCBF5E-A890-DFA0-326B-4E7E6E52D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D8504B-E3DF-6CE8-B0D3-EC4432CB1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Department of Computer Science and Engineering (Cyber Security)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B9575A-7DDA-3092-8A3E-4A1C0DB37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C2143B-610F-499C-A392-DFFBE135A7B2}" type="slidenum">
              <a:rPr lang="en-US" altLang="en-US" smtClean="0"/>
              <a:pPr>
                <a:defRPr/>
              </a:pPr>
              <a:t>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71717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sz="3200" b="1" dirty="0">
                <a:solidFill>
                  <a:srgbClr val="FF0000"/>
                </a:solidFill>
              </a:rPr>
              <a:t>Project Progress Since Review 1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IN" sz="2400" b="1" dirty="0"/>
              <a:t>Work Completed</a:t>
            </a:r>
          </a:p>
          <a:p>
            <a:pPr lvl="0" algn="just"/>
            <a:r>
              <a:rPr lang="en-IN" sz="2400" dirty="0"/>
              <a:t>Analysed university timetable scheduling requirements. </a:t>
            </a:r>
          </a:p>
          <a:p>
            <a:pPr lvl="0" algn="just"/>
            <a:r>
              <a:rPr lang="en-IN" sz="2400" dirty="0"/>
              <a:t>Identified hard constraints and scheduling preferences. </a:t>
            </a:r>
          </a:p>
          <a:p>
            <a:pPr lvl="0" algn="just"/>
            <a:r>
              <a:rPr lang="en-IN" sz="2400" dirty="0"/>
              <a:t>Designed the CSP-based scheduling model. </a:t>
            </a:r>
          </a:p>
          <a:p>
            <a:pPr lvl="0" algn="just"/>
            <a:r>
              <a:rPr lang="en-IN" sz="2400" dirty="0"/>
              <a:t>Implemented Backtracking Search for timetable generation. </a:t>
            </a:r>
          </a:p>
          <a:p>
            <a:pPr lvl="0" algn="just"/>
            <a:r>
              <a:rPr lang="en-IN" sz="2400" dirty="0"/>
              <a:t>Incorporated MRV and Forward Checking into the search process. </a:t>
            </a:r>
          </a:p>
          <a:p>
            <a:pPr lvl="0" algn="just"/>
            <a:r>
              <a:rPr lang="en-IN" sz="2400" dirty="0"/>
              <a:t>Developed a Flask-based web interface. </a:t>
            </a:r>
          </a:p>
          <a:p>
            <a:pPr lvl="0" algn="just"/>
            <a:r>
              <a:rPr lang="en-IN" sz="2400" dirty="0"/>
              <a:t>Integrated SQLite for storing timetable-related information.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6</a:t>
            </a:fld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A5C144-37D3-E504-DA74-B598C2953B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2800" y="6245225"/>
            <a:ext cx="2641600" cy="476250"/>
          </a:xfrm>
        </p:spPr>
        <p:txBody>
          <a:bodyPr/>
          <a:lstStyle/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30455-03E7-364B-1D4B-7F869349B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Computer Science and Engineering (Cyber Security)</a:t>
            </a:r>
          </a:p>
        </p:txBody>
      </p:sp>
    </p:spTree>
    <p:extLst>
      <p:ext uri="{BB962C8B-B14F-4D97-AF65-F5344CB8AC3E}">
        <p14:creationId xmlns:p14="http://schemas.microsoft.com/office/powerpoint/2010/main" val="35344831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D9524-3040-095A-1C6C-227A7BA37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sz="3200" b="1" dirty="0">
                <a:solidFill>
                  <a:srgbClr val="FF0000"/>
                </a:solidFill>
              </a:rPr>
              <a:t>Project Progress Since Review 1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16F683-E316-1D1C-7108-9334A1CD43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/>
            <a:r>
              <a:rPr lang="en-IN" sz="2400" dirty="0"/>
              <a:t>Implemented administrator, faculty, and student interfaces. </a:t>
            </a:r>
          </a:p>
          <a:p>
            <a:pPr lvl="0" algn="just"/>
            <a:r>
              <a:rPr lang="en-IN" sz="2400" dirty="0"/>
              <a:t>Developed faculty leave request and approval workflows. </a:t>
            </a:r>
          </a:p>
          <a:p>
            <a:pPr lvl="0" algn="just"/>
            <a:r>
              <a:rPr lang="en-IN" sz="2400" dirty="0"/>
              <a:t>Implemented adaptive rescheduling for affected classes. </a:t>
            </a:r>
          </a:p>
          <a:p>
            <a:pPr lvl="0" algn="just"/>
            <a:r>
              <a:rPr lang="en-IN" sz="2400" dirty="0"/>
              <a:t>Tested timetable display, laboratory blocks, and rescheduling behaviour.</a:t>
            </a:r>
          </a:p>
          <a:p>
            <a:pPr algn="just"/>
            <a:endParaRPr lang="en-IN"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06AED5-C7EE-DEA3-FD05-CE10E2332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C2143B-610F-499C-A392-DFFBE135A7B2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AB09A96-6A85-E612-56D3-23F9C031E6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2800" y="6245225"/>
            <a:ext cx="2641600" cy="476250"/>
          </a:xfrm>
        </p:spPr>
        <p:txBody>
          <a:bodyPr/>
          <a:lstStyle/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F862320-F841-E7ED-02E9-D3E5217DB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Computer Science and Engineering (Cyber Security)</a:t>
            </a:r>
          </a:p>
        </p:txBody>
      </p:sp>
    </p:spTree>
    <p:extLst>
      <p:ext uri="{BB962C8B-B14F-4D97-AF65-F5344CB8AC3E}">
        <p14:creationId xmlns:p14="http://schemas.microsoft.com/office/powerpoint/2010/main" val="20460364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22761-EE2E-8C61-B3AB-AA38C8E14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sz="3200" b="1" dirty="0">
                <a:solidFill>
                  <a:srgbClr val="FF0000"/>
                </a:solidFill>
              </a:rPr>
              <a:t>Project Progress Since Review 1</a:t>
            </a:r>
            <a:endParaRPr lang="en-IN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0DA0E2-589E-496B-4477-07CAA2E65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CFF0C6-BBF5-8BEF-CD82-DE33418C8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Department of Computer Science and Engineering (Cyber Security)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B7F38-2E6B-9434-A40F-D7580FB11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C2143B-610F-499C-A392-DFFBE135A7B2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A3F29EB-4AD0-467B-277D-A8DE2D8F7D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1762441"/>
              </p:ext>
            </p:extLst>
          </p:nvPr>
        </p:nvGraphicFramePr>
        <p:xfrm>
          <a:off x="2063552" y="1916832"/>
          <a:ext cx="8301374" cy="336562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150687">
                  <a:extLst>
                    <a:ext uri="{9D8B030D-6E8A-4147-A177-3AD203B41FA5}">
                      <a16:colId xmlns:a16="http://schemas.microsoft.com/office/drawing/2014/main" val="900138634"/>
                    </a:ext>
                  </a:extLst>
                </a:gridCol>
                <a:gridCol w="4150687">
                  <a:extLst>
                    <a:ext uri="{9D8B030D-6E8A-4147-A177-3AD203B41FA5}">
                      <a16:colId xmlns:a16="http://schemas.microsoft.com/office/drawing/2014/main" val="20374781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Status 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24981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CSP formulation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Completed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8169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Timetable generation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Implemented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2549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Web interface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Implemented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0606768"/>
                  </a:ext>
                </a:extLst>
              </a:tr>
              <a:tr h="409064">
                <a:tc>
                  <a:txBody>
                    <a:bodyPr/>
                    <a:lstStyle/>
                    <a:p>
                      <a:r>
                        <a:rPr lang="en-IN" dirty="0"/>
                        <a:t>Database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Implemented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92921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Faculty leave workflow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Implemented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75608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Adaptive rescheduling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Demonstrated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4143603"/>
                  </a:ext>
                </a:extLst>
              </a:tr>
              <a:tr h="16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Algorithm comparison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Under evaluation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71731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Final 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Pending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88647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3580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533399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Literature Survey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None/>
              <a:tabLst/>
              <a:defRPr/>
            </a:pPr>
            <a:br>
              <a:rPr kumimoji="0" lang="en-I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</a:br>
            <a:endParaRPr kumimoji="0" lang="en-I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9</a:t>
            </a:fld>
            <a:endParaRPr lang="en-IN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D7E4B40-F95E-47F4-B92E-06AFA2A015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8757579"/>
              </p:ext>
            </p:extLst>
          </p:nvPr>
        </p:nvGraphicFramePr>
        <p:xfrm>
          <a:off x="623392" y="899414"/>
          <a:ext cx="11089233" cy="4972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08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51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548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122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13541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000">
                          <a:latin typeface="Aptos" panose="020B0004020202020204" pitchFamily="34" charset="0"/>
                        </a:rPr>
                        <a:t>S. No.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000" dirty="0">
                          <a:latin typeface="Aptos" panose="020B0004020202020204" pitchFamily="34" charset="0"/>
                        </a:rPr>
                        <a:t>Author(s) &amp; Year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000">
                          <a:latin typeface="Aptos" panose="020B0004020202020204" pitchFamily="34" charset="0"/>
                        </a:rPr>
                        <a:t>Paper Title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000">
                          <a:latin typeface="Aptos" panose="020B0004020202020204" pitchFamily="34" charset="0"/>
                        </a:rPr>
                        <a:t>Methodology / Algorithm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000" dirty="0">
                          <a:latin typeface="Aptos" panose="020B0004020202020204" pitchFamily="34" charset="0"/>
                        </a:rPr>
                        <a:t>Limitations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919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800"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IN" sz="1600" b="0" kern="1200" dirty="0" err="1">
                          <a:solidFill>
                            <a:srgbClr val="2D343E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Lixi</a:t>
                      </a:r>
                      <a:r>
                        <a:rPr lang="en-IN" sz="1600" b="0" kern="1200" dirty="0">
                          <a:solidFill>
                            <a:srgbClr val="2D343E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 Zhang and Sim Kim Lau, 2005</a:t>
                      </a:r>
                      <a:endParaRPr sz="1600" dirty="0">
                        <a:latin typeface="Aptos" panose="020B0004020202020204" pitchFamily="34" charset="0"/>
                      </a:endParaRP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IN" sz="1600" b="0" kern="1200" dirty="0">
                          <a:solidFill>
                            <a:srgbClr val="2D343E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Constructing University Timetable Using Constraint Satisfaction Programming Approach</a:t>
                      </a:r>
                      <a:endParaRPr sz="1600" dirty="0">
                        <a:latin typeface="Aptos" panose="020B0004020202020204" pitchFamily="34" charset="0"/>
                      </a:endParaRP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Aptos" panose="020B0004020202020204" pitchFamily="34" charset="0"/>
                        </a:rPr>
                        <a:t>University Timetable Using Constraint Satisfaction Programming Approach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IN" sz="1600" b="0" kern="1200" dirty="0">
                          <a:solidFill>
                            <a:srgbClr val="2D343E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Provides a CSP-based scheduling foundation; adaptive rescheduling with minimal timetable changes is the focus of our extension.</a:t>
                      </a:r>
                      <a:endParaRPr sz="1600" dirty="0">
                        <a:latin typeface="Aptos" panose="020B0004020202020204" pitchFamily="34" charset="0"/>
                      </a:endParaRP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919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800">
                          <a:latin typeface="Aptos" panose="020B0004020202020204" pitchFamily="34" charset="0"/>
                        </a:rPr>
                        <a:t>2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IN" sz="1600" b="0" kern="1200" dirty="0">
                          <a:solidFill>
                            <a:srgbClr val="2D343E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Burke et al., 2004</a:t>
                      </a:r>
                      <a:endParaRPr sz="1600" dirty="0">
                        <a:latin typeface="Aptos" panose="020B0004020202020204" pitchFamily="34" charset="0"/>
                      </a:endParaRP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IN" sz="1600" b="0" kern="1200" dirty="0">
                          <a:solidFill>
                            <a:srgbClr val="2D343E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The State of the Art of University Timetabling</a:t>
                      </a:r>
                      <a:endParaRPr sz="1600" dirty="0">
                        <a:latin typeface="Aptos" panose="020B0004020202020204" pitchFamily="34" charset="0"/>
                      </a:endParaRP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IN" sz="1600" b="0" kern="1200" dirty="0">
                          <a:solidFill>
                            <a:srgbClr val="2D343E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Survey of university timetabling approaches and optimization techniques</a:t>
                      </a:r>
                      <a:endParaRPr sz="1600" dirty="0">
                        <a:latin typeface="Aptos" panose="020B0004020202020204" pitchFamily="34" charset="0"/>
                      </a:endParaRP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Aptos" panose="020B0004020202020204" pitchFamily="34" charset="0"/>
                        </a:rPr>
                        <a:t>Timetabling approaches and optimization techniques</a:t>
                      </a:r>
                    </a:p>
                  </a:txBody>
                  <a:tcPr anchor="ctr">
                    <a:solidFill>
                      <a:srgbClr val="EB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919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800">
                          <a:latin typeface="Aptos" panose="020B0004020202020204" pitchFamily="34" charset="0"/>
                        </a:rPr>
                        <a:t>3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IN" sz="1600" b="0" kern="1200" dirty="0">
                          <a:solidFill>
                            <a:srgbClr val="2D343E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Dechter, 2003</a:t>
                      </a:r>
                      <a:endParaRPr sz="1600" dirty="0">
                        <a:latin typeface="Aptos" panose="020B0004020202020204" pitchFamily="34" charset="0"/>
                      </a:endParaRP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IN" sz="1600" b="0" kern="1200" dirty="0">
                          <a:solidFill>
                            <a:srgbClr val="2D343E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Constraint Processing</a:t>
                      </a:r>
                      <a:endParaRPr sz="1600" dirty="0">
                        <a:latin typeface="Aptos" panose="020B0004020202020204" pitchFamily="34" charset="0"/>
                      </a:endParaRP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IN" sz="1600" b="0" kern="1200" dirty="0">
                          <a:solidFill>
                            <a:srgbClr val="2D343E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CSP representation, constraint propagation, and search techniques</a:t>
                      </a:r>
                      <a:endParaRPr sz="1600" dirty="0">
                        <a:latin typeface="Aptos" panose="020B0004020202020204" pitchFamily="34" charset="0"/>
                      </a:endParaRP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IN" sz="1600" b="0" kern="1200" dirty="0">
                          <a:solidFill>
                            <a:srgbClr val="2D343E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Provides general CSP methods; their application to our specific university scheduling and adaptive rescheduling requirements must be implemented and evaluated.</a:t>
                      </a:r>
                      <a:endParaRPr sz="1600" dirty="0">
                        <a:latin typeface="Aptos" panose="020B0004020202020204" pitchFamily="34" charset="0"/>
                      </a:endParaRP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FD36A-DDC7-85A2-D420-31A07F2BA6C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2800" y="6245225"/>
            <a:ext cx="2641600" cy="476250"/>
          </a:xfrm>
        </p:spPr>
        <p:txBody>
          <a:bodyPr/>
          <a:lstStyle/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960E6EA-EA32-C1E7-0964-E9FE16560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Computer Science and Engineering (Cyber Security)</a:t>
            </a:r>
          </a:p>
        </p:txBody>
      </p:sp>
    </p:spTree>
    <p:extLst>
      <p:ext uri="{BB962C8B-B14F-4D97-AF65-F5344CB8AC3E}">
        <p14:creationId xmlns:p14="http://schemas.microsoft.com/office/powerpoint/2010/main" val="24404451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283" y="692696"/>
            <a:ext cx="10668000" cy="577552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Literature Survey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None/>
              <a:tabLst/>
              <a:defRPr/>
            </a:pPr>
            <a:br>
              <a:rPr kumimoji="0" lang="en-I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</a:br>
            <a:endParaRPr kumimoji="0" lang="en-I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10</a:t>
            </a:fld>
            <a:endParaRPr lang="en-IN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D7E4B40-F95E-47F4-B92E-06AFA2A015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5289313"/>
              </p:ext>
            </p:extLst>
          </p:nvPr>
        </p:nvGraphicFramePr>
        <p:xfrm>
          <a:off x="983432" y="1746251"/>
          <a:ext cx="10748320" cy="28162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7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11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2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933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155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643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600" dirty="0">
                          <a:latin typeface="Aptos" panose="020B0004020202020204" pitchFamily="34" charset="0"/>
                        </a:rPr>
                        <a:t>S. No.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600">
                          <a:latin typeface="Aptos" panose="020B0004020202020204" pitchFamily="34" charset="0"/>
                        </a:rPr>
                        <a:t>Author(s) &amp; Year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600">
                          <a:latin typeface="Aptos" panose="020B0004020202020204" pitchFamily="34" charset="0"/>
                        </a:rPr>
                        <a:t>Paper Title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600">
                          <a:latin typeface="Aptos" panose="020B0004020202020204" pitchFamily="34" charset="0"/>
                        </a:rPr>
                        <a:t>Methodology / Algorithm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600">
                          <a:latin typeface="Aptos" panose="020B0004020202020204" pitchFamily="34" charset="0"/>
                        </a:rPr>
                        <a:t>Limitations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8106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600" dirty="0">
                          <a:latin typeface="Aptos" panose="020B0004020202020204" pitchFamily="34" charset="0"/>
                        </a:rPr>
                        <a:t>4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IN" sz="1600" b="0" kern="1200" dirty="0">
                          <a:solidFill>
                            <a:srgbClr val="2D343E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Russell and Norvig, 2021</a:t>
                      </a:r>
                      <a:endParaRPr sz="1600" dirty="0">
                        <a:latin typeface="Aptos" panose="020B0004020202020204" pitchFamily="34" charset="0"/>
                      </a:endParaRP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IN" sz="1600" b="0" kern="1200" dirty="0">
                          <a:solidFill>
                            <a:srgbClr val="2D343E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Artificial Intelligence: A Modern Approach</a:t>
                      </a:r>
                      <a:endParaRPr sz="1600" dirty="0">
                        <a:latin typeface="Aptos" panose="020B0004020202020204" pitchFamily="34" charset="0"/>
                      </a:endParaRP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Aptos" panose="020B0004020202020204" pitchFamily="34" charset="0"/>
                        </a:rPr>
                        <a:t>CSP, Backtracking Search, MRV, LCV, and constraint propagation</a:t>
                      </a:r>
                    </a:p>
                  </a:txBody>
                  <a:tcPr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IN" sz="1600" b="0" kern="1200" dirty="0">
                          <a:solidFill>
                            <a:srgbClr val="2D343E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Provides the theoretical foundation for the implemented classical AI algorithms.</a:t>
                      </a:r>
                      <a:endParaRPr sz="1600" dirty="0">
                        <a:latin typeface="Aptos" panose="020B0004020202020204" pitchFamily="34" charset="0"/>
                      </a:endParaRP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58106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US" sz="1600" dirty="0">
                          <a:latin typeface="Aptos" panose="020B0004020202020204" pitchFamily="34" charset="0"/>
                        </a:rPr>
                        <a:t>5</a:t>
                      </a:r>
                      <a:endParaRPr sz="1600" dirty="0">
                        <a:latin typeface="Aptos" panose="020B0004020202020204" pitchFamily="34" charset="0"/>
                      </a:endParaRP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IN" sz="1600" b="0" kern="1200" dirty="0" err="1">
                          <a:solidFill>
                            <a:srgbClr val="2D343E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Schaerf</a:t>
                      </a:r>
                      <a:r>
                        <a:rPr lang="en-IN" sz="1600" b="0" kern="1200" dirty="0">
                          <a:solidFill>
                            <a:srgbClr val="2D343E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, 1999</a:t>
                      </a:r>
                      <a:endParaRPr sz="1600" dirty="0">
                        <a:latin typeface="Aptos" panose="020B0004020202020204" pitchFamily="34" charset="0"/>
                      </a:endParaRP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Aptos" panose="020B0004020202020204" pitchFamily="34" charset="0"/>
                        </a:rPr>
                        <a:t>A Survey of Automated Timetabling</a:t>
                      </a:r>
                    </a:p>
                  </a:txBody>
                  <a:tcPr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IN" sz="1600" b="0" kern="1200" dirty="0">
                          <a:solidFill>
                            <a:srgbClr val="2D343E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Review of automated timetabling methods and scheduling approaches</a:t>
                      </a:r>
                      <a:endParaRPr sz="1600" dirty="0">
                        <a:latin typeface="Aptos" panose="020B0004020202020204" pitchFamily="34" charset="0"/>
                      </a:endParaRP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IN" sz="1600" b="0" kern="1200" dirty="0">
                          <a:solidFill>
                            <a:srgbClr val="2D343E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Establishes the challenges and constraints involved in automated timetable generation</a:t>
                      </a:r>
                      <a:endParaRPr sz="1600" dirty="0">
                        <a:latin typeface="Aptos" panose="020B0004020202020204" pitchFamily="34" charset="0"/>
                      </a:endParaRP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2916463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0C969B-4C18-9573-79C8-352DC5E85A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2800" y="6245225"/>
            <a:ext cx="2641600" cy="476250"/>
          </a:xfrm>
        </p:spPr>
        <p:txBody>
          <a:bodyPr/>
          <a:lstStyle/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21147C9B-CC3F-2390-D0B3-E41B4AB0D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Computer Science and Engineering (Cyber Security)</a:t>
            </a:r>
          </a:p>
        </p:txBody>
      </p:sp>
    </p:spTree>
    <p:extLst>
      <p:ext uri="{BB962C8B-B14F-4D97-AF65-F5344CB8AC3E}">
        <p14:creationId xmlns:p14="http://schemas.microsoft.com/office/powerpoint/2010/main" val="42421953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 Research Gap and Project Response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11</a:t>
            </a:fld>
            <a:endParaRPr lang="en-IN"/>
          </a:p>
        </p:txBody>
      </p:sp>
      <p:sp>
        <p:nvSpPr>
          <p:cNvPr id="20" name="Rounded Rectangle 3">
            <a:extLst>
              <a:ext uri="{FF2B5EF4-FFF2-40B4-BE49-F238E27FC236}">
                <a16:creationId xmlns:a16="http://schemas.microsoft.com/office/drawing/2014/main" id="{F4FE7899-24E6-401C-9D46-CFAA1E243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0" y="1752600"/>
            <a:ext cx="4980310" cy="4340696"/>
          </a:xfrm>
          <a:prstGeom prst="roundRect">
            <a:avLst/>
          </a:prstGeom>
          <a:solidFill>
            <a:srgbClr val="EBF2FA"/>
          </a:solidFill>
          <a:ln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64592" rtlCol="0" anchor="ctr"/>
          <a:lstStyle/>
          <a:p>
            <a:pPr marL="342900" indent="-342900" algn="just">
              <a:buClr>
                <a:schemeClr val="tx1">
                  <a:lumMod val="95000"/>
                  <a:lumOff val="5000"/>
                </a:schemeClr>
              </a:buClr>
              <a:buFont typeface="+mj-lt"/>
              <a:buAutoNum type="arabicPeriod"/>
            </a:pPr>
            <a:r>
              <a:rPr sz="1800" b="1" dirty="0">
                <a:solidFill>
                  <a:schemeClr val="tx1"/>
                </a:solidFill>
                <a:latin typeface="Aptos" panose="020B0004020202020204" pitchFamily="34" charset="0"/>
              </a:rPr>
              <a:t> Literature finding</a:t>
            </a:r>
            <a:r>
              <a:rPr lang="en-IN" sz="1800" b="1" dirty="0">
                <a:solidFill>
                  <a:schemeClr val="tx1"/>
                </a:solidFill>
                <a:latin typeface="Aptos" panose="020B0004020202020204" pitchFamily="34" charset="0"/>
              </a:rPr>
              <a:t>s</a:t>
            </a:r>
          </a:p>
          <a:p>
            <a:pPr algn="just"/>
            <a:r>
              <a:rPr lang="en-IN" sz="1800" b="1" dirty="0">
                <a:solidFill>
                  <a:schemeClr val="tx1"/>
                </a:solidFill>
                <a:latin typeface="Aptos" panose="020B0004020202020204" pitchFamily="34" charset="0"/>
              </a:rPr>
              <a:t>CSP is suitable for problems involving variables, domains, and constraints. </a:t>
            </a:r>
          </a:p>
          <a:p>
            <a:pPr lvl="0" algn="just"/>
            <a:r>
              <a:rPr lang="en-IN" sz="1800" b="1" dirty="0">
                <a:solidFill>
                  <a:schemeClr val="tx1"/>
                </a:solidFill>
                <a:latin typeface="Aptos" panose="020B0004020202020204" pitchFamily="34" charset="0"/>
              </a:rPr>
              <a:t>Backtracking Search can systematically explore possible assignments. </a:t>
            </a:r>
          </a:p>
          <a:p>
            <a:pPr lvl="0" algn="just"/>
            <a:r>
              <a:rPr lang="en-IN" sz="1800" b="1" dirty="0">
                <a:solidFill>
                  <a:schemeClr val="tx1"/>
                </a:solidFill>
                <a:latin typeface="Aptos" panose="020B0004020202020204" pitchFamily="34" charset="0"/>
              </a:rPr>
              <a:t>MRV and constraint propagation can reduce unnecessary search. </a:t>
            </a:r>
          </a:p>
          <a:p>
            <a:pPr lvl="0" algn="just"/>
            <a:r>
              <a:rPr lang="en-IN" sz="1800" b="1" dirty="0">
                <a:solidFill>
                  <a:schemeClr val="tx1"/>
                </a:solidFill>
                <a:latin typeface="Aptos" panose="020B0004020202020204" pitchFamily="34" charset="0"/>
              </a:rPr>
              <a:t>University timetabling requires coordination of faculty, rooms, sections, and time slots.</a:t>
            </a:r>
          </a:p>
          <a:p>
            <a:pPr algn="just">
              <a:spcBef>
                <a:spcPts val="200"/>
              </a:spcBef>
              <a:defRPr sz="1300">
                <a:solidFill>
                  <a:srgbClr val="2D343E"/>
                </a:solidFill>
                <a:latin typeface="Aptos"/>
              </a:defRPr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Rounded Rectangle 4">
            <a:extLst>
              <a:ext uri="{FF2B5EF4-FFF2-40B4-BE49-F238E27FC236}">
                <a16:creationId xmlns:a16="http://schemas.microsoft.com/office/drawing/2014/main" id="{FF66DAF5-0B91-4093-BD89-5CE7615E431A}"/>
              </a:ext>
            </a:extLst>
          </p:cNvPr>
          <p:cNvSpPr/>
          <p:nvPr/>
        </p:nvSpPr>
        <p:spPr>
          <a:xfrm>
            <a:off x="6240016" y="1752600"/>
            <a:ext cx="5452872" cy="4340695"/>
          </a:xfrm>
          <a:prstGeom prst="roundRect">
            <a:avLst/>
          </a:prstGeom>
          <a:solidFill>
            <a:srgbClr val="F7F9FC"/>
          </a:solidFill>
          <a:ln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64592" rtlCol="0" anchor="ctr"/>
          <a:lstStyle/>
          <a:p>
            <a:pPr lvl="0" algn="just"/>
            <a:r>
              <a:rPr lang="en-IN" b="1" dirty="0">
                <a:solidFill>
                  <a:schemeClr val="tx1"/>
                </a:solidFill>
                <a:latin typeface="Aptos" panose="020B0004020202020204" pitchFamily="34" charset="0"/>
              </a:rPr>
              <a:t>2. </a:t>
            </a:r>
            <a:r>
              <a:rPr b="1" dirty="0">
                <a:solidFill>
                  <a:schemeClr val="tx1"/>
                </a:solidFill>
                <a:latin typeface="Aptos" panose="020B0004020202020204" pitchFamily="34" charset="0"/>
              </a:rPr>
              <a:t>Limitations
</a:t>
            </a:r>
            <a:endParaRPr lang="en-IN" b="1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marL="285750" lvl="0" indent="-285750" algn="just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IN" b="1" dirty="0">
                <a:solidFill>
                  <a:schemeClr val="tx1"/>
                </a:solidFill>
                <a:latin typeface="Aptos" panose="020B0004020202020204" pitchFamily="34" charset="0"/>
              </a:rPr>
              <a:t>Timetable changes caused by faculty unavailability may affect multiple assignments. </a:t>
            </a:r>
          </a:p>
          <a:p>
            <a:pPr marL="285750" lvl="0" indent="-285750" algn="just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IN" b="1" dirty="0">
                <a:solidFill>
                  <a:schemeClr val="tx1"/>
                </a:solidFill>
                <a:latin typeface="Aptos" panose="020B0004020202020204" pitchFamily="34" charset="0"/>
              </a:rPr>
              <a:t>Regenerating the entire timetable can unnecessarily disturb unaffected classes. </a:t>
            </a:r>
          </a:p>
          <a:p>
            <a:pPr marL="285750" lvl="0" indent="-285750" algn="just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IN" b="1" dirty="0">
                <a:solidFill>
                  <a:schemeClr val="tx1"/>
                </a:solidFill>
                <a:latin typeface="Aptos" panose="020B0004020202020204" pitchFamily="34" charset="0"/>
              </a:rPr>
              <a:t>There is an opportunity to combine CSP-based scheduling with selective rescheduling.</a:t>
            </a:r>
          </a:p>
          <a:p>
            <a:pPr algn="just">
              <a:spcBef>
                <a:spcPts val="200"/>
              </a:spcBef>
              <a:defRPr sz="1300">
                <a:solidFill>
                  <a:srgbClr val="2D343E"/>
                </a:solidFill>
                <a:latin typeface="Aptos"/>
              </a:defRPr>
            </a:pPr>
            <a:endParaRPr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07E8190-507E-FF8F-526C-2D05A88144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2800" y="6245225"/>
            <a:ext cx="2641600" cy="476250"/>
          </a:xfrm>
        </p:spPr>
        <p:txBody>
          <a:bodyPr/>
          <a:lstStyle/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D2E2E18-C241-6710-5E92-0AFE225DF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Computer Science and Engineering (Cyber Security)</a:t>
            </a:r>
          </a:p>
        </p:txBody>
      </p:sp>
    </p:spTree>
    <p:extLst>
      <p:ext uri="{BB962C8B-B14F-4D97-AF65-F5344CB8AC3E}">
        <p14:creationId xmlns:p14="http://schemas.microsoft.com/office/powerpoint/2010/main" val="4631508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03AE50-DA34-8365-2787-E9AFC6DCD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D03D0B-8280-3FD9-B104-431DC49D7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Department of Computer Science and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99875F-5AE9-D254-9D48-01E71444C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537315-F462-4C74-88B4-A900525A3FAA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E303D48-C677-9DF8-B6BB-EF3AACC7CFF8}"/>
              </a:ext>
            </a:extLst>
          </p:cNvPr>
          <p:cNvSpPr/>
          <p:nvPr/>
        </p:nvSpPr>
        <p:spPr>
          <a:xfrm>
            <a:off x="812800" y="1812777"/>
            <a:ext cx="5237981" cy="2520280"/>
          </a:xfrm>
          <a:prstGeom prst="roundRect">
            <a:avLst/>
          </a:prstGeom>
          <a:solidFill>
            <a:srgbClr val="EBF2FA"/>
          </a:solidFill>
          <a:ln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64592" rtlCol="0" anchor="ctr"/>
          <a:lstStyle/>
          <a:p>
            <a:pPr algn="just">
              <a:spcAft>
                <a:spcPts val="800"/>
              </a:spcAft>
              <a:defRPr sz="1700" b="1">
                <a:solidFill>
                  <a:srgbClr val="193054"/>
                </a:solidFill>
                <a:latin typeface="Aptos Display"/>
              </a:defRPr>
            </a:pPr>
            <a:r>
              <a:rPr dirty="0">
                <a:latin typeface="Aptos" panose="020B0004020202020204" pitchFamily="34" charset="0"/>
              </a:rPr>
              <a:t>3. Refined research gap
</a:t>
            </a:r>
            <a:r>
              <a:rPr lang="en-IN" b="1" dirty="0">
                <a:solidFill>
                  <a:srgbClr val="193054"/>
                </a:solidFill>
                <a:latin typeface="Aptos" panose="020B0004020202020204" pitchFamily="34" charset="0"/>
              </a:rPr>
              <a:t>Minimizing unnecessary changes during timetable adaptation while satisfying the affected classes' scheduling constraints.</a:t>
            </a:r>
            <a:endParaRPr dirty="0">
              <a:latin typeface="Aptos" panose="020B0004020202020204" pitchFamily="34" charset="0"/>
            </a:endParaRPr>
          </a:p>
        </p:txBody>
      </p:sp>
      <p:sp>
        <p:nvSpPr>
          <p:cNvPr id="8" name="Rounded Rectangle 6">
            <a:extLst>
              <a:ext uri="{FF2B5EF4-FFF2-40B4-BE49-F238E27FC236}">
                <a16:creationId xmlns:a16="http://schemas.microsoft.com/office/drawing/2014/main" id="{4EBFB88C-768F-119D-CFB1-9A42EE2FDC41}"/>
              </a:ext>
            </a:extLst>
          </p:cNvPr>
          <p:cNvSpPr/>
          <p:nvPr/>
        </p:nvSpPr>
        <p:spPr>
          <a:xfrm>
            <a:off x="6199633" y="1700808"/>
            <a:ext cx="5349240" cy="3240360"/>
          </a:xfrm>
          <a:prstGeom prst="roundRect">
            <a:avLst/>
          </a:prstGeom>
          <a:solidFill>
            <a:srgbClr val="F7F9FC"/>
          </a:solidFill>
          <a:ln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64592" rtlCol="0" anchor="ctr"/>
          <a:lstStyle/>
          <a:p>
            <a:pPr lvl="0" algn="just"/>
            <a:r>
              <a:rPr b="1" dirty="0">
                <a:solidFill>
                  <a:schemeClr val="tx1"/>
                </a:solidFill>
                <a:latin typeface="Aptos" panose="020B0004020202020204" pitchFamily="34" charset="0"/>
              </a:rPr>
              <a:t>4. Progress toward the solution
</a:t>
            </a:r>
            <a:r>
              <a:rPr lang="en-IN" b="1" dirty="0">
                <a:solidFill>
                  <a:schemeClr val="tx1"/>
                </a:solidFill>
                <a:latin typeface="Aptos" panose="020B0004020202020204" pitchFamily="34" charset="0"/>
              </a:rPr>
              <a:t>	Identify the classes affected by faculty leave. Check whether a suitable substitute is available. If substitution is unsuitable or unavailable, reschedule the affected class using CSP. Preserve unaffected timetable assignments. Calculate a timetable stability index to measure schedule preservation.</a:t>
            </a:r>
          </a:p>
          <a:p>
            <a:pPr>
              <a:spcBef>
                <a:spcPts val="200"/>
              </a:spcBef>
              <a:defRPr sz="1300">
                <a:solidFill>
                  <a:srgbClr val="2D343E"/>
                </a:solidFill>
                <a:latin typeface="Aptos"/>
              </a:defRPr>
            </a:pPr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D0C7C6-82FF-6841-4AAD-89AE295269C7}"/>
              </a:ext>
            </a:extLst>
          </p:cNvPr>
          <p:cNvSpPr txBox="1"/>
          <p:nvPr/>
        </p:nvSpPr>
        <p:spPr>
          <a:xfrm>
            <a:off x="1992086" y="52360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AF2C76-24C6-BAAC-F17B-BACAA17288E8}"/>
              </a:ext>
            </a:extLst>
          </p:cNvPr>
          <p:cNvSpPr txBox="1"/>
          <p:nvPr/>
        </p:nvSpPr>
        <p:spPr>
          <a:xfrm>
            <a:off x="812800" y="696686"/>
            <a:ext cx="107360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rgbClr val="FF0000"/>
                </a:solidFill>
              </a:rPr>
              <a:t>Research Gap and Project Response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0161453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System Architecture / Proposed System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400" b="1" dirty="0"/>
              <a:t>Architecture Components</a:t>
            </a:r>
          </a:p>
          <a:p>
            <a:pPr marL="0" indent="0">
              <a:buNone/>
            </a:pPr>
            <a:r>
              <a:rPr lang="en-IN" sz="2400" b="1" dirty="0"/>
              <a:t>1. User Interface</a:t>
            </a:r>
            <a:endParaRPr lang="en-IN" sz="2400" dirty="0"/>
          </a:p>
          <a:p>
            <a:pPr lvl="0"/>
            <a:r>
              <a:rPr lang="en-IN" sz="2400" dirty="0"/>
              <a:t>Administrator dashboard. </a:t>
            </a:r>
          </a:p>
          <a:p>
            <a:pPr lvl="0"/>
            <a:r>
              <a:rPr lang="en-IN" sz="2400" dirty="0"/>
              <a:t>Faculty dashboard. </a:t>
            </a:r>
          </a:p>
          <a:p>
            <a:pPr lvl="0"/>
            <a:r>
              <a:rPr lang="en-IN" sz="2400" dirty="0"/>
              <a:t>Student timetable view. </a:t>
            </a:r>
          </a:p>
          <a:p>
            <a:pPr lvl="0"/>
            <a:r>
              <a:rPr lang="en-IN" sz="2400" dirty="0"/>
              <a:t>Leave request and approval forms. </a:t>
            </a:r>
          </a:p>
          <a:p>
            <a:pPr marL="0" indent="0">
              <a:buNone/>
            </a:pPr>
            <a:r>
              <a:rPr lang="en-IN" sz="2400" b="1" dirty="0"/>
              <a:t>2. Timetable Management Module</a:t>
            </a:r>
            <a:endParaRPr lang="en-IN" sz="2400" dirty="0"/>
          </a:p>
          <a:p>
            <a:pPr lvl="0"/>
            <a:r>
              <a:rPr lang="en-IN" sz="2400" dirty="0"/>
              <a:t>Manage departments, sections, subjects, faculty, and rooms. </a:t>
            </a:r>
          </a:p>
          <a:p>
            <a:pPr lvl="0"/>
            <a:r>
              <a:rPr lang="en-IN" sz="2400" dirty="0"/>
              <a:t>Configure availability and scheduling constraints. </a:t>
            </a:r>
          </a:p>
          <a:p>
            <a:pPr lvl="0"/>
            <a:r>
              <a:rPr lang="en-IN" sz="2400" dirty="0"/>
              <a:t>Initiate timetable generation. </a:t>
            </a:r>
          </a:p>
          <a:p>
            <a:pPr marL="0" indent="0">
              <a:buNone/>
            </a:pPr>
            <a:endParaRPr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96778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C5D4F-DA73-E10B-6C64-7AEF14580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System Architecture / Proposed System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822A1-B6C5-1106-84BD-423F618E25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400" b="1" dirty="0"/>
              <a:t>3. CSP Solver</a:t>
            </a:r>
            <a:endParaRPr lang="en-IN" sz="2400" dirty="0"/>
          </a:p>
          <a:p>
            <a:pPr lvl="0"/>
            <a:r>
              <a:rPr lang="en-IN" sz="2400" dirty="0"/>
              <a:t>Variables: class sessions. </a:t>
            </a:r>
          </a:p>
          <a:p>
            <a:pPr lvl="0"/>
            <a:r>
              <a:rPr lang="en-IN" sz="2400" dirty="0"/>
              <a:t>Domains: valid day–period–room combinations. </a:t>
            </a:r>
          </a:p>
          <a:p>
            <a:pPr lvl="0"/>
            <a:r>
              <a:rPr lang="en-IN" sz="2400" dirty="0"/>
              <a:t>Constraints: faculty, section, room, and laboratory requirements. </a:t>
            </a:r>
          </a:p>
          <a:p>
            <a:pPr lvl="0"/>
            <a:r>
              <a:rPr lang="en-IN" sz="2400" dirty="0"/>
              <a:t>Algorithms: Backtracking Search, MRV, LCV, and Forward Checking. </a:t>
            </a:r>
          </a:p>
          <a:p>
            <a:pPr marL="0" indent="0">
              <a:buNone/>
            </a:pPr>
            <a:r>
              <a:rPr lang="en-IN" sz="2400" b="1" dirty="0"/>
              <a:t>4. Database</a:t>
            </a:r>
            <a:endParaRPr lang="en-IN" sz="2400" dirty="0"/>
          </a:p>
          <a:p>
            <a:pPr lvl="0"/>
            <a:r>
              <a:rPr lang="en-IN" sz="2400" dirty="0"/>
              <a:t>SQLite stores timetable-related information, including faculty, rooms, constraints, timetable assignments, and leave records. </a:t>
            </a:r>
          </a:p>
          <a:p>
            <a:endParaRPr lang="en-IN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F92382-C16A-EDEB-DF2A-7E0E1EAC9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CD3938-66B8-2575-75FA-D3884A80E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F6E130-1730-AF93-2B2F-8028B56B8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C2143B-610F-499C-A392-DFFBE135A7B2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73639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A329A-D380-5DEF-47FA-041D4CA50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FF0000"/>
                </a:solidFill>
              </a:rPr>
              <a:t>System Architecture / Proposed System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08F31-1541-97C8-E67B-7476C6A88D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0" y="1752600"/>
            <a:ext cx="11436349" cy="4267200"/>
          </a:xfrm>
        </p:spPr>
        <p:txBody>
          <a:bodyPr/>
          <a:lstStyle/>
          <a:p>
            <a:pPr marL="0" indent="0">
              <a:buNone/>
            </a:pPr>
            <a:r>
              <a:rPr lang="en-IN" sz="2400" b="1" dirty="0"/>
              <a:t>5. Adaptive Rescheduling Module</a:t>
            </a:r>
            <a:endParaRPr lang="en-IN" sz="2400" dirty="0"/>
          </a:p>
          <a:p>
            <a:pPr lvl="0"/>
            <a:r>
              <a:rPr lang="en-IN" sz="2400" dirty="0"/>
              <a:t>Identifies affected assignments. </a:t>
            </a:r>
          </a:p>
          <a:p>
            <a:pPr lvl="0"/>
            <a:r>
              <a:rPr lang="en-IN" sz="2400" dirty="0"/>
              <a:t>Checks substitute availability. </a:t>
            </a:r>
          </a:p>
          <a:p>
            <a:pPr lvl="0"/>
            <a:r>
              <a:rPr lang="en-IN" sz="2400" dirty="0"/>
              <a:t>Invokes CSP-based rescheduling when required. </a:t>
            </a:r>
          </a:p>
          <a:p>
            <a:pPr lvl="0"/>
            <a:r>
              <a:rPr lang="en-IN" sz="2400" dirty="0"/>
              <a:t>Preserves unaffected assignments where possible. </a:t>
            </a:r>
          </a:p>
          <a:p>
            <a:pPr marL="0" indent="0">
              <a:buNone/>
            </a:pPr>
            <a:r>
              <a:rPr lang="en-IN" sz="2400" b="1" dirty="0"/>
              <a:t>6. Output Module</a:t>
            </a:r>
            <a:endParaRPr lang="en-IN" sz="2400" dirty="0"/>
          </a:p>
          <a:p>
            <a:pPr lvl="0"/>
            <a:r>
              <a:rPr lang="en-IN" sz="2400" dirty="0"/>
              <a:t>Displays department-wise, section-wise, and faculty-wise timetables. </a:t>
            </a:r>
          </a:p>
          <a:p>
            <a:pPr lvl="0"/>
            <a:r>
              <a:rPr lang="en-IN" sz="2400" dirty="0"/>
              <a:t>Displays updated assignments and rescheduling information. </a:t>
            </a:r>
          </a:p>
          <a:p>
            <a:pPr lvl="0"/>
            <a:r>
              <a:rPr lang="en-IN" sz="2400" dirty="0"/>
              <a:t>Reports scheduling conflicts when a valid assignment cannot be found.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94D406-5BDE-61E4-ECC3-360CF44B5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D6346E-941D-B664-190A-3AADF582B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97F765-6758-2193-83E5-E2D52765C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C2143B-610F-499C-A392-DFFBE135A7B2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9619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DFD Diagram</a:t>
            </a:r>
            <a:endParaRPr lang="en-IN" sz="3200" b="1" dirty="0">
              <a:solidFill>
                <a:srgbClr val="FF0000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91ABE39-EDFE-3287-C5A9-E77E0CB39E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49935"/>
          <a:stretch>
            <a:fillRect/>
          </a:stretch>
        </p:blipFill>
        <p:spPr bwMode="auto">
          <a:xfrm>
            <a:off x="3661372" y="1749424"/>
            <a:ext cx="4869256" cy="44158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67779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sz="3200" b="1" dirty="0">
                <a:solidFill>
                  <a:srgbClr val="FF0000"/>
                </a:solidFill>
              </a:rPr>
              <a:t>Methodology / Workflow Diagram</a:t>
            </a:r>
            <a:endParaRPr lang="en-IN" sz="28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708180D-62DC-0236-33B2-617B1D6B6B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50065"/>
          <a:stretch>
            <a:fillRect/>
          </a:stretch>
        </p:blipFill>
        <p:spPr bwMode="auto">
          <a:xfrm>
            <a:off x="3575720" y="1844824"/>
            <a:ext cx="4856555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78157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265FE-D1EF-9ED0-0CBE-CBAAADBFC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117" y="-307305"/>
            <a:ext cx="10668000" cy="1216025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Tools and Technologies</a:t>
            </a:r>
            <a:endParaRPr lang="en-IN" sz="3200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2B683B68-AA4D-568D-F677-548059D55A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9703670"/>
              </p:ext>
            </p:extLst>
          </p:nvPr>
        </p:nvGraphicFramePr>
        <p:xfrm>
          <a:off x="407368" y="908720"/>
          <a:ext cx="11449272" cy="56692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280880">
                  <a:extLst>
                    <a:ext uri="{9D8B030D-6E8A-4147-A177-3AD203B41FA5}">
                      <a16:colId xmlns:a16="http://schemas.microsoft.com/office/drawing/2014/main" val="2507821712"/>
                    </a:ext>
                  </a:extLst>
                </a:gridCol>
                <a:gridCol w="3070399">
                  <a:extLst>
                    <a:ext uri="{9D8B030D-6E8A-4147-A177-3AD203B41FA5}">
                      <a16:colId xmlns:a16="http://schemas.microsoft.com/office/drawing/2014/main" val="1127679209"/>
                    </a:ext>
                  </a:extLst>
                </a:gridCol>
                <a:gridCol w="5097993">
                  <a:extLst>
                    <a:ext uri="{9D8B030D-6E8A-4147-A177-3AD203B41FA5}">
                      <a16:colId xmlns:a16="http://schemas.microsoft.com/office/drawing/2014/main" val="3613559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Technology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560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Programming Language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Python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CSP implementation and backend logic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31365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Web Framework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Flask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Web application and routing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2013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Frontend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HTML, </a:t>
                      </a:r>
                      <a:r>
                        <a:rPr lang="en-IN" sz="2000" dirty="0" err="1"/>
                        <a:t>CSS,JavaScript</a:t>
                      </a:r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User interface and timetable display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7014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Database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SQLite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Persistent storage of timetable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00594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AI Technique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CSP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Formal scheduling model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7676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Search Algorithm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Backtracking Search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Assignment exploration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9579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Heuristics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MRV and LCV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Variable and value ordering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6980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Constraint Propagation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Forward Checking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Detect domain failures early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16062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Development Environment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Visual Studio 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Coding and debugging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4102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Version Control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Git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Source-code management, if used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2426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Testing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Application test cases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Validate generation and rescheduling behaviour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0680638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B6670A-3440-93F1-96B4-A9F62C330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88488" y="6410767"/>
            <a:ext cx="2641600" cy="476250"/>
          </a:xfrm>
        </p:spPr>
        <p:txBody>
          <a:bodyPr/>
          <a:lstStyle/>
          <a:p>
            <a:pPr algn="ctr">
              <a:defRPr/>
            </a:pPr>
            <a:fld id="{BDC2143B-610F-499C-A392-DFFBE135A7B2}" type="slidenum">
              <a:rPr lang="en-US" altLang="en-US" smtClean="0"/>
              <a:pPr algn="ctr">
                <a:defRPr/>
              </a:pPr>
              <a:t>18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866663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603919"/>
          </a:xfrm>
        </p:spPr>
        <p:txBody>
          <a:bodyPr/>
          <a:lstStyle/>
          <a:p>
            <a:pPr algn="ctr"/>
            <a:r>
              <a:rPr lang="en-US" altLang="en-US" sz="3200" b="1" dirty="0">
                <a:solidFill>
                  <a:srgbClr val="FF0000"/>
                </a:solidFill>
              </a:rPr>
              <a:t>List of Modules</a:t>
            </a:r>
            <a:endParaRPr lang="en-IN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19</a:t>
            </a:fld>
            <a:endParaRPr lang="en-IN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B8D7803-CE7A-91B8-FE86-3EEC9BF859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9068873"/>
              </p:ext>
            </p:extLst>
          </p:nvPr>
        </p:nvGraphicFramePr>
        <p:xfrm>
          <a:off x="551384" y="836712"/>
          <a:ext cx="11305256" cy="588922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48072">
                  <a:extLst>
                    <a:ext uri="{9D8B030D-6E8A-4147-A177-3AD203B41FA5}">
                      <a16:colId xmlns:a16="http://schemas.microsoft.com/office/drawing/2014/main" val="3536630010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2490591219"/>
                    </a:ext>
                  </a:extLst>
                </a:gridCol>
                <a:gridCol w="6336704">
                  <a:extLst>
                    <a:ext uri="{9D8B030D-6E8A-4147-A177-3AD203B41FA5}">
                      <a16:colId xmlns:a16="http://schemas.microsoft.com/office/drawing/2014/main" val="1785394920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618169713"/>
                    </a:ext>
                  </a:extLst>
                </a:gridCol>
              </a:tblGrid>
              <a:tr h="7978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Aptos" panose="020B0004020202020204" pitchFamily="34" charset="0"/>
                        </a:rPr>
                        <a:t>S. No.</a:t>
                      </a:r>
                    </a:p>
                  </a:txBody>
                  <a:tcPr marL="44450" marR="44450" marT="22225" marB="222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Aptos" panose="020B0004020202020204" pitchFamily="34" charset="0"/>
                        </a:rPr>
                        <a:t>Module</a:t>
                      </a:r>
                    </a:p>
                  </a:txBody>
                  <a:tcPr marL="44450" marR="44450" marT="22225" marB="222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Aptos" panose="020B0004020202020204" pitchFamily="34" charset="0"/>
                        </a:rPr>
                        <a:t>Function</a:t>
                      </a:r>
                    </a:p>
                  </a:txBody>
                  <a:tcPr marL="44450" marR="44450" marT="22225" marB="222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Aptos" panose="020B0004020202020204" pitchFamily="34" charset="0"/>
                        </a:rPr>
                        <a:t>Status</a:t>
                      </a:r>
                    </a:p>
                  </a:txBody>
                  <a:tcPr marL="44450" marR="44450" marT="22225" marB="22225" anchor="ctr"/>
                </a:tc>
                <a:extLst>
                  <a:ext uri="{0D108BD9-81ED-4DB2-BD59-A6C34878D82A}">
                    <a16:rowId xmlns:a16="http://schemas.microsoft.com/office/drawing/2014/main" val="2898419106"/>
                  </a:ext>
                </a:extLst>
              </a:tr>
              <a:tr h="8772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 marL="44450" marR="44450" marT="22225" marB="222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Aptos" panose="020B0004020202020204" pitchFamily="34" charset="0"/>
                        </a:rPr>
                        <a:t>University Data Management</a:t>
                      </a:r>
                    </a:p>
                  </a:txBody>
                  <a:tcPr marL="44450" marR="44450" marT="22225" marB="22225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400">
                          <a:latin typeface="Aptos" panose="020B0004020202020204" pitchFamily="34" charset="0"/>
                        </a:rPr>
                        <a:t>Maintains university data, including departments, subjects, faculty, classrooms, and laboratories.</a:t>
                      </a:r>
                    </a:p>
                  </a:txBody>
                  <a:tcPr marL="44450" marR="44450" marT="22225" marB="222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Aptos" panose="020B0004020202020204" pitchFamily="34" charset="0"/>
                        </a:rPr>
                        <a:t>Completed</a:t>
                      </a:r>
                    </a:p>
                  </a:txBody>
                  <a:tcPr marL="44450" marR="44450" marT="22225" marB="22225" anchor="ctr"/>
                </a:tc>
                <a:extLst>
                  <a:ext uri="{0D108BD9-81ED-4DB2-BD59-A6C34878D82A}">
                    <a16:rowId xmlns:a16="http://schemas.microsoft.com/office/drawing/2014/main" val="4156029489"/>
                  </a:ext>
                </a:extLst>
              </a:tr>
              <a:tr h="599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Aptos" panose="020B0004020202020204" pitchFamily="34" charset="0"/>
                        </a:rPr>
                        <a:t>2</a:t>
                      </a:r>
                    </a:p>
                  </a:txBody>
                  <a:tcPr marL="44450" marR="44450" marT="22225" marB="222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Aptos" panose="020B0004020202020204" pitchFamily="34" charset="0"/>
                        </a:rPr>
                        <a:t>CSP Formulation</a:t>
                      </a:r>
                    </a:p>
                  </a:txBody>
                  <a:tcPr marL="44450" marR="44450" marT="22225" marB="22225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400">
                          <a:latin typeface="Aptos" panose="020B0004020202020204" pitchFamily="34" charset="0"/>
                        </a:rPr>
                        <a:t>Defines timetable variables, domains, and scheduling constraints.</a:t>
                      </a:r>
                    </a:p>
                  </a:txBody>
                  <a:tcPr marL="44450" marR="44450" marT="22225" marB="222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Aptos" panose="020B0004020202020204" pitchFamily="34" charset="0"/>
                        </a:rPr>
                        <a:t>Completed</a:t>
                      </a:r>
                    </a:p>
                  </a:txBody>
                  <a:tcPr marL="44450" marR="44450" marT="22225" marB="22225" anchor="ctr"/>
                </a:tc>
                <a:extLst>
                  <a:ext uri="{0D108BD9-81ED-4DB2-BD59-A6C34878D82A}">
                    <a16:rowId xmlns:a16="http://schemas.microsoft.com/office/drawing/2014/main" val="2662357387"/>
                  </a:ext>
                </a:extLst>
              </a:tr>
              <a:tr h="8772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Aptos" panose="020B0004020202020204" pitchFamily="34" charset="0"/>
                        </a:rPr>
                        <a:t>3</a:t>
                      </a:r>
                    </a:p>
                  </a:txBody>
                  <a:tcPr marL="44450" marR="44450" marT="22225" marB="222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Aptos" panose="020B0004020202020204" pitchFamily="34" charset="0"/>
                        </a:rPr>
                        <a:t>Constraint Validation</a:t>
                      </a:r>
                    </a:p>
                  </a:txBody>
                  <a:tcPr marL="44450" marR="44450" marT="22225" marB="22225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400">
                          <a:latin typeface="Aptos" panose="020B0004020202020204" pitchFamily="34" charset="0"/>
                        </a:rPr>
                        <a:t>Checks faculty availability, room and section conflicts, laboratory requirements, and workload limits.</a:t>
                      </a:r>
                    </a:p>
                  </a:txBody>
                  <a:tcPr marL="44450" marR="44450" marT="22225" marB="222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Aptos" panose="020B0004020202020204" pitchFamily="34" charset="0"/>
                        </a:rPr>
                        <a:t>Completed</a:t>
                      </a:r>
                    </a:p>
                  </a:txBody>
                  <a:tcPr marL="44450" marR="44450" marT="22225" marB="22225" anchor="ctr"/>
                </a:tc>
                <a:extLst>
                  <a:ext uri="{0D108BD9-81ED-4DB2-BD59-A6C34878D82A}">
                    <a16:rowId xmlns:a16="http://schemas.microsoft.com/office/drawing/2014/main" val="1787833119"/>
                  </a:ext>
                </a:extLst>
              </a:tr>
              <a:tr h="8772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Aptos" panose="020B0004020202020204" pitchFamily="34" charset="0"/>
                        </a:rPr>
                        <a:t>4</a:t>
                      </a:r>
                    </a:p>
                  </a:txBody>
                  <a:tcPr marL="44450" marR="44450" marT="22225" marB="222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Aptos" panose="020B0004020202020204" pitchFamily="34" charset="0"/>
                        </a:rPr>
                        <a:t>Optimized Search</a:t>
                      </a:r>
                    </a:p>
                  </a:txBody>
                  <a:tcPr marL="44450" marR="44450" marT="22225" marB="22225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400">
                          <a:latin typeface="Aptos" panose="020B0004020202020204" pitchFamily="34" charset="0"/>
                        </a:rPr>
                        <a:t>Applies Backtracking, MRV, LCV, and Forward Checking to generate feasible timetables.</a:t>
                      </a:r>
                    </a:p>
                  </a:txBody>
                  <a:tcPr marL="44450" marR="44450" marT="22225" marB="222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Aptos" panose="020B0004020202020204" pitchFamily="34" charset="0"/>
                        </a:rPr>
                        <a:t>Completed</a:t>
                      </a:r>
                    </a:p>
                  </a:txBody>
                  <a:tcPr marL="44450" marR="44450" marT="22225" marB="22225" anchor="ctr"/>
                </a:tc>
                <a:extLst>
                  <a:ext uri="{0D108BD9-81ED-4DB2-BD59-A6C34878D82A}">
                    <a16:rowId xmlns:a16="http://schemas.microsoft.com/office/drawing/2014/main" val="697609713"/>
                  </a:ext>
                </a:extLst>
              </a:tr>
              <a:tr h="11546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Aptos" panose="020B0004020202020204" pitchFamily="34" charset="0"/>
                        </a:rPr>
                        <a:t>5</a:t>
                      </a:r>
                    </a:p>
                  </a:txBody>
                  <a:tcPr marL="44450" marR="44450" marT="22225" marB="222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Aptos" panose="020B0004020202020204" pitchFamily="34" charset="0"/>
                        </a:rPr>
                        <a:t>Adaptive Timetable Rescheduling</a:t>
                      </a:r>
                    </a:p>
                  </a:txBody>
                  <a:tcPr marL="44450" marR="44450" marT="22225" marB="22225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400" dirty="0">
                          <a:latin typeface="Aptos" panose="020B0004020202020204" pitchFamily="34" charset="0"/>
                        </a:rPr>
                        <a:t>Handles faculty absences through substitution or rescheduling of affected classes while preserving unaffected assignments.</a:t>
                      </a:r>
                    </a:p>
                  </a:txBody>
                  <a:tcPr marL="44450" marR="44450" marT="22225" marB="222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Aptos" panose="020B0004020202020204" pitchFamily="34" charset="0"/>
                        </a:rPr>
                        <a:t>Completed</a:t>
                      </a:r>
                    </a:p>
                  </a:txBody>
                  <a:tcPr marL="44450" marR="44450" marT="22225" marB="22225" anchor="ctr"/>
                </a:tc>
                <a:extLst>
                  <a:ext uri="{0D108BD9-81ED-4DB2-BD59-A6C34878D82A}">
                    <a16:rowId xmlns:a16="http://schemas.microsoft.com/office/drawing/2014/main" val="8295023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10159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891951"/>
          </a:xfrm>
        </p:spPr>
        <p:txBody>
          <a:bodyPr/>
          <a:lstStyle/>
          <a:p>
            <a:pPr algn="ctr"/>
            <a:r>
              <a:rPr lang="en-US" altLang="en-US" sz="3200" b="1" dirty="0">
                <a:solidFill>
                  <a:srgbClr val="FF0000"/>
                </a:solidFill>
              </a:rPr>
              <a:t>Module Implementation – Part 1</a:t>
            </a:r>
            <a:endParaRPr lang="en-IN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20</a:t>
            </a:fld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64F9AB-4D7B-2B15-781B-517255B5F56D}"/>
              </a:ext>
            </a:extLst>
          </p:cNvPr>
          <p:cNvSpPr txBox="1"/>
          <p:nvPr/>
        </p:nvSpPr>
        <p:spPr>
          <a:xfrm>
            <a:off x="766233" y="1844824"/>
            <a:ext cx="1087438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AutoNum type="arabicPeriod"/>
            </a:pPr>
            <a:r>
              <a:rPr lang="en-IN" sz="2400" b="1" dirty="0"/>
              <a:t>University Data Management Module</a:t>
            </a:r>
          </a:p>
          <a:p>
            <a:pPr algn="just"/>
            <a:endParaRPr lang="en-IN" sz="2400" b="1" dirty="0"/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400" dirty="0"/>
              <a:t>Implemented an </a:t>
            </a:r>
            <a:r>
              <a:rPr lang="en-IN" sz="2400" b="1" dirty="0"/>
              <a:t>SQLite</a:t>
            </a:r>
            <a:r>
              <a:rPr lang="en-IN" sz="2400" dirty="0"/>
              <a:t> database to maintain university information, including departments, subjects, faculty, classrooms, and laboratories.</a:t>
            </a:r>
          </a:p>
          <a:p>
            <a:pPr marL="342900" lvl="0" indent="-342900" algn="just">
              <a:buFont typeface="Wingdings" panose="05000000000000000000" pitchFamily="2" charset="2"/>
              <a:buChar char="q"/>
            </a:pPr>
            <a:r>
              <a:rPr lang="en-IN" sz="2400" dirty="0"/>
              <a:t>Developed database operations to store, retrieve, and update the information required for scheduling.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400" dirty="0"/>
              <a:t>The timetable generation process uses this stored data.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endParaRPr lang="en-IN" sz="2400" b="1" dirty="0"/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400" b="1" dirty="0"/>
              <a:t>Output</a:t>
            </a:r>
            <a:r>
              <a:rPr lang="en-IN" sz="2400" dirty="0"/>
              <a:t>: Structured academic data supplied to the CSP formulation and scheduling modules.</a:t>
            </a:r>
          </a:p>
          <a:p>
            <a:pPr marL="342900" lvl="0" indent="-342900" algn="just">
              <a:buFont typeface="Wingdings" panose="05000000000000000000" pitchFamily="2" charset="2"/>
              <a:buChar char="q"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5175299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32E7E-08ED-E0FA-A794-181DBB3D8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459903"/>
          </a:xfrm>
        </p:spPr>
        <p:txBody>
          <a:bodyPr/>
          <a:lstStyle/>
          <a:p>
            <a:pPr algn="ctr"/>
            <a:r>
              <a:rPr lang="en-US" altLang="en-US" sz="3200" b="1" dirty="0">
                <a:solidFill>
                  <a:srgbClr val="FF0000"/>
                </a:solidFill>
              </a:rPr>
              <a:t>Module</a:t>
            </a:r>
            <a:r>
              <a:rPr lang="en-US" altLang="en-US" sz="2800" b="1" dirty="0">
                <a:solidFill>
                  <a:srgbClr val="FF0000"/>
                </a:solidFill>
              </a:rPr>
              <a:t> Implementation – Part 1</a:t>
            </a:r>
            <a:endParaRPr lang="en-IN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465C8-B830-C44A-DCB2-37AD9CDF3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C2143B-610F-499C-A392-DFFBE135A7B2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1763B0-C418-B977-1F44-B962E74F29F6}"/>
              </a:ext>
            </a:extLst>
          </p:cNvPr>
          <p:cNvSpPr txBox="1"/>
          <p:nvPr/>
        </p:nvSpPr>
        <p:spPr>
          <a:xfrm>
            <a:off x="407368" y="1685121"/>
            <a:ext cx="1144927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400" b="1" dirty="0"/>
              <a:t>2. CSP Formulation Module</a:t>
            </a:r>
          </a:p>
          <a:p>
            <a:pPr marL="342900" lvl="0" indent="-342900" algn="just">
              <a:buFont typeface="Wingdings" panose="05000000000000000000" pitchFamily="2" charset="2"/>
              <a:buChar char="q"/>
            </a:pPr>
            <a:r>
              <a:rPr lang="en-IN" sz="2400" dirty="0"/>
              <a:t>Implemented the timetable scheduling problem using CSP model.</a:t>
            </a:r>
          </a:p>
          <a:p>
            <a:pPr marL="342900" lvl="0" indent="-342900" algn="just">
              <a:buFont typeface="Wingdings" panose="05000000000000000000" pitchFamily="2" charset="2"/>
              <a:buChar char="q"/>
            </a:pPr>
            <a:r>
              <a:rPr lang="en-IN" sz="2400" b="1" dirty="0"/>
              <a:t>Variables</a:t>
            </a:r>
            <a:r>
              <a:rPr lang="en-IN" sz="2400" dirty="0"/>
              <a:t>: Individual class sessions that must be assigned to a timetable slot.</a:t>
            </a:r>
          </a:p>
          <a:p>
            <a:pPr marL="342900" lvl="0" indent="-342900" algn="just">
              <a:buFont typeface="Wingdings" panose="05000000000000000000" pitchFamily="2" charset="2"/>
              <a:buChar char="q"/>
            </a:pPr>
            <a:r>
              <a:rPr lang="en-IN" sz="2400" b="1" dirty="0"/>
              <a:t>Domains</a:t>
            </a:r>
            <a:r>
              <a:rPr lang="en-IN" sz="2400" dirty="0"/>
              <a:t>: Available combinations of day, period, and room for each class session.</a:t>
            </a:r>
          </a:p>
          <a:p>
            <a:pPr marL="342900" lvl="0" indent="-342900" algn="just">
              <a:buFont typeface="Wingdings" panose="05000000000000000000" pitchFamily="2" charset="2"/>
              <a:buChar char="q"/>
            </a:pPr>
            <a:r>
              <a:rPr lang="en-IN" sz="2400" b="1" dirty="0"/>
              <a:t>Constraints</a:t>
            </a:r>
            <a:r>
              <a:rPr lang="en-IN" sz="2400" dirty="0"/>
              <a:t>: Faculty availability, section and room conflicts, weekly workload limits, subject scheduling rules, and consecutive laboratory periods.</a:t>
            </a:r>
          </a:p>
          <a:p>
            <a:pPr marL="342900" lvl="0" indent="-342900" algn="just">
              <a:buFont typeface="Wingdings" panose="05000000000000000000" pitchFamily="2" charset="2"/>
              <a:buChar char="q"/>
            </a:pPr>
            <a:r>
              <a:rPr lang="en-IN" sz="2400" dirty="0"/>
              <a:t>Converts the academic scheduling requirements into a structured problem that can be solved using search algorithms.</a:t>
            </a:r>
          </a:p>
          <a:p>
            <a:pPr marL="342900" lvl="0" indent="-342900" algn="just">
              <a:buFont typeface="Wingdings" panose="05000000000000000000" pitchFamily="2" charset="2"/>
              <a:buChar char="q"/>
            </a:pPr>
            <a:r>
              <a:rPr lang="en-IN" sz="2400" b="1" dirty="0"/>
              <a:t>Output</a:t>
            </a:r>
            <a:r>
              <a:rPr lang="en-IN" sz="2400" dirty="0"/>
              <a:t>: A CSP model containing scheduling variables, domains, and constraints.</a:t>
            </a:r>
          </a:p>
          <a:p>
            <a:pPr algn="just"/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5725173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7B475-8078-C6AF-5D77-C5A5BC4F6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252B05-00AF-4E22-241B-E5831AB52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Department of Computer Science and Engineering (Cyber Security)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B09D0B-89B3-A248-F253-D80CA1915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C2143B-610F-499C-A392-DFFBE135A7B2}" type="slidenum">
              <a:rPr lang="en-US" altLang="en-US" smtClean="0"/>
              <a:pPr>
                <a:defRPr/>
              </a:pPr>
              <a:t>22</a:t>
            </a:fld>
            <a:endParaRPr lang="en-US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45A694-0291-3005-02D1-F5D8FF75F836}"/>
              </a:ext>
            </a:extLst>
          </p:cNvPr>
          <p:cNvSpPr txBox="1"/>
          <p:nvPr/>
        </p:nvSpPr>
        <p:spPr>
          <a:xfrm>
            <a:off x="812800" y="1844824"/>
            <a:ext cx="10755808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IN" sz="2400" b="1" dirty="0"/>
              <a:t>3. Constraint Validation Module</a:t>
            </a:r>
          </a:p>
          <a:p>
            <a:pPr marL="342900" lvl="0" indent="-342900" algn="just">
              <a:buFont typeface="Wingdings" panose="05000000000000000000" pitchFamily="2" charset="2"/>
              <a:buChar char="q"/>
            </a:pPr>
            <a:r>
              <a:rPr lang="en-IN" sz="2400" dirty="0"/>
              <a:t>Implemented validation logic to check whether a proposed timetable assignment satisfies the scheduling rules.</a:t>
            </a:r>
          </a:p>
          <a:p>
            <a:pPr marL="342900" lvl="0" indent="-342900" algn="just">
              <a:buFont typeface="Wingdings" panose="05000000000000000000" pitchFamily="2" charset="2"/>
              <a:buChar char="q"/>
            </a:pPr>
            <a:r>
              <a:rPr lang="en-IN" sz="2400" dirty="0"/>
              <a:t>Checks that a faculty member, classroom, or student section is not assigned to conflicting classes at the same time.</a:t>
            </a:r>
          </a:p>
          <a:p>
            <a:pPr marL="342900" lvl="0" indent="-342900" algn="just">
              <a:buFont typeface="Wingdings" panose="05000000000000000000" pitchFamily="2" charset="2"/>
              <a:buChar char="q"/>
            </a:pPr>
            <a:r>
              <a:rPr lang="en-IN" sz="2400" dirty="0"/>
              <a:t>Verifies laboratory continuity, subject-period restrictions, faculty workload limits, and other configured constraints.</a:t>
            </a:r>
          </a:p>
          <a:p>
            <a:pPr marL="342900" lvl="0" indent="-342900" algn="just">
              <a:buFont typeface="Wingdings" panose="05000000000000000000" pitchFamily="2" charset="2"/>
              <a:buChar char="q"/>
            </a:pPr>
            <a:r>
              <a:rPr lang="en-IN" sz="2400" dirty="0"/>
              <a:t>Invalid assignments are rejected during scheduling, preventing conflicts from being included in the final timetable.</a:t>
            </a:r>
          </a:p>
          <a:p>
            <a:pPr marL="342900" lvl="0" indent="-342900" algn="just">
              <a:buFont typeface="Wingdings" panose="05000000000000000000" pitchFamily="2" charset="2"/>
              <a:buChar char="q"/>
            </a:pPr>
            <a:r>
              <a:rPr lang="en-IN" sz="2400" b="1" dirty="0"/>
              <a:t>Output</a:t>
            </a:r>
            <a:r>
              <a:rPr lang="en-IN" sz="2400" dirty="0"/>
              <a:t>: Valid assignments that satisfy the configured scheduling constraints.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CE48D3A-ACA0-D7F2-79F3-A5BCD707E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3" y="664841"/>
            <a:ext cx="10668000" cy="459903"/>
          </a:xfrm>
        </p:spPr>
        <p:txBody>
          <a:bodyPr/>
          <a:lstStyle/>
          <a:p>
            <a:pPr algn="ctr"/>
            <a:r>
              <a:rPr lang="en-US" altLang="en-US" sz="3200" b="1" dirty="0">
                <a:solidFill>
                  <a:srgbClr val="FF0000"/>
                </a:solidFill>
              </a:rPr>
              <a:t>Module</a:t>
            </a:r>
            <a:r>
              <a:rPr lang="en-US" altLang="en-US" sz="2800" b="1" dirty="0">
                <a:solidFill>
                  <a:srgbClr val="FF0000"/>
                </a:solidFill>
              </a:rPr>
              <a:t> Implementation – Part 1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9802094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B121AC-C46D-CFCC-E9AD-8BA4607AF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4DD342-963A-8054-8F28-71A6B34C5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337838-97A9-2476-49B8-9D94013A9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C2143B-610F-499C-A392-DFFBE135A7B2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4619DE1-ECD9-65E9-6EF9-EA3F07E12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3" y="592833"/>
            <a:ext cx="10668000" cy="459903"/>
          </a:xfrm>
        </p:spPr>
        <p:txBody>
          <a:bodyPr/>
          <a:lstStyle/>
          <a:p>
            <a:pPr algn="ctr"/>
            <a:r>
              <a:rPr lang="en-US" altLang="en-US" sz="3200" b="1" dirty="0">
                <a:solidFill>
                  <a:srgbClr val="FF0000"/>
                </a:solidFill>
              </a:rPr>
              <a:t>Module</a:t>
            </a:r>
            <a:r>
              <a:rPr lang="en-US" altLang="en-US" sz="2800" b="1" dirty="0">
                <a:solidFill>
                  <a:srgbClr val="FF0000"/>
                </a:solidFill>
              </a:rPr>
              <a:t> Implementation – Part 2</a:t>
            </a:r>
            <a:endParaRPr lang="en-IN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D5202F-B6F3-CCA4-5D99-21AF47721890}"/>
              </a:ext>
            </a:extLst>
          </p:cNvPr>
          <p:cNvSpPr txBox="1"/>
          <p:nvPr/>
        </p:nvSpPr>
        <p:spPr>
          <a:xfrm>
            <a:off x="744541" y="1700808"/>
            <a:ext cx="1101722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IN" sz="2400" b="1" dirty="0"/>
              <a:t>4. Optimized Search Module</a:t>
            </a:r>
          </a:p>
          <a:p>
            <a:pPr marL="342900" lvl="0" indent="-342900" algn="just">
              <a:buFont typeface="Wingdings" panose="05000000000000000000" pitchFamily="2" charset="2"/>
              <a:buChar char="q"/>
            </a:pPr>
            <a:r>
              <a:rPr lang="en-IN" sz="2400" dirty="0"/>
              <a:t>When an assignment violates a constraint or causes a future conflict, the algorithm reverses the assignment and explores another possibility.</a:t>
            </a:r>
          </a:p>
          <a:p>
            <a:pPr marL="342900" lvl="0" indent="-342900" algn="just">
              <a:buFont typeface="Wingdings" panose="05000000000000000000" pitchFamily="2" charset="2"/>
              <a:buChar char="q"/>
            </a:pPr>
            <a:r>
              <a:rPr lang="en-IN" sz="2400" b="1" dirty="0"/>
              <a:t>Minimum Remaining Values (MRV): </a:t>
            </a:r>
            <a:r>
              <a:rPr lang="en-IN" sz="2400" dirty="0"/>
              <a:t>Selects the unassigned variable with the fewest remaining valid options.</a:t>
            </a:r>
          </a:p>
          <a:p>
            <a:pPr marL="342900" lvl="0" indent="-342900" algn="just">
              <a:buFont typeface="Wingdings" panose="05000000000000000000" pitchFamily="2" charset="2"/>
              <a:buChar char="q"/>
            </a:pPr>
            <a:r>
              <a:rPr lang="en-IN" sz="2400" b="1" dirty="0"/>
              <a:t>Least Constraining Value (LCV): </a:t>
            </a:r>
            <a:r>
              <a:rPr lang="en-IN" sz="2400" dirty="0"/>
              <a:t>Prioritizes assignments that preserve more options for other unassigned classes.</a:t>
            </a:r>
          </a:p>
          <a:p>
            <a:pPr marL="342900" lvl="0" indent="-342900" algn="just">
              <a:buFont typeface="Wingdings" panose="05000000000000000000" pitchFamily="2" charset="2"/>
              <a:buChar char="q"/>
            </a:pPr>
            <a:r>
              <a:rPr lang="en-IN" sz="2400" b="1" dirty="0"/>
              <a:t>Forward Checking: </a:t>
            </a:r>
            <a:r>
              <a:rPr lang="en-IN" sz="2400" dirty="0"/>
              <a:t>Updates the remaining domains after an assignment and detects impossible scheduling situations early.</a:t>
            </a:r>
          </a:p>
        </p:txBody>
      </p:sp>
    </p:spTree>
    <p:extLst>
      <p:ext uri="{BB962C8B-B14F-4D97-AF65-F5344CB8AC3E}">
        <p14:creationId xmlns:p14="http://schemas.microsoft.com/office/powerpoint/2010/main" val="949586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533399"/>
          </a:xfrm>
        </p:spPr>
        <p:txBody>
          <a:bodyPr/>
          <a:lstStyle/>
          <a:p>
            <a:pPr algn="ctr"/>
            <a:r>
              <a:rPr lang="en-US" altLang="en-US" sz="3200" b="1" dirty="0">
                <a:solidFill>
                  <a:srgbClr val="FF0000"/>
                </a:solidFill>
              </a:rPr>
              <a:t>Module Implementation – Part 2</a:t>
            </a:r>
            <a:endParaRPr lang="en-IN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24</a:t>
            </a:fld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B98834-3298-A43E-18B1-038C42A122FB}"/>
              </a:ext>
            </a:extLst>
          </p:cNvPr>
          <p:cNvSpPr txBox="1"/>
          <p:nvPr/>
        </p:nvSpPr>
        <p:spPr>
          <a:xfrm>
            <a:off x="766232" y="1794296"/>
            <a:ext cx="10874383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IN" sz="2400" b="1" dirty="0"/>
              <a:t>5. Adaptive Timetable Rescheduling Module</a:t>
            </a:r>
          </a:p>
          <a:p>
            <a:pPr marL="342900" lvl="0" indent="-342900" algn="just">
              <a:buFont typeface="Wingdings" panose="05000000000000000000" pitchFamily="2" charset="2"/>
              <a:buChar char="q"/>
            </a:pPr>
            <a:r>
              <a:rPr lang="en-IN" sz="2400" dirty="0"/>
              <a:t>When an absence is reported, the system </a:t>
            </a:r>
            <a:r>
              <a:rPr lang="en-IN" sz="2400" b="1" dirty="0"/>
              <a:t>identifies the affected class assignments</a:t>
            </a:r>
            <a:r>
              <a:rPr lang="en-IN" sz="2400" dirty="0"/>
              <a:t> in the existing timetable.</a:t>
            </a:r>
          </a:p>
          <a:p>
            <a:pPr marL="342900" lvl="0" indent="-342900" algn="just">
              <a:buFont typeface="Wingdings" panose="05000000000000000000" pitchFamily="2" charset="2"/>
              <a:buChar char="q"/>
            </a:pPr>
            <a:r>
              <a:rPr lang="en-IN" sz="2400" dirty="0"/>
              <a:t>It first checks whether a qualified and available </a:t>
            </a:r>
            <a:r>
              <a:rPr lang="en-IN" sz="2400" b="1" dirty="0"/>
              <a:t>substitute faculty </a:t>
            </a:r>
            <a:r>
              <a:rPr lang="en-IN" sz="2400" dirty="0"/>
              <a:t>member can take the affected class.</a:t>
            </a:r>
          </a:p>
          <a:p>
            <a:pPr marL="342900" lvl="0" indent="-342900" algn="just">
              <a:buFont typeface="Wingdings" panose="05000000000000000000" pitchFamily="2" charset="2"/>
              <a:buChar char="q"/>
            </a:pPr>
            <a:r>
              <a:rPr lang="en-IN" sz="2400" dirty="0"/>
              <a:t>If a suitable substitute is unavailable, </a:t>
            </a:r>
            <a:r>
              <a:rPr lang="en-IN" sz="2400" b="1" dirty="0"/>
              <a:t>CSP-based rescheduling </a:t>
            </a:r>
            <a:r>
              <a:rPr lang="en-IN" sz="2400" dirty="0"/>
              <a:t>searches for an alternative day and period while checking the relevant constraints.</a:t>
            </a:r>
          </a:p>
          <a:p>
            <a:pPr marL="342900" lvl="0" indent="-342900" algn="just">
              <a:buFont typeface="Wingdings" panose="05000000000000000000" pitchFamily="2" charset="2"/>
              <a:buChar char="q"/>
            </a:pPr>
            <a:r>
              <a:rPr lang="en-IN" sz="2400" dirty="0"/>
              <a:t>The revised assignment is validated , saved to the database.</a:t>
            </a:r>
          </a:p>
          <a:p>
            <a:pPr marL="342900" lvl="0" indent="-342900" algn="just">
              <a:buFont typeface="Wingdings" panose="05000000000000000000" pitchFamily="2" charset="2"/>
              <a:buChar char="q"/>
            </a:pPr>
            <a:r>
              <a:rPr lang="en-IN" sz="2400" b="1" dirty="0"/>
              <a:t>Output</a:t>
            </a:r>
            <a:r>
              <a:rPr lang="en-IN" sz="2400" dirty="0"/>
              <a:t>: An updated timetable with the affected, rescheduled, and unchanged assignments identified.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D241FABC-9283-B7F1-8BA3-FE6BD28D8F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2800" y="6245225"/>
            <a:ext cx="2641600" cy="476250"/>
          </a:xfrm>
        </p:spPr>
        <p:txBody>
          <a:bodyPr/>
          <a:lstStyle/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05D6C6D6-4C88-D780-DDF5-B9672816D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Computer Science and Engineering (Cyber Security)</a:t>
            </a:r>
          </a:p>
        </p:txBody>
      </p:sp>
    </p:spTree>
    <p:extLst>
      <p:ext uri="{BB962C8B-B14F-4D97-AF65-F5344CB8AC3E}">
        <p14:creationId xmlns:p14="http://schemas.microsoft.com/office/powerpoint/2010/main" val="41681953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sz="3200" b="1" dirty="0">
                <a:solidFill>
                  <a:srgbClr val="FF0000"/>
                </a:solidFill>
              </a:rPr>
              <a:t>Preliminary Results and Discussion</a:t>
            </a:r>
            <a:endParaRPr lang="en-IN" sz="2800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D4E280A-CE06-19DB-B233-ADCE064002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2946164"/>
              </p:ext>
            </p:extLst>
          </p:nvPr>
        </p:nvGraphicFramePr>
        <p:xfrm>
          <a:off x="2053754" y="1793886"/>
          <a:ext cx="8004646" cy="41148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188222">
                  <a:extLst>
                    <a:ext uri="{9D8B030D-6E8A-4147-A177-3AD203B41FA5}">
                      <a16:colId xmlns:a16="http://schemas.microsoft.com/office/drawing/2014/main" val="3275089899"/>
                    </a:ext>
                  </a:extLst>
                </a:gridCol>
                <a:gridCol w="3816424">
                  <a:extLst>
                    <a:ext uri="{9D8B030D-6E8A-4147-A177-3AD203B41FA5}">
                      <a16:colId xmlns:a16="http://schemas.microsoft.com/office/drawing/2014/main" val="20234773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/>
                        <a:t>Parameter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Configuration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7705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/>
                        <a:t>Departments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0659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/>
                        <a:t>Sections per department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0158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Total sections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8126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/>
                        <a:t>Working days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Monday–Friday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4081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Periods per day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0231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Duration per period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50 minutes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884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Lunch break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11:20 AM–12:20 PM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1308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Laboratory duration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/>
                        <a:t>2 consecutive periods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0882287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25</a:t>
            </a:fld>
            <a:endParaRPr lang="en-IN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E4B7A776-0722-0302-11C0-350F2A96D6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2800" y="6245225"/>
            <a:ext cx="2641600" cy="476250"/>
          </a:xfrm>
        </p:spPr>
        <p:txBody>
          <a:bodyPr/>
          <a:lstStyle/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F954258-EA96-76E1-14FB-30724C189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Computer Science and Engineering (Cyber Security)</a:t>
            </a:r>
          </a:p>
        </p:txBody>
      </p:sp>
    </p:spTree>
    <p:extLst>
      <p:ext uri="{BB962C8B-B14F-4D97-AF65-F5344CB8AC3E}">
        <p14:creationId xmlns:p14="http://schemas.microsoft.com/office/powerpoint/2010/main" val="41096383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408A8-9FEC-955E-6E7C-F676A1351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3" y="232793"/>
            <a:ext cx="10668000" cy="1216025"/>
          </a:xfrm>
        </p:spPr>
        <p:txBody>
          <a:bodyPr/>
          <a:lstStyle/>
          <a:p>
            <a:pPr algn="ctr"/>
            <a:r>
              <a:rPr lang="en-US" altLang="en-US" sz="3200" b="1" dirty="0">
                <a:solidFill>
                  <a:srgbClr val="FF0000"/>
                </a:solidFill>
              </a:rPr>
              <a:t>Preliminary Results and Discussion</a:t>
            </a:r>
            <a:endParaRPr lang="en-IN" sz="3200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E0482F9D-62FE-8F4F-942C-818A67E4B8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9407518"/>
              </p:ext>
            </p:extLst>
          </p:nvPr>
        </p:nvGraphicFramePr>
        <p:xfrm>
          <a:off x="2567608" y="1700808"/>
          <a:ext cx="7056784" cy="34747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176464">
                  <a:extLst>
                    <a:ext uri="{9D8B030D-6E8A-4147-A177-3AD203B41FA5}">
                      <a16:colId xmlns:a16="http://schemas.microsoft.com/office/drawing/2014/main" val="3371548888"/>
                    </a:ext>
                  </a:extLst>
                </a:gridCol>
                <a:gridCol w="2880320">
                  <a:extLst>
                    <a:ext uri="{9D8B030D-6E8A-4147-A177-3AD203B41FA5}">
                      <a16:colId xmlns:a16="http://schemas.microsoft.com/office/drawing/2014/main" val="3449617491"/>
                    </a:ext>
                  </a:extLst>
                </a:gridCol>
              </a:tblGrid>
              <a:tr h="3754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/>
                        <a:t>Observed Result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4565383"/>
                  </a:ext>
                </a:extLst>
              </a:tr>
              <a:tr h="3754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Affected classes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806980"/>
                  </a:ext>
                </a:extLst>
              </a:tr>
              <a:tr h="3754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Rescheduled classes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4918475"/>
                  </a:ext>
                </a:extLst>
              </a:tr>
              <a:tr h="3754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Classes covered by substitute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385459"/>
                  </a:ext>
                </a:extLst>
              </a:tr>
              <a:tr h="3754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Unchanged assignments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365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5060571"/>
                  </a:ext>
                </a:extLst>
              </a:tr>
              <a:tr h="3754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Timetable stability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/>
                        <a:t>99.73%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2953147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20AD01-A596-849E-3B51-F2DDE5405F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2800" y="6173217"/>
            <a:ext cx="2641600" cy="476250"/>
          </a:xfrm>
        </p:spPr>
        <p:txBody>
          <a:bodyPr/>
          <a:lstStyle/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05922-781F-BB5F-D9A7-5F9D6DB4C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173217"/>
            <a:ext cx="3860800" cy="476250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Computer Science and Engineering (Cyber Security)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8B00DB-9446-52AA-FF89-7624E850F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173217"/>
            <a:ext cx="2641600" cy="476250"/>
          </a:xfrm>
        </p:spPr>
        <p:txBody>
          <a:bodyPr/>
          <a:lstStyle/>
          <a:p>
            <a:pPr>
              <a:defRPr/>
            </a:pPr>
            <a:fld id="{BDC2143B-610F-499C-A392-DFFBE135A7B2}" type="slidenum">
              <a:rPr lang="en-US" altLang="en-US" smtClean="0"/>
              <a:pPr>
                <a:defRPr/>
              </a:pPr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158413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FF1DD-BD0E-41C7-7712-1B51882C1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A7323-E46E-D9F4-724D-1C13AC5BF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3" y="232793"/>
            <a:ext cx="10668000" cy="1216025"/>
          </a:xfrm>
        </p:spPr>
        <p:txBody>
          <a:bodyPr/>
          <a:lstStyle/>
          <a:p>
            <a:pPr algn="ctr"/>
            <a:r>
              <a:rPr lang="en-US" altLang="en-US" sz="3200" b="1" dirty="0">
                <a:solidFill>
                  <a:srgbClr val="FF0000"/>
                </a:solidFill>
              </a:rPr>
              <a:t>Preliminary Results and Discussion</a:t>
            </a:r>
            <a:endParaRPr lang="en-IN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08E67E-13F8-7189-85A4-EC2939179F3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2800" y="6173217"/>
            <a:ext cx="2641600" cy="476250"/>
          </a:xfrm>
        </p:spPr>
        <p:txBody>
          <a:bodyPr/>
          <a:lstStyle/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203579-D6EE-3022-A0C6-BD0340992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173217"/>
            <a:ext cx="3860800" cy="476250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Computer Science and Engineering (Cyber Security)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55F2AC-18DE-B083-57ED-224ADCE4E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173217"/>
            <a:ext cx="2641600" cy="476250"/>
          </a:xfrm>
        </p:spPr>
        <p:txBody>
          <a:bodyPr/>
          <a:lstStyle/>
          <a:p>
            <a:pPr>
              <a:defRPr/>
            </a:pPr>
            <a:fld id="{BDC2143B-610F-499C-A392-DFFBE135A7B2}" type="slidenum">
              <a:rPr lang="en-US" altLang="en-US" smtClean="0"/>
              <a:pPr>
                <a:defRPr/>
              </a:pPr>
              <a:t>27</a:t>
            </a:fld>
            <a:endParaRPr lang="en-US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1EA0E8-C3D0-C155-4FEF-266CDCB7BF34}"/>
              </a:ext>
            </a:extLst>
          </p:cNvPr>
          <p:cNvSpPr txBox="1"/>
          <p:nvPr/>
        </p:nvSpPr>
        <p:spPr>
          <a:xfrm>
            <a:off x="812800" y="1723246"/>
            <a:ext cx="106680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IN" sz="2400" b="1" dirty="0"/>
              <a:t>Discussion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/>
              <a:t>The system successfully demonstrated timetable generation and faculty-absence handling.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/>
              <a:t>Adaptive rescheduling modified the affected assignment while preserving the remaining assignments in the observed test.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/>
              <a:t>CSP constraints help prevent conflicts during timetable generation and rescheduling.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/>
              <a:t>Further testing is required to evaluate execution time, search nodes, backtracking count, and performance across larger scheduling instances.</a:t>
            </a:r>
          </a:p>
        </p:txBody>
      </p:sp>
    </p:spTree>
    <p:extLst>
      <p:ext uri="{BB962C8B-B14F-4D97-AF65-F5344CB8AC3E}">
        <p14:creationId xmlns:p14="http://schemas.microsoft.com/office/powerpoint/2010/main" val="41242311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664CE-7311-4C5B-AA2E-45ABB90DD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FF0000"/>
                </a:solidFill>
              </a:rPr>
              <a:t>User Interface / Implementation Screenshots</a:t>
            </a:r>
            <a:endParaRPr lang="en-IN" sz="3200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3FEBBD1-A13E-A08F-F13F-C2836CDD3E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3228827" y="1772816"/>
            <a:ext cx="5734345" cy="28385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FBE2C3-AC88-4E92-99FF-8D9C75D34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4BBD9-F4E8-4A60-9A83-C40083E30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Department of Computer Science and Engineering (Cyber Security)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6318D-05CC-4803-9541-7064C44F7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C2143B-610F-499C-A392-DFFBE135A7B2}" type="slidenum">
              <a:rPr lang="en-US" altLang="en-US" smtClean="0"/>
              <a:pPr>
                <a:defRPr/>
              </a:pPr>
              <a:t>28</a:t>
            </a:fld>
            <a:endParaRPr lang="en-US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136F9A-3139-116F-70B3-F682AB3A3440}"/>
              </a:ext>
            </a:extLst>
          </p:cNvPr>
          <p:cNvSpPr txBox="1"/>
          <p:nvPr/>
        </p:nvSpPr>
        <p:spPr>
          <a:xfrm>
            <a:off x="1055439" y="4797152"/>
            <a:ext cx="103787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Figure 1 - Administrator Dashboard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72650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B9712-A6BD-EBFB-68FB-AE7F9E4BF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FF0000"/>
                </a:solidFill>
              </a:rPr>
              <a:t>User Interface / Implementation Screenshots</a:t>
            </a:r>
            <a:endParaRPr lang="en-IN" sz="3200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82519BB-1EC4-3718-35B2-85D7211355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3228827" y="1916832"/>
            <a:ext cx="5734345" cy="28449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B1ECBF-30D0-06C7-3479-871C2A6B4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C2143B-610F-499C-A392-DFFBE135A7B2}" type="slidenum">
              <a:rPr lang="en-US" altLang="en-US" smtClean="0"/>
              <a:pPr>
                <a:defRPr/>
              </a:pPr>
              <a:t>29</a:t>
            </a:fld>
            <a:endParaRPr lang="en-US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FAF88F-8479-5AD8-B88E-EEA72E305B48}"/>
              </a:ext>
            </a:extLst>
          </p:cNvPr>
          <p:cNvSpPr txBox="1"/>
          <p:nvPr/>
        </p:nvSpPr>
        <p:spPr>
          <a:xfrm>
            <a:off x="766233" y="4869160"/>
            <a:ext cx="1066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Figure 2 – Faculty Dashboard</a:t>
            </a:r>
            <a:endParaRPr lang="en-IN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59FCD4CA-9554-821B-9959-ADFC7B5A9D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2800" y="6245225"/>
            <a:ext cx="2641600" cy="476250"/>
          </a:xfrm>
        </p:spPr>
        <p:txBody>
          <a:bodyPr/>
          <a:lstStyle/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2E391A36-4A20-F228-875A-BCA2546C5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Computer Science and Engineering (Cyber Security)</a:t>
            </a:r>
          </a:p>
        </p:txBody>
      </p:sp>
    </p:spTree>
    <p:extLst>
      <p:ext uri="{BB962C8B-B14F-4D97-AF65-F5344CB8AC3E}">
        <p14:creationId xmlns:p14="http://schemas.microsoft.com/office/powerpoint/2010/main" val="6460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ACB48-A069-B276-AFB6-8BA37CDDF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FF0000"/>
                </a:solidFill>
              </a:rPr>
              <a:t>User Interface / Implementation Screenshots</a:t>
            </a:r>
            <a:endParaRPr lang="en-IN" sz="3200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5943668-654C-62C5-487D-650E77E059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28827" y="1844824"/>
            <a:ext cx="5734345" cy="2825895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4AC6E-33EE-B822-A7CF-B703D194A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C2143B-610F-499C-A392-DFFBE135A7B2}" type="slidenum">
              <a:rPr lang="en-US" altLang="en-US" smtClean="0"/>
              <a:pPr>
                <a:defRPr/>
              </a:pPr>
              <a:t>30</a:t>
            </a:fld>
            <a:endParaRPr lang="en-US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57BE4F-64C0-187F-4B14-7FD8D6BB2962}"/>
              </a:ext>
            </a:extLst>
          </p:cNvPr>
          <p:cNvSpPr txBox="1"/>
          <p:nvPr/>
        </p:nvSpPr>
        <p:spPr>
          <a:xfrm>
            <a:off x="812801" y="4797152"/>
            <a:ext cx="10621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Figure 3– Student Dashboard</a:t>
            </a:r>
            <a:endParaRPr lang="en-IN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3E639364-CA4B-23E3-11F1-9F66008562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2800" y="6245225"/>
            <a:ext cx="2641600" cy="476250"/>
          </a:xfrm>
        </p:spPr>
        <p:txBody>
          <a:bodyPr/>
          <a:lstStyle/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F6A562D-2271-9166-23F6-4C4B46A8D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Computer Science and Engineering (Cyber Security)</a:t>
            </a:r>
          </a:p>
        </p:txBody>
      </p:sp>
    </p:spTree>
    <p:extLst>
      <p:ext uri="{BB962C8B-B14F-4D97-AF65-F5344CB8AC3E}">
        <p14:creationId xmlns:p14="http://schemas.microsoft.com/office/powerpoint/2010/main" val="8583711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8DEED-F649-756D-8893-79B860BF0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FF0000"/>
                </a:solidFill>
              </a:rPr>
              <a:t>User Interface / Implementation Screenshots</a:t>
            </a:r>
            <a:endParaRPr lang="en-IN" sz="3200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D005158-FF5B-A5A4-218A-8AB9A23B39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3228827" y="1916832"/>
            <a:ext cx="5734345" cy="2813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383479-C9C2-E40E-3CE2-0D66608D2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C2143B-610F-499C-A392-DFFBE135A7B2}" type="slidenum">
              <a:rPr lang="en-US" altLang="en-US" smtClean="0"/>
              <a:pPr>
                <a:defRPr/>
              </a:pPr>
              <a:t>31</a:t>
            </a:fld>
            <a:endParaRPr lang="en-US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CFE2DF-83C1-4CF9-AED0-AA33197E609A}"/>
              </a:ext>
            </a:extLst>
          </p:cNvPr>
          <p:cNvSpPr txBox="1"/>
          <p:nvPr/>
        </p:nvSpPr>
        <p:spPr>
          <a:xfrm>
            <a:off x="812801" y="5126033"/>
            <a:ext cx="1066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Figure 4 - Faculty Absence Reporting Interface</a:t>
            </a:r>
            <a:endParaRPr lang="en-IN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2E624C0-602F-D74B-67BA-CDF4085ED1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2800" y="6245225"/>
            <a:ext cx="2641600" cy="476250"/>
          </a:xfrm>
        </p:spPr>
        <p:txBody>
          <a:bodyPr/>
          <a:lstStyle/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CDBFF06-E273-0F9F-2625-77701A7A7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Computer Science and Engineering (Cyber Security)</a:t>
            </a:r>
          </a:p>
        </p:txBody>
      </p:sp>
    </p:spTree>
    <p:extLst>
      <p:ext uri="{BB962C8B-B14F-4D97-AF65-F5344CB8AC3E}">
        <p14:creationId xmlns:p14="http://schemas.microsoft.com/office/powerpoint/2010/main" val="8090297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E8858-F511-0461-985C-DCFC57843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FF0000"/>
                </a:solidFill>
              </a:rPr>
              <a:t>User Interface / Implementation Screenshots</a:t>
            </a:r>
            <a:endParaRPr lang="en-IN" sz="3200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91DE15D-1663-4EF8-41D1-AE261DB7DC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3228827" y="1772816"/>
            <a:ext cx="5734345" cy="28385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1AD175-AAAA-80A1-AE55-9F31854D5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C2143B-610F-499C-A392-DFFBE135A7B2}" type="slidenum">
              <a:rPr lang="en-US" altLang="en-US" smtClean="0"/>
              <a:pPr>
                <a:defRPr/>
              </a:pPr>
              <a:t>32</a:t>
            </a:fld>
            <a:endParaRPr lang="en-US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41F208-EDC0-0023-9E5F-5B66AACBE231}"/>
              </a:ext>
            </a:extLst>
          </p:cNvPr>
          <p:cNvSpPr txBox="1"/>
          <p:nvPr/>
        </p:nvSpPr>
        <p:spPr>
          <a:xfrm>
            <a:off x="812801" y="4909456"/>
            <a:ext cx="10566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Figure 5 - Admin Adaptive Rescheduling Result</a:t>
            </a:r>
            <a:endParaRPr lang="en-IN" dirty="0"/>
          </a:p>
          <a:p>
            <a:pPr algn="ctr"/>
            <a:endParaRPr lang="en-IN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6C9763CE-AC33-00FC-8668-AFDD7AC80F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2800" y="6245225"/>
            <a:ext cx="2641600" cy="476250"/>
          </a:xfrm>
        </p:spPr>
        <p:txBody>
          <a:bodyPr/>
          <a:lstStyle/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D22C21C-F411-C395-28AE-1B2ED31D2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Computer Science and Engineering (Cyber Security)</a:t>
            </a:r>
          </a:p>
        </p:txBody>
      </p:sp>
    </p:spTree>
    <p:extLst>
      <p:ext uri="{BB962C8B-B14F-4D97-AF65-F5344CB8AC3E}">
        <p14:creationId xmlns:p14="http://schemas.microsoft.com/office/powerpoint/2010/main" val="11300274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C2096-7FDB-79A3-3523-983EAF438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FF0000"/>
                </a:solidFill>
              </a:rPr>
              <a:t>User Interface / Implementation Screenshots</a:t>
            </a:r>
            <a:endParaRPr lang="en-IN" sz="3200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BD117B1-7F99-9F78-2A22-00EC084029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812800" y="1916832"/>
            <a:ext cx="5283200" cy="2808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AAE336-22CA-1F72-5C05-CB6069331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C2143B-610F-499C-A392-DFFBE135A7B2}" type="slidenum">
              <a:rPr lang="en-US" altLang="en-US" smtClean="0"/>
              <a:pPr>
                <a:defRPr/>
              </a:pPr>
              <a:t>33</a:t>
            </a:fld>
            <a:endParaRPr lang="en-US" alt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08DD1DD-1757-05F1-ACBE-2B97D04464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1916833"/>
            <a:ext cx="5338233" cy="280831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E2D6611-F6CE-D747-312C-7605C5F9CF39}"/>
              </a:ext>
            </a:extLst>
          </p:cNvPr>
          <p:cNvSpPr txBox="1"/>
          <p:nvPr/>
        </p:nvSpPr>
        <p:spPr>
          <a:xfrm>
            <a:off x="812800" y="5013176"/>
            <a:ext cx="10566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Figure 6 &amp; 7 - Before and After Timetable</a:t>
            </a:r>
            <a:endParaRPr lang="en-IN" dirty="0"/>
          </a:p>
          <a:p>
            <a:pPr algn="ctr"/>
            <a:endParaRPr lang="en-IN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1BE34B78-54F7-F7C6-45AD-99B5637793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2800" y="6245225"/>
            <a:ext cx="2641600" cy="476250"/>
          </a:xfrm>
        </p:spPr>
        <p:txBody>
          <a:bodyPr/>
          <a:lstStyle/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7886690-940C-8F6E-C7F1-15BE8B8F9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Computer Science and Engineering (Cyber Security)</a:t>
            </a:r>
          </a:p>
        </p:txBody>
      </p:sp>
    </p:spTree>
    <p:extLst>
      <p:ext uri="{BB962C8B-B14F-4D97-AF65-F5344CB8AC3E}">
        <p14:creationId xmlns:p14="http://schemas.microsoft.com/office/powerpoint/2010/main" val="30870656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7A0B8-F615-EDB2-926F-D759B9C62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FF0000"/>
                </a:solidFill>
              </a:rPr>
              <a:t>User Interface / Implementation Screenshots</a:t>
            </a:r>
            <a:endParaRPr lang="en-IN" sz="3200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EF689C9-6F60-B123-5CA1-F67A793C21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43169" y="1758481"/>
            <a:ext cx="5105662" cy="3341038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8AD071-DCD7-7356-2E00-7B39FABE3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C2143B-610F-499C-A392-DFFBE135A7B2}" type="slidenum">
              <a:rPr lang="en-US" altLang="en-US" smtClean="0"/>
              <a:pPr>
                <a:defRPr/>
              </a:pPr>
              <a:t>34</a:t>
            </a:fld>
            <a:endParaRPr lang="en-US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CA9870-6EFB-1416-1CFD-EFE03069F7AE}"/>
              </a:ext>
            </a:extLst>
          </p:cNvPr>
          <p:cNvSpPr txBox="1"/>
          <p:nvPr/>
        </p:nvSpPr>
        <p:spPr>
          <a:xfrm>
            <a:off x="1458686" y="5475514"/>
            <a:ext cx="9461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Figure 8 – </a:t>
            </a:r>
            <a:r>
              <a:rPr lang="en-IN" b="1" dirty="0"/>
              <a:t>Comparison of execution time of various algorithms</a:t>
            </a:r>
            <a:endParaRPr lang="en-IN" dirty="0"/>
          </a:p>
          <a:p>
            <a:pPr algn="ctr"/>
            <a:endParaRPr lang="en-IN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E8B92DD4-7689-5446-925C-924B79F890C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2800" y="6245225"/>
            <a:ext cx="2641600" cy="476250"/>
          </a:xfrm>
        </p:spPr>
        <p:txBody>
          <a:bodyPr/>
          <a:lstStyle/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0D0DEBF-451F-B7D4-0619-BE6D22CA5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Computer Science and Engineering (Cyber Security)</a:t>
            </a:r>
          </a:p>
        </p:txBody>
      </p:sp>
    </p:spTree>
    <p:extLst>
      <p:ext uri="{BB962C8B-B14F-4D97-AF65-F5344CB8AC3E}">
        <p14:creationId xmlns:p14="http://schemas.microsoft.com/office/powerpoint/2010/main" val="34793091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63DD8-A14D-C733-4331-83092BFF8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FF0000"/>
                </a:solidFill>
              </a:rPr>
              <a:t>User Interface / Implementation Screenshots</a:t>
            </a:r>
            <a:endParaRPr lang="en-IN" sz="3200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5CF6012-8FE3-7119-2281-1272438836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65601" y="1700809"/>
            <a:ext cx="3586584" cy="3792024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BFD838-ADE1-86ED-E18F-D38A34B73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C2143B-610F-499C-A392-DFFBE135A7B2}" type="slidenum">
              <a:rPr lang="en-US" altLang="en-US" smtClean="0"/>
              <a:pPr>
                <a:defRPr/>
              </a:pPr>
              <a:t>35</a:t>
            </a:fld>
            <a:endParaRPr lang="en-US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A57E8E-36B4-E833-005B-BA2A01D771F4}"/>
              </a:ext>
            </a:extLst>
          </p:cNvPr>
          <p:cNvSpPr txBox="1"/>
          <p:nvPr/>
        </p:nvSpPr>
        <p:spPr>
          <a:xfrm>
            <a:off x="2999656" y="5608082"/>
            <a:ext cx="5472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Figure 9 - Comparison Statistics</a:t>
            </a:r>
            <a:endParaRPr lang="en-IN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C8FB137-B688-CB1A-5787-1BEBE02F22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2800" y="6245225"/>
            <a:ext cx="2641600" cy="476250"/>
          </a:xfrm>
        </p:spPr>
        <p:txBody>
          <a:bodyPr/>
          <a:lstStyle/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0C0D9D1-26FC-288C-724C-A7AB070E3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Computer Science and Engineering (Cyber Security)</a:t>
            </a:r>
          </a:p>
        </p:txBody>
      </p:sp>
    </p:spTree>
    <p:extLst>
      <p:ext uri="{BB962C8B-B14F-4D97-AF65-F5344CB8AC3E}">
        <p14:creationId xmlns:p14="http://schemas.microsoft.com/office/powerpoint/2010/main" val="25310712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531911"/>
          </a:xfrm>
        </p:spPr>
        <p:txBody>
          <a:bodyPr/>
          <a:lstStyle/>
          <a:p>
            <a:pPr algn="ctr"/>
            <a:r>
              <a:rPr lang="en-US" altLang="en-US" sz="3200" b="1" dirty="0">
                <a:solidFill>
                  <a:srgbClr val="FF0000"/>
                </a:solidFill>
              </a:rPr>
              <a:t>Challenges Faced and Solutions</a:t>
            </a:r>
            <a:endParaRPr lang="en-IN" sz="2800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4C8B9FB-705D-B90E-DDBA-A313C77A44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3061776"/>
              </p:ext>
            </p:extLst>
          </p:nvPr>
        </p:nvGraphicFramePr>
        <p:xfrm>
          <a:off x="191344" y="836712"/>
          <a:ext cx="11953328" cy="56692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658036">
                  <a:extLst>
                    <a:ext uri="{9D8B030D-6E8A-4147-A177-3AD203B41FA5}">
                      <a16:colId xmlns:a16="http://schemas.microsoft.com/office/drawing/2014/main" val="4139729548"/>
                    </a:ext>
                  </a:extLst>
                </a:gridCol>
                <a:gridCol w="6295292">
                  <a:extLst>
                    <a:ext uri="{9D8B030D-6E8A-4147-A177-3AD203B41FA5}">
                      <a16:colId xmlns:a16="http://schemas.microsoft.com/office/drawing/2014/main" val="35655114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Challenge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Solution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8242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Maintaining consecutive laboratory periods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Represented laboratories as two-period blocks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6565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Faculty absence disrupting the timetable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Implemented substitute checking and adaptive rescheduling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7029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Database locking during concurrent requests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Improved database connection handling and enabled appropriate SQLite configuration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5414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Inconsistent rescheduling status in the interface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Updated timetable display conditions to distinguish rescheduled assignments from substitutions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579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Reliable performance comparison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Developed a separate CSP benchmark and identified the need for a conflict-rich test case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2476474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36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1662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864D1-6FAA-F152-3AA5-8E551A427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sz="3200" b="1" dirty="0">
                <a:solidFill>
                  <a:srgbClr val="FF0000"/>
                </a:solidFill>
              </a:rPr>
              <a:t>Challenges Faced and Solutions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26AFB-0F88-B505-939B-30D0EB305B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b="1" dirty="0"/>
              <a:t>Remaining Work</a:t>
            </a:r>
          </a:p>
          <a:p>
            <a:pPr lvl="0"/>
            <a:r>
              <a:rPr lang="en-IN" sz="2400" dirty="0"/>
              <a:t>Complete and verify algorithm comparison experiments. </a:t>
            </a:r>
          </a:p>
          <a:p>
            <a:pPr lvl="0"/>
            <a:r>
              <a:rPr lang="en-IN" sz="2400" dirty="0"/>
              <a:t>Validate additional timetable and rescheduling scenarios. </a:t>
            </a:r>
          </a:p>
          <a:p>
            <a:pPr lvl="0"/>
            <a:r>
              <a:rPr lang="en-IN" sz="2400" dirty="0"/>
              <a:t>Review interface consistency. </a:t>
            </a:r>
          </a:p>
          <a:p>
            <a:pPr lvl="0"/>
            <a:r>
              <a:rPr lang="en-IN" sz="2400" dirty="0"/>
              <a:t>Complete documentation and final testing. </a:t>
            </a:r>
          </a:p>
          <a:p>
            <a:r>
              <a:rPr lang="en-IN" sz="2400" dirty="0"/>
              <a:t>Only retain the database-locking and interface issues if you want to discuss the actual development challenges you encountered.</a:t>
            </a:r>
          </a:p>
          <a:p>
            <a:endParaRPr lang="en-IN"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26909A-AD5F-F8D8-A83A-9CEC2891F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C2143B-610F-499C-A392-DFFBE135A7B2}" type="slidenum">
              <a:rPr lang="en-US" altLang="en-US" smtClean="0"/>
              <a:pPr>
                <a:defRPr/>
              </a:pPr>
              <a:t>37</a:t>
            </a:fld>
            <a:endParaRPr lang="en-US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6DFF7EE-7FA7-9A86-EA65-4026DF447B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2800" y="6245225"/>
            <a:ext cx="2641600" cy="476250"/>
          </a:xfrm>
        </p:spPr>
        <p:txBody>
          <a:bodyPr/>
          <a:lstStyle/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2876BF2-8C27-1C61-6232-39766EB24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Computer Science and Engineering (Cyber Security)</a:t>
            </a:r>
          </a:p>
        </p:txBody>
      </p:sp>
    </p:spTree>
    <p:extLst>
      <p:ext uri="{BB962C8B-B14F-4D97-AF65-F5344CB8AC3E}">
        <p14:creationId xmlns:p14="http://schemas.microsoft.com/office/powerpoint/2010/main" val="33573503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1035967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Work Plan Until Final Review</a:t>
            </a:r>
            <a:endParaRPr lang="en-IN" sz="3200" b="1" dirty="0">
              <a:solidFill>
                <a:srgbClr val="FF0000"/>
              </a:solidFill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31ED6F1-B6BE-A1A8-205B-DDF7FDF475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5028293"/>
              </p:ext>
            </p:extLst>
          </p:nvPr>
        </p:nvGraphicFramePr>
        <p:xfrm>
          <a:off x="755650" y="1412776"/>
          <a:ext cx="10668000" cy="519122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556000">
                  <a:extLst>
                    <a:ext uri="{9D8B030D-6E8A-4147-A177-3AD203B41FA5}">
                      <a16:colId xmlns:a16="http://schemas.microsoft.com/office/drawing/2014/main" val="1851387738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360132982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2588792884"/>
                    </a:ext>
                  </a:extLst>
                </a:gridCol>
              </a:tblGrid>
              <a:tr h="7106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Phase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Planned 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Expected Outcome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93735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Phase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Complete algorithm comparison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Verified performance measurements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1887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Phase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Test faculty, room, section, and laboratory constraints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Constraint-validation report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3906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Phase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Test multiple leave and rescheduling scenarios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Verified adaptive behaviour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9123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Phase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Review timetable stability and unaffected assignments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Stability evaluation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86884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Phase 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Fix remaining interface and database issues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Stable application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3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Phase 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Complete project documentation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Final report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7191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Phase 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Prepare demonstration and presentation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Final review readiness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4043407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38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01620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References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39</a:t>
            </a:fld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514873-D738-CCAD-90B0-30CA936518DF}"/>
              </a:ext>
            </a:extLst>
          </p:cNvPr>
          <p:cNvSpPr txBox="1"/>
          <p:nvPr/>
        </p:nvSpPr>
        <p:spPr>
          <a:xfrm>
            <a:off x="695400" y="1817518"/>
            <a:ext cx="1123324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dirty="0">
                <a:effectLst/>
                <a:latin typeface="+mn-lt"/>
                <a:ea typeface="Times New Roman" panose="02020603050405020304" pitchFamily="18" charset="0"/>
              </a:rPr>
              <a:t>[1] Zhang, L., &amp; Lau, S. K. (2005). Constructing university timetable using constraint satisfaction programming approach. Proceedings of the International Conference on Computational Intelligence for Modelling, Control and Automation, 2, 55–60. https://doi.org/10.1109/CIMCA.2005.1631445</a:t>
            </a:r>
            <a:endParaRPr lang="en-IN" sz="2400" dirty="0">
              <a:effectLst/>
              <a:latin typeface="+mn-lt"/>
              <a:ea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None/>
            </a:pPr>
            <a:r>
              <a:rPr lang="en-US" sz="2400" dirty="0">
                <a:effectLst/>
                <a:latin typeface="+mn-lt"/>
                <a:ea typeface="Times New Roman" panose="02020603050405020304" pitchFamily="18" charset="0"/>
              </a:rPr>
              <a:t> </a:t>
            </a:r>
            <a:endParaRPr lang="en-IN" sz="2400" dirty="0">
              <a:effectLst/>
              <a:latin typeface="+mn-lt"/>
              <a:ea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None/>
            </a:pPr>
            <a:r>
              <a:rPr lang="en-US" sz="2400" dirty="0">
                <a:effectLst/>
                <a:latin typeface="+mn-lt"/>
                <a:ea typeface="Times New Roman" panose="02020603050405020304" pitchFamily="18" charset="0"/>
              </a:rPr>
              <a:t>[2] Abdelraouf, I., </a:t>
            </a:r>
            <a:r>
              <a:rPr lang="en-US" sz="2400" dirty="0" err="1">
                <a:effectLst/>
                <a:latin typeface="+mn-lt"/>
                <a:ea typeface="Times New Roman" panose="02020603050405020304" pitchFamily="18" charset="0"/>
              </a:rPr>
              <a:t>Abdennadher</a:t>
            </a:r>
            <a:r>
              <a:rPr lang="en-US" sz="2400" dirty="0">
                <a:effectLst/>
                <a:latin typeface="+mn-lt"/>
                <a:ea typeface="Times New Roman" panose="02020603050405020304" pitchFamily="18" charset="0"/>
              </a:rPr>
              <a:t>, S., &amp; </a:t>
            </a:r>
            <a:r>
              <a:rPr lang="en-US" sz="2400" dirty="0" err="1">
                <a:effectLst/>
                <a:latin typeface="+mn-lt"/>
                <a:ea typeface="Times New Roman" panose="02020603050405020304" pitchFamily="18" charset="0"/>
              </a:rPr>
              <a:t>Gervet</a:t>
            </a:r>
            <a:r>
              <a:rPr lang="en-US" sz="2400" dirty="0">
                <a:effectLst/>
                <a:latin typeface="+mn-lt"/>
                <a:ea typeface="Times New Roman" panose="02020603050405020304" pitchFamily="18" charset="0"/>
              </a:rPr>
              <a:t>, C. (2011). A visual entity-relationship model for constraint-based university timetabling. </a:t>
            </a:r>
            <a:r>
              <a:rPr lang="en-US" sz="2400" dirty="0" err="1">
                <a:effectLst/>
                <a:latin typeface="+mn-lt"/>
                <a:ea typeface="Times New Roman" panose="02020603050405020304" pitchFamily="18" charset="0"/>
              </a:rPr>
              <a:t>arXiv</a:t>
            </a:r>
            <a:r>
              <a:rPr lang="en-US" sz="2400" dirty="0">
                <a:effectLst/>
                <a:latin typeface="+mn-lt"/>
                <a:ea typeface="Times New Roman" panose="02020603050405020304" pitchFamily="18" charset="0"/>
              </a:rPr>
              <a:t>. https://arxiv.org/abs/1109.6112</a:t>
            </a:r>
            <a:endParaRPr lang="en-IN" sz="2400" dirty="0">
              <a:effectLst/>
              <a:latin typeface="+mn-lt"/>
              <a:ea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None/>
            </a:pPr>
            <a:r>
              <a:rPr lang="en-US" sz="2400" dirty="0">
                <a:effectLst/>
                <a:latin typeface="+mn-lt"/>
                <a:ea typeface="Times New Roman" panose="02020603050405020304" pitchFamily="18" charset="0"/>
              </a:rPr>
              <a:t> </a:t>
            </a:r>
            <a:endParaRPr lang="en-IN" sz="2400" dirty="0">
              <a:effectLst/>
              <a:latin typeface="+mn-lt"/>
              <a:ea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None/>
            </a:pPr>
            <a:r>
              <a:rPr lang="en-US" sz="2400" dirty="0">
                <a:effectLst/>
                <a:latin typeface="+mn-lt"/>
                <a:ea typeface="Times New Roman" panose="02020603050405020304" pitchFamily="18" charset="0"/>
              </a:rPr>
              <a:t>[3] </a:t>
            </a:r>
            <a:r>
              <a:rPr lang="en-US" sz="2400" dirty="0" err="1">
                <a:effectLst/>
                <a:latin typeface="+mn-lt"/>
                <a:ea typeface="Times New Roman" panose="02020603050405020304" pitchFamily="18" charset="0"/>
              </a:rPr>
              <a:t>Ceschia</a:t>
            </a:r>
            <a:r>
              <a:rPr lang="en-US" sz="2400" dirty="0">
                <a:effectLst/>
                <a:latin typeface="+mn-lt"/>
                <a:ea typeface="Times New Roman" panose="02020603050405020304" pitchFamily="18" charset="0"/>
              </a:rPr>
              <a:t>, M., Di </a:t>
            </a:r>
            <a:r>
              <a:rPr lang="en-US" sz="2400" dirty="0" err="1">
                <a:effectLst/>
                <a:latin typeface="+mn-lt"/>
                <a:ea typeface="Times New Roman" panose="02020603050405020304" pitchFamily="18" charset="0"/>
              </a:rPr>
              <a:t>Gaspero</a:t>
            </a:r>
            <a:r>
              <a:rPr lang="en-US" sz="2400" dirty="0">
                <a:effectLst/>
                <a:latin typeface="+mn-lt"/>
                <a:ea typeface="Times New Roman" panose="02020603050405020304" pitchFamily="18" charset="0"/>
              </a:rPr>
              <a:t>, T., </a:t>
            </a:r>
            <a:r>
              <a:rPr lang="en-US" sz="2400" dirty="0" err="1">
                <a:effectLst/>
                <a:latin typeface="+mn-lt"/>
                <a:ea typeface="Times New Roman" panose="02020603050405020304" pitchFamily="18" charset="0"/>
              </a:rPr>
              <a:t>Schaerf</a:t>
            </a:r>
            <a:r>
              <a:rPr lang="en-US" sz="2400" dirty="0">
                <a:effectLst/>
                <a:latin typeface="+mn-lt"/>
                <a:ea typeface="Times New Roman" panose="02020603050405020304" pitchFamily="18" charset="0"/>
              </a:rPr>
              <a:t>, A., &amp; others. (2022). Educational timetabling: Problems, benchmarks and state-of-the-art results. Annals of Operations Research. </a:t>
            </a:r>
            <a:endParaRPr lang="en-IN" sz="2400" dirty="0">
              <a:effectLst/>
              <a:latin typeface="+mn-lt"/>
              <a:ea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None/>
            </a:pPr>
            <a:r>
              <a:rPr lang="en-US" sz="2400" dirty="0">
                <a:effectLst/>
                <a:latin typeface="+mn-lt"/>
                <a:ea typeface="Times New Roman" panose="02020603050405020304" pitchFamily="18" charset="0"/>
              </a:rPr>
              <a:t> </a:t>
            </a:r>
            <a:endParaRPr lang="en-IN" sz="2400" dirty="0">
              <a:effectLst/>
              <a:latin typeface="+mn-lt"/>
              <a:ea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None/>
            </a:pPr>
            <a:r>
              <a:rPr lang="en-US" sz="2400" dirty="0">
                <a:effectLst/>
                <a:latin typeface="+mn-lt"/>
                <a:ea typeface="Times New Roman" panose="02020603050405020304" pitchFamily="18" charset="0"/>
              </a:rPr>
              <a:t> </a:t>
            </a:r>
            <a:endParaRPr lang="en-IN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642272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866349-3FC0-1517-5D49-562997CCC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C2143B-610F-499C-A392-DFFBE135A7B2}" type="slidenum">
              <a:rPr lang="en-US" altLang="en-US" smtClean="0"/>
              <a:pPr>
                <a:defRPr/>
              </a:pPr>
              <a:t>40</a:t>
            </a:fld>
            <a:endParaRPr lang="en-US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2AE0EA-38D4-0030-1AB2-0F39F82A00A8}"/>
              </a:ext>
            </a:extLst>
          </p:cNvPr>
          <p:cNvSpPr txBox="1"/>
          <p:nvPr/>
        </p:nvSpPr>
        <p:spPr>
          <a:xfrm>
            <a:off x="648072" y="2028904"/>
            <a:ext cx="1084852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  <a:buNone/>
            </a:pPr>
            <a:r>
              <a:rPr lang="en-US" sz="2400" dirty="0">
                <a:effectLst/>
                <a:latin typeface="+mn-lt"/>
                <a:ea typeface="Times New Roman" panose="02020603050405020304" pitchFamily="18" charset="0"/>
              </a:rPr>
              <a:t>[4] Cheng, C., Kang, L., Leung, N., &amp; White, G. M. (2005). Investigations of a constraint logic programming approach to university timetabling. Lecture Notes in Computer Science.</a:t>
            </a:r>
            <a:endParaRPr lang="en-IN" sz="2400" dirty="0">
              <a:effectLst/>
              <a:latin typeface="+mn-lt"/>
              <a:ea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None/>
            </a:pPr>
            <a:r>
              <a:rPr lang="en-US" sz="2400" dirty="0">
                <a:effectLst/>
                <a:latin typeface="+mn-lt"/>
                <a:ea typeface="Times New Roman" panose="02020603050405020304" pitchFamily="18" charset="0"/>
              </a:rPr>
              <a:t> </a:t>
            </a:r>
            <a:endParaRPr lang="en-IN" sz="2400" dirty="0">
              <a:effectLst/>
              <a:latin typeface="+mn-lt"/>
              <a:ea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None/>
            </a:pPr>
            <a:r>
              <a:rPr lang="en-US" sz="2400" dirty="0">
                <a:effectLst/>
                <a:latin typeface="+mn-lt"/>
                <a:ea typeface="Times New Roman" panose="02020603050405020304" pitchFamily="18" charset="0"/>
              </a:rPr>
              <a:t>[5] Burke, E. K., Mareček, J., Parkes, A. J., &amp; </a:t>
            </a:r>
            <a:r>
              <a:rPr lang="en-US" sz="2400" dirty="0" err="1">
                <a:effectLst/>
                <a:latin typeface="+mn-lt"/>
                <a:ea typeface="Times New Roman" panose="02020603050405020304" pitchFamily="18" charset="0"/>
              </a:rPr>
              <a:t>Rudová</a:t>
            </a:r>
            <a:r>
              <a:rPr lang="en-US" sz="2400" dirty="0">
                <a:effectLst/>
                <a:latin typeface="+mn-lt"/>
                <a:ea typeface="Times New Roman" panose="02020603050405020304" pitchFamily="18" charset="0"/>
              </a:rPr>
              <a:t>, H. (2009). Decomposition, reformulation, and diving in university course timetabling. Operations Research Proceedings. https://arxiv.org/abs/0903.1095</a:t>
            </a:r>
            <a:endParaRPr lang="en-IN" sz="2400" dirty="0">
              <a:effectLst/>
              <a:latin typeface="+mn-lt"/>
              <a:ea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None/>
            </a:pPr>
            <a:r>
              <a:rPr lang="en-US" sz="2400" dirty="0">
                <a:effectLst/>
                <a:latin typeface="+mn-lt"/>
                <a:ea typeface="Times New Roman" panose="02020603050405020304" pitchFamily="18" charset="0"/>
              </a:rPr>
              <a:t> </a:t>
            </a:r>
            <a:endParaRPr lang="en-IN" sz="2400" dirty="0">
              <a:effectLst/>
              <a:latin typeface="+mn-lt"/>
              <a:ea typeface="Times New Roman" panose="02020603050405020304" pitchFamily="18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AAE867C-81AC-A558-AC51-93914A293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References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1CBD5EFA-FA7B-F837-3D70-BF98C128A48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2800" y="6245225"/>
            <a:ext cx="2641600" cy="476250"/>
          </a:xfrm>
        </p:spPr>
        <p:txBody>
          <a:bodyPr/>
          <a:lstStyle/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40A168FD-C73C-A83E-CDC8-FCE146C73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Computer Science and Engineering (Cyber Security)</a:t>
            </a:r>
          </a:p>
        </p:txBody>
      </p:sp>
    </p:spTree>
    <p:extLst>
      <p:ext uri="{BB962C8B-B14F-4D97-AF65-F5344CB8AC3E}">
        <p14:creationId xmlns:p14="http://schemas.microsoft.com/office/powerpoint/2010/main" val="15387438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C349C-5BE6-7AA1-4EE3-C4AA5A3BB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3168074"/>
            <a:ext cx="10668000" cy="1216025"/>
          </a:xfrm>
        </p:spPr>
        <p:txBody>
          <a:bodyPr anchor="ctr"/>
          <a:lstStyle/>
          <a:p>
            <a:pPr algn="ctr"/>
            <a:r>
              <a:rPr lang="en-IN" altLang="en-US" sz="4000" b="1" dirty="0">
                <a:solidFill>
                  <a:srgbClr val="FF0000"/>
                </a:solidFill>
              </a:rPr>
              <a:t>Thank You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44F5F3-B604-7034-3991-F0917DEC1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83B680-F650-469F-A231-392F163461F6}" type="slidenum">
              <a:rPr lang="en-US" altLang="en-US" smtClean="0"/>
              <a:pPr>
                <a:defRPr/>
              </a:pPr>
              <a:t>41</a:t>
            </a:fld>
            <a:endParaRPr lang="en-US" alt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FE8724DB-B15B-38FB-FE26-67237364897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2800" y="6245225"/>
            <a:ext cx="2641600" cy="476250"/>
          </a:xfrm>
        </p:spPr>
        <p:txBody>
          <a:bodyPr/>
          <a:lstStyle/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DAC68-69A5-9566-98AD-52E081C0C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Computer Science and Engineering (Cyber Security)</a:t>
            </a:r>
          </a:p>
        </p:txBody>
      </p:sp>
    </p:spTree>
    <p:extLst>
      <p:ext uri="{BB962C8B-B14F-4D97-AF65-F5344CB8AC3E}">
        <p14:creationId xmlns:p14="http://schemas.microsoft.com/office/powerpoint/2010/main" val="2273965067"/>
      </p:ext>
    </p:extLst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2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3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4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5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6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7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8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711</TotalTime>
  <Words>2702</Words>
  <Application>Microsoft Office PowerPoint</Application>
  <PresentationFormat>Widescreen</PresentationFormat>
  <Paragraphs>470</Paragraphs>
  <Slides>41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Aptos</vt:lpstr>
      <vt:lpstr>Arial</vt:lpstr>
      <vt:lpstr>Calibri</vt:lpstr>
      <vt:lpstr>Times New Roman</vt:lpstr>
      <vt:lpstr>Verdana</vt:lpstr>
      <vt:lpstr>Wingdings</vt:lpstr>
      <vt:lpstr>Profile</vt:lpstr>
      <vt:lpstr>PowerPoint Presentation</vt:lpstr>
      <vt:lpstr>Problem Statement and Motivation</vt:lpstr>
      <vt:lpstr>Problem Statement and Motivation</vt:lpstr>
      <vt:lpstr>Objectives</vt:lpstr>
      <vt:lpstr>Objectives</vt:lpstr>
      <vt:lpstr>Project Progress Since Review 1</vt:lpstr>
      <vt:lpstr>Project Progress Since Review 1</vt:lpstr>
      <vt:lpstr>Project Progress Since Review 1</vt:lpstr>
      <vt:lpstr>Literature Survey</vt:lpstr>
      <vt:lpstr>Literature Survey</vt:lpstr>
      <vt:lpstr> Research Gap and Project Response</vt:lpstr>
      <vt:lpstr>PowerPoint Presentation</vt:lpstr>
      <vt:lpstr>System Architecture / Proposed System</vt:lpstr>
      <vt:lpstr>System Architecture / Proposed System</vt:lpstr>
      <vt:lpstr>System Architecture / Proposed System</vt:lpstr>
      <vt:lpstr>DFD Diagram</vt:lpstr>
      <vt:lpstr>Methodology / Workflow Diagram</vt:lpstr>
      <vt:lpstr>Tools and Technologies</vt:lpstr>
      <vt:lpstr>List of Modules</vt:lpstr>
      <vt:lpstr>Module Implementation – Part 1</vt:lpstr>
      <vt:lpstr>Module Implementation – Part 1</vt:lpstr>
      <vt:lpstr>Module Implementation – Part 1</vt:lpstr>
      <vt:lpstr>Module Implementation – Part 2</vt:lpstr>
      <vt:lpstr>Module Implementation – Part 2</vt:lpstr>
      <vt:lpstr>Preliminary Results and Discussion</vt:lpstr>
      <vt:lpstr>Preliminary Results and Discussion</vt:lpstr>
      <vt:lpstr>Preliminary Results and Discussion</vt:lpstr>
      <vt:lpstr>User Interface / Implementation Screenshots</vt:lpstr>
      <vt:lpstr>User Interface / Implementation Screenshots</vt:lpstr>
      <vt:lpstr>User Interface / Implementation Screenshots</vt:lpstr>
      <vt:lpstr>User Interface / Implementation Screenshots</vt:lpstr>
      <vt:lpstr>User Interface / Implementation Screenshots</vt:lpstr>
      <vt:lpstr>User Interface / Implementation Screenshots</vt:lpstr>
      <vt:lpstr>User Interface / Implementation Screenshots</vt:lpstr>
      <vt:lpstr>User Interface / Implementation Screenshots</vt:lpstr>
      <vt:lpstr>Challenges Faced and Solutions</vt:lpstr>
      <vt:lpstr>Challenges Faced and Solutions</vt:lpstr>
      <vt:lpstr>Work Plan Until Final Review</vt:lpstr>
      <vt:lpstr>References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Ponsurabhi Ponsurabhi</cp:lastModifiedBy>
  <cp:revision>27</cp:revision>
  <dcterms:modified xsi:type="dcterms:W3CDTF">2026-10-14T20:11:45Z</dcterms:modified>
</cp:coreProperties>
</file>