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notesSlides/notesSlide1.xml" ContentType="application/vnd.openxmlformats-officedocument.presentationml.notesSl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2"/>
  </p:notesMasterIdLst>
  <p:sldIdLst>
    <p:sldId id="256" r:id="rId2"/>
    <p:sldId id="257" r:id="rId3"/>
    <p:sldId id="276" r:id="rId4"/>
    <p:sldId id="258" r:id="rId5"/>
    <p:sldId id="277" r:id="rId6"/>
    <p:sldId id="302" r:id="rId7"/>
    <p:sldId id="303" r:id="rId8"/>
    <p:sldId id="304" r:id="rId9"/>
    <p:sldId id="271" r:id="rId10"/>
    <p:sldId id="274" r:id="rId11"/>
    <p:sldId id="272" r:id="rId12"/>
    <p:sldId id="280" r:id="rId13"/>
    <p:sldId id="273" r:id="rId14"/>
    <p:sldId id="281" r:id="rId15"/>
    <p:sldId id="282" r:id="rId16"/>
    <p:sldId id="260" r:id="rId17"/>
    <p:sldId id="268" r:id="rId18"/>
    <p:sldId id="283" r:id="rId19"/>
    <p:sldId id="261" r:id="rId20"/>
    <p:sldId id="262" r:id="rId21"/>
    <p:sldId id="310" r:id="rId22"/>
    <p:sldId id="311" r:id="rId23"/>
    <p:sldId id="312" r:id="rId24"/>
    <p:sldId id="313" r:id="rId25"/>
    <p:sldId id="263" r:id="rId26"/>
    <p:sldId id="290" r:id="rId27"/>
    <p:sldId id="291" r:id="rId28"/>
    <p:sldId id="270" r:id="rId29"/>
    <p:sldId id="295" r:id="rId30"/>
    <p:sldId id="296" r:id="rId31"/>
    <p:sldId id="297" r:id="rId32"/>
    <p:sldId id="298" r:id="rId33"/>
    <p:sldId id="299" r:id="rId34"/>
    <p:sldId id="300" r:id="rId35"/>
    <p:sldId id="301" r:id="rId36"/>
    <p:sldId id="306" r:id="rId37"/>
    <p:sldId id="307" r:id="rId38"/>
    <p:sldId id="266" r:id="rId39"/>
    <p:sldId id="294" r:id="rId40"/>
    <p:sldId id="267" r:id="rId41"/>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F679A7-86D4-4DF5-AB4A-1758B77C832E}">
          <p14:sldIdLst>
            <p14:sldId id="256"/>
            <p14:sldId id="257"/>
            <p14:sldId id="276"/>
            <p14:sldId id="258"/>
            <p14:sldId id="277"/>
            <p14:sldId id="302"/>
            <p14:sldId id="303"/>
            <p14:sldId id="304"/>
            <p14:sldId id="271"/>
            <p14:sldId id="274"/>
            <p14:sldId id="272"/>
          </p14:sldIdLst>
        </p14:section>
        <p14:section name="Untitled Section" id="{988BE7A7-AABC-42BD-A833-0C6FACC565FD}">
          <p14:sldIdLst>
            <p14:sldId id="280"/>
            <p14:sldId id="273"/>
            <p14:sldId id="281"/>
            <p14:sldId id="282"/>
            <p14:sldId id="260"/>
            <p14:sldId id="268"/>
            <p14:sldId id="283"/>
            <p14:sldId id="261"/>
            <p14:sldId id="262"/>
            <p14:sldId id="310"/>
            <p14:sldId id="311"/>
            <p14:sldId id="312"/>
            <p14:sldId id="313"/>
            <p14:sldId id="263"/>
            <p14:sldId id="290"/>
            <p14:sldId id="291"/>
            <p14:sldId id="270"/>
            <p14:sldId id="295"/>
            <p14:sldId id="296"/>
            <p14:sldId id="297"/>
            <p14:sldId id="298"/>
            <p14:sldId id="299"/>
            <p14:sldId id="300"/>
            <p14:sldId id="301"/>
            <p14:sldId id="306"/>
            <p14:sldId id="307"/>
            <p14:sldId id="266"/>
            <p14:sldId id="294"/>
            <p14:sldId id="26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1C5D9F-5FDD-4E04-AD07-37773298FBF3}" type="slidenum">
              <a:rPr lang="en-IN" smtClean="0"/>
              <a:t>5</a:t>
            </a:fld>
            <a:endParaRPr lang="en-IN"/>
          </a:p>
        </p:txBody>
      </p:sp>
    </p:spTree>
    <p:extLst>
      <p:ext uri="{BB962C8B-B14F-4D97-AF65-F5344CB8AC3E}">
        <p14:creationId xmlns:p14="http://schemas.microsoft.com/office/powerpoint/2010/main" val="4259239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1C5D9F-5FDD-4E04-AD07-37773298FBF3}" type="slidenum">
              <a:rPr lang="en-IN" smtClean="0"/>
              <a:t>9</a:t>
            </a:fld>
            <a:endParaRPr lang="en-IN"/>
          </a:p>
        </p:txBody>
      </p:sp>
    </p:spTree>
    <p:extLst>
      <p:ext uri="{BB962C8B-B14F-4D97-AF65-F5344CB8AC3E}">
        <p14:creationId xmlns:p14="http://schemas.microsoft.com/office/powerpoint/2010/main" val="594154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A1C5D9F-5FDD-4E04-AD07-37773298FBF3}" type="slidenum">
              <a:rPr lang="en-IN" smtClean="0"/>
              <a:t>14</a:t>
            </a:fld>
            <a:endParaRPr lang="en-IN"/>
          </a:p>
        </p:txBody>
      </p:sp>
    </p:spTree>
    <p:extLst>
      <p:ext uri="{BB962C8B-B14F-4D97-AF65-F5344CB8AC3E}">
        <p14:creationId xmlns:p14="http://schemas.microsoft.com/office/powerpoint/2010/main" val="1700906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Second Review</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Second Review</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789712" y="2852936"/>
            <a:ext cx="10515600" cy="102553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600" b="1" dirty="0">
                <a:solidFill>
                  <a:srgbClr val="7030A0"/>
                </a:solidFill>
              </a:rPr>
              <a:t>Intelligent University Timetable Generator</a:t>
            </a:r>
            <a:endParaRPr lang="en-IN" sz="3600" b="1" dirty="0">
              <a:solidFill>
                <a:srgbClr val="7030A0"/>
              </a:solidFill>
              <a:latin typeface="Verdana" panose="020B0604030504040204" pitchFamily="34" charset="0"/>
              <a:ea typeface="+mn-ea"/>
              <a:cs typeface="+mn-cs"/>
            </a:endParaRPr>
          </a:p>
        </p:txBody>
      </p:sp>
      <p:sp>
        <p:nvSpPr>
          <p:cNvPr id="10" name="TextBox 1">
            <a:extLst>
              <a:ext uri="{FF2B5EF4-FFF2-40B4-BE49-F238E27FC236}">
                <a16:creationId xmlns:a16="http://schemas.microsoft.com/office/drawing/2014/main" id="{2D19DAE3-8F95-230C-D485-225341D07DA1}"/>
              </a:ext>
            </a:extLst>
          </p:cNvPr>
          <p:cNvSpPr txBox="1">
            <a:spLocks noChangeArrowheads="1"/>
          </p:cNvSpPr>
          <p:nvPr/>
        </p:nvSpPr>
        <p:spPr bwMode="auto">
          <a:xfrm>
            <a:off x="962888" y="5183902"/>
            <a:ext cx="44130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a:solidFill>
                  <a:srgbClr val="FF0000"/>
                </a:solidFill>
              </a:rPr>
              <a:t>Dr. S. Bhuvana</a:t>
            </a:r>
          </a:p>
          <a:p>
            <a:pPr>
              <a:spcBef>
                <a:spcPct val="0"/>
              </a:spcBef>
              <a:buClrTx/>
              <a:buFontTx/>
              <a:buNone/>
            </a:pPr>
            <a:r>
              <a:rPr lang="en-IN" altLang="en-US" sz="2400" b="1" dirty="0">
                <a:solidFill>
                  <a:srgbClr val="FF0000"/>
                </a:solidFill>
              </a:rPr>
              <a:t>Assistant Professor[SG]</a:t>
            </a: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6312024" y="5183902"/>
            <a:ext cx="49932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err="1">
                <a:solidFill>
                  <a:srgbClr val="FF0000"/>
                </a:solidFill>
              </a:rPr>
              <a:t>Ponsurabhi.V</a:t>
            </a:r>
            <a:r>
              <a:rPr lang="en-IN" altLang="en-US" sz="2400" b="1" dirty="0">
                <a:solidFill>
                  <a:srgbClr val="FF0000"/>
                </a:solidFill>
              </a:rPr>
              <a:t>  241901077</a:t>
            </a:r>
          </a:p>
          <a:p>
            <a:pPr>
              <a:spcBef>
                <a:spcPct val="0"/>
              </a:spcBef>
              <a:buClrTx/>
              <a:buFontTx/>
              <a:buNone/>
            </a:pPr>
            <a:r>
              <a:rPr lang="en-IN" altLang="en-US" sz="2400" b="1" dirty="0" err="1">
                <a:solidFill>
                  <a:srgbClr val="FF0000"/>
                </a:solidFill>
              </a:rPr>
              <a:t>Swarnamala.V</a:t>
            </a:r>
            <a:r>
              <a:rPr lang="en-IN" altLang="en-US" sz="2400" b="1" dirty="0">
                <a:solidFill>
                  <a:srgbClr val="FF0000"/>
                </a:solidFill>
              </a:rPr>
              <a:t> 241901116</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54333" y="980728"/>
            <a:ext cx="10515600" cy="722457"/>
          </a:xfrm>
          <a:prstGeom prst="rect">
            <a:avLst/>
          </a:prstGeom>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 Computer Science and Engineering</a:t>
            </a:r>
          </a:p>
          <a:p>
            <a:r>
              <a:rPr lang="en-IN" sz="2800" b="1" dirty="0">
                <a:solidFill>
                  <a:srgbClr val="002060"/>
                </a:solidFill>
                <a:latin typeface="Verdana" panose="020B0604030504040204" pitchFamily="34" charset="0"/>
                <a:ea typeface="+mn-ea"/>
                <a:cs typeface="+mn-cs"/>
              </a:rPr>
              <a:t>(Cyber Security)</a:t>
            </a:r>
          </a:p>
          <a:p>
            <a:endParaRPr lang="en-IN" sz="2800" b="1" dirty="0">
              <a:solidFill>
                <a:srgbClr val="002060"/>
              </a:solidFill>
              <a:latin typeface="Verdana" panose="020B0604030504040204" pitchFamily="34" charset="0"/>
              <a:ea typeface="+mn-ea"/>
              <a:cs typeface="+mn-cs"/>
            </a:endParaRPr>
          </a:p>
        </p:txBody>
      </p:sp>
      <p:pic>
        <p:nvPicPr>
          <p:cNvPr id="12" name="Picture 11" descr="C:\Users\REC\Downloads\REC_Logo_Color_PNG_RGB.png"/>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933065" cy="980728"/>
          </a:xfrm>
          <a:prstGeom prst="rect">
            <a:avLst/>
          </a:prstGeom>
          <a:noFill/>
          <a:ln>
            <a:noFill/>
          </a:ln>
        </p:spPr>
      </p:pic>
      <p:sp>
        <p:nvSpPr>
          <p:cNvPr id="2" name="Rectangle 1"/>
          <p:cNvSpPr/>
          <p:nvPr/>
        </p:nvSpPr>
        <p:spPr>
          <a:xfrm>
            <a:off x="1631504" y="1412776"/>
            <a:ext cx="10112218" cy="461665"/>
          </a:xfrm>
          <a:prstGeom prst="rect">
            <a:avLst/>
          </a:prstGeom>
        </p:spPr>
        <p:txBody>
          <a:bodyPr wrap="square">
            <a:spAutoFit/>
          </a:bodyPr>
          <a:lstStyle/>
          <a:p>
            <a:r>
              <a:rPr lang="en-IN" sz="2400" b="1" dirty="0">
                <a:solidFill>
                  <a:srgbClr val="C00000"/>
                </a:solidFill>
                <a:latin typeface="Verdana" panose="020B0604030504040204" pitchFamily="34" charset="0"/>
              </a:rPr>
              <a:t>CS23533– Foundations of Artificial Intelligence</a:t>
            </a:r>
          </a:p>
        </p:txBody>
      </p:sp>
      <p:sp>
        <p:nvSpPr>
          <p:cNvPr id="3" name="Rectangle 2"/>
          <p:cNvSpPr/>
          <p:nvPr/>
        </p:nvSpPr>
        <p:spPr>
          <a:xfrm>
            <a:off x="4873101" y="1916832"/>
            <a:ext cx="1603324" cy="369332"/>
          </a:xfrm>
          <a:prstGeom prst="rect">
            <a:avLst/>
          </a:prstGeom>
        </p:spPr>
        <p:txBody>
          <a:bodyPr wrap="none">
            <a:spAutoFit/>
          </a:bodyPr>
          <a:lstStyle/>
          <a:p>
            <a:r>
              <a:rPr lang="en-IN" b="1" dirty="0">
                <a:solidFill>
                  <a:srgbClr val="002060"/>
                </a:solidFill>
                <a:latin typeface="Verdana" panose="020B0604030504040204" pitchFamily="34" charset="0"/>
              </a:rPr>
              <a:t>2026-2027</a:t>
            </a:r>
            <a:endParaRPr lang="en-IN" dirty="0"/>
          </a:p>
        </p:txBody>
      </p:sp>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rPr>
              <a:t>Problem Statement and Motivation</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0" indent="0">
              <a:buNone/>
            </a:pPr>
            <a:r>
              <a:rPr lang="en-IN" sz="2400" b="1" dirty="0"/>
              <a:t>Problem Statement</a:t>
            </a:r>
          </a:p>
          <a:p>
            <a:pPr lvl="0"/>
            <a:r>
              <a:rPr lang="en-IN" sz="2400" dirty="0"/>
              <a:t>University timetable generation involves assigning subjects, faculty members, classrooms, laboratories, and periods without conflicts. </a:t>
            </a:r>
          </a:p>
          <a:p>
            <a:pPr lvl="0"/>
            <a:r>
              <a:rPr lang="en-IN" sz="2400" dirty="0"/>
              <a:t>Manual scheduling is time-consuming and prone to errors. </a:t>
            </a:r>
          </a:p>
          <a:p>
            <a:pPr lvl="0"/>
            <a:r>
              <a:rPr lang="en-IN" sz="2400" dirty="0"/>
              <a:t>Faculty unavailability can disrupt an existing timetable and require several changes. </a:t>
            </a:r>
          </a:p>
          <a:p>
            <a:pPr lvl="0"/>
            <a:r>
              <a:rPr lang="en-IN" sz="2400" dirty="0"/>
              <a:t>Conventional timetable generation may require regenerating the entire timetable even when only a few classes are affected. </a:t>
            </a: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2</a:t>
            </a:fld>
            <a:endParaRPr lang="en-IN"/>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04277-AE90-C5E3-6C1C-3A8708739A30}"/>
              </a:ext>
            </a:extLst>
          </p:cNvPr>
          <p:cNvSpPr>
            <a:spLocks noGrp="1"/>
          </p:cNvSpPr>
          <p:nvPr>
            <p:ph type="title"/>
          </p:nvPr>
        </p:nvSpPr>
        <p:spPr/>
        <p:txBody>
          <a:bodyPr/>
          <a:lstStyle/>
          <a:p>
            <a:pPr algn="ctr"/>
            <a:r>
              <a:rPr lang="en-IN" altLang="en-US" sz="3200" b="1" dirty="0">
                <a:solidFill>
                  <a:srgbClr val="FF0000"/>
                </a:solidFill>
              </a:rPr>
              <a:t>Problem Statement and Motivation</a:t>
            </a:r>
            <a:endParaRPr lang="en-IN" sz="3200" dirty="0"/>
          </a:p>
        </p:txBody>
      </p:sp>
      <p:sp>
        <p:nvSpPr>
          <p:cNvPr id="3" name="Content Placeholder 2">
            <a:extLst>
              <a:ext uri="{FF2B5EF4-FFF2-40B4-BE49-F238E27FC236}">
                <a16:creationId xmlns:a16="http://schemas.microsoft.com/office/drawing/2014/main" id="{26780693-E828-9AC3-0FE2-55E425168AF9}"/>
              </a:ext>
            </a:extLst>
          </p:cNvPr>
          <p:cNvSpPr>
            <a:spLocks noGrp="1"/>
          </p:cNvSpPr>
          <p:nvPr>
            <p:ph idx="1"/>
          </p:nvPr>
        </p:nvSpPr>
        <p:spPr>
          <a:xfrm>
            <a:off x="755651" y="1628800"/>
            <a:ext cx="10668000" cy="4267200"/>
          </a:xfrm>
        </p:spPr>
        <p:txBody>
          <a:bodyPr/>
          <a:lstStyle/>
          <a:p>
            <a:pPr marL="0" indent="0">
              <a:buNone/>
            </a:pPr>
            <a:r>
              <a:rPr lang="en-IN" sz="2400" b="1" dirty="0"/>
              <a:t>Motivation</a:t>
            </a:r>
          </a:p>
          <a:p>
            <a:pPr lvl="0"/>
            <a:r>
              <a:rPr lang="en-IN" sz="2400" dirty="0"/>
              <a:t>Automate timetable generation using classical Artificial Intelligence techniques. </a:t>
            </a:r>
          </a:p>
          <a:p>
            <a:pPr lvl="0"/>
            <a:r>
              <a:rPr lang="en-IN" sz="2400" dirty="0"/>
              <a:t>Reduce faculty, classroom, and section conflicts. </a:t>
            </a:r>
          </a:p>
          <a:p>
            <a:pPr lvl="0"/>
            <a:r>
              <a:rPr lang="en-IN" sz="2400" dirty="0"/>
              <a:t>Adapt to faculty leave while preserving unaffected timetable assignments. </a:t>
            </a:r>
          </a:p>
          <a:p>
            <a:pPr lvl="0"/>
            <a:r>
              <a:rPr lang="en-IN" sz="2400" dirty="0"/>
              <a:t>Improve scheduling efficiency, consistency, and maintainability. </a:t>
            </a:r>
          </a:p>
          <a:p>
            <a:pPr marL="0" indent="0">
              <a:buNone/>
            </a:pPr>
            <a:r>
              <a:rPr lang="en-IN" sz="2400" b="1" dirty="0"/>
              <a:t>Problem Addressed</a:t>
            </a:r>
          </a:p>
          <a:p>
            <a:pPr marL="0" indent="0">
              <a:buNone/>
            </a:pPr>
            <a:r>
              <a:rPr lang="en-IN" sz="2400" b="1" dirty="0"/>
              <a:t>How can a university timetable be generated automatically and adapted to changes using CSP while minimizing unnecessary changes to the existing schedule?</a:t>
            </a:r>
            <a:endParaRPr lang="en-IN" sz="2400" dirty="0"/>
          </a:p>
          <a:p>
            <a:endParaRPr lang="en-IN" sz="2400" dirty="0"/>
          </a:p>
        </p:txBody>
      </p:sp>
      <p:sp>
        <p:nvSpPr>
          <p:cNvPr id="6" name="Slide Number Placeholder 5">
            <a:extLst>
              <a:ext uri="{FF2B5EF4-FFF2-40B4-BE49-F238E27FC236}">
                <a16:creationId xmlns:a16="http://schemas.microsoft.com/office/drawing/2014/main" id="{1670CE11-1C65-229C-8726-8FB897EEE7D4}"/>
              </a:ext>
            </a:extLst>
          </p:cNvPr>
          <p:cNvSpPr>
            <a:spLocks noGrp="1"/>
          </p:cNvSpPr>
          <p:nvPr>
            <p:ph type="sldNum" sz="quarter" idx="12"/>
          </p:nvPr>
        </p:nvSpPr>
        <p:spPr/>
        <p:txBody>
          <a:bodyPr/>
          <a:lstStyle/>
          <a:p>
            <a:pPr>
              <a:defRPr/>
            </a:pPr>
            <a:fld id="{BDC2143B-610F-499C-A392-DFFBE135A7B2}" type="slidenum">
              <a:rPr lang="en-US" altLang="en-US" smtClean="0"/>
              <a:pPr>
                <a:defRPr/>
              </a:pPr>
              <a:t>3</a:t>
            </a:fld>
            <a:endParaRPr lang="en-US" altLang="en-US" dirty="0"/>
          </a:p>
        </p:txBody>
      </p:sp>
    </p:spTree>
    <p:extLst>
      <p:ext uri="{BB962C8B-B14F-4D97-AF65-F5344CB8AC3E}">
        <p14:creationId xmlns:p14="http://schemas.microsoft.com/office/powerpoint/2010/main" val="248365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rPr>
              <a:t>Objectives</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0" indent="0">
              <a:buNone/>
            </a:pPr>
            <a:r>
              <a:rPr lang="en-IN" sz="2400" b="1" dirty="0"/>
              <a:t>Primary Objectives</a:t>
            </a:r>
          </a:p>
          <a:p>
            <a:pPr lvl="0"/>
            <a:r>
              <a:rPr lang="en-IN" sz="2400" dirty="0"/>
              <a:t>Develop an automated university timetable generator using Constraint Satisfaction Problems. </a:t>
            </a:r>
          </a:p>
          <a:p>
            <a:pPr lvl="0"/>
            <a:r>
              <a:rPr lang="en-IN" sz="2400" dirty="0"/>
              <a:t>Model class sessions, time slots, faculty, sections, rooms, and laboratories as CSP variables and constraints. </a:t>
            </a:r>
          </a:p>
          <a:p>
            <a:pPr lvl="0"/>
            <a:r>
              <a:rPr lang="en-IN" sz="2400" dirty="0"/>
              <a:t>Implement Backtracking Search to find valid timetable assignments. </a:t>
            </a:r>
          </a:p>
          <a:p>
            <a:pPr lvl="0"/>
            <a:r>
              <a:rPr lang="en-IN" sz="2400" dirty="0"/>
              <a:t>Apply Minimum Remaining Values (MRV), Least Constraining Value (LCV), and Forward Checking to improve search efficiency. </a:t>
            </a:r>
          </a:p>
          <a:p>
            <a:pPr lvl="0"/>
            <a:r>
              <a:rPr lang="en-IN" sz="2400" dirty="0"/>
              <a:t>Develop an adaptive rescheduling mechanism for faculty leave. </a:t>
            </a:r>
          </a:p>
          <a:p>
            <a:pPr lvl="0"/>
            <a:r>
              <a:rPr lang="en-IN" sz="2400" dirty="0"/>
              <a:t>Preserve unaffected timetable assignments whenever possible. </a:t>
            </a:r>
          </a:p>
          <a:p>
            <a:pPr marL="0" indent="0">
              <a:buNone/>
            </a:pPr>
            <a:endParaRPr sz="24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4</a:t>
            </a:fld>
            <a:endParaRPr lang="en-IN"/>
          </a:p>
        </p:txBody>
      </p:sp>
    </p:spTree>
    <p:extLst>
      <p:ext uri="{BB962C8B-B14F-4D97-AF65-F5344CB8AC3E}">
        <p14:creationId xmlns:p14="http://schemas.microsoft.com/office/powerpoint/2010/main" val="333931360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F161-F4FE-7D33-795E-AB1E04504F91}"/>
              </a:ext>
            </a:extLst>
          </p:cNvPr>
          <p:cNvSpPr>
            <a:spLocks noGrp="1"/>
          </p:cNvSpPr>
          <p:nvPr>
            <p:ph type="title"/>
          </p:nvPr>
        </p:nvSpPr>
        <p:spPr>
          <a:xfrm>
            <a:off x="766233" y="304801"/>
            <a:ext cx="10668000" cy="819943"/>
          </a:xfrm>
        </p:spPr>
        <p:txBody>
          <a:bodyPr/>
          <a:lstStyle/>
          <a:p>
            <a:pPr algn="ctr"/>
            <a:r>
              <a:rPr lang="en-IN" altLang="en-US" sz="3200" b="1" dirty="0">
                <a:solidFill>
                  <a:srgbClr val="FF0000"/>
                </a:solidFill>
              </a:rPr>
              <a:t>Objectives</a:t>
            </a:r>
            <a:endParaRPr lang="en-IN" sz="3200" dirty="0"/>
          </a:p>
        </p:txBody>
      </p:sp>
      <p:sp>
        <p:nvSpPr>
          <p:cNvPr id="3" name="Content Placeholder 2">
            <a:extLst>
              <a:ext uri="{FF2B5EF4-FFF2-40B4-BE49-F238E27FC236}">
                <a16:creationId xmlns:a16="http://schemas.microsoft.com/office/drawing/2014/main" id="{43000E82-026A-35EA-F696-119371888B2E}"/>
              </a:ext>
            </a:extLst>
          </p:cNvPr>
          <p:cNvSpPr>
            <a:spLocks noGrp="1"/>
          </p:cNvSpPr>
          <p:nvPr>
            <p:ph idx="1"/>
          </p:nvPr>
        </p:nvSpPr>
        <p:spPr>
          <a:xfrm>
            <a:off x="755651" y="1556792"/>
            <a:ext cx="10668000" cy="4463008"/>
          </a:xfrm>
        </p:spPr>
        <p:txBody>
          <a:bodyPr/>
          <a:lstStyle/>
          <a:p>
            <a:pPr marL="0" indent="0">
              <a:buNone/>
            </a:pPr>
            <a:r>
              <a:rPr lang="en-IN" sz="2400" b="1" dirty="0"/>
              <a:t>Expected Outcomes</a:t>
            </a:r>
          </a:p>
          <a:p>
            <a:pPr lvl="0"/>
            <a:r>
              <a:rPr lang="en-IN" sz="2400" dirty="0"/>
              <a:t>Conflict-free timetable generation. </a:t>
            </a:r>
          </a:p>
          <a:p>
            <a:pPr lvl="0"/>
            <a:r>
              <a:rPr lang="en-IN" sz="2400" dirty="0"/>
              <a:t>Automatic identification of affected classes. </a:t>
            </a:r>
          </a:p>
          <a:p>
            <a:pPr lvl="0"/>
            <a:r>
              <a:rPr lang="en-IN" sz="2400" dirty="0"/>
              <a:t>Reduced unnecessary timetable modifications. </a:t>
            </a:r>
          </a:p>
          <a:p>
            <a:pPr lvl="0"/>
            <a:r>
              <a:rPr lang="en-IN" sz="2400" dirty="0"/>
              <a:t>Role-based access for administrators, faculty, and students. </a:t>
            </a:r>
          </a:p>
          <a:p>
            <a:pPr lvl="0"/>
            <a:r>
              <a:rPr lang="en-IN" sz="2400" dirty="0"/>
              <a:t>Evaluation using execution time, search nodes, backtracks, constraint checks, and timetable stability. </a:t>
            </a:r>
          </a:p>
          <a:p>
            <a:pPr marL="0" indent="0">
              <a:buNone/>
            </a:pPr>
            <a:r>
              <a:rPr lang="en-IN" sz="2400" b="1" dirty="0"/>
              <a:t>Current Status</a:t>
            </a:r>
          </a:p>
          <a:p>
            <a:pPr marL="0" indent="0">
              <a:buNone/>
            </a:pPr>
            <a:r>
              <a:rPr lang="en-IN" sz="2400" b="1" dirty="0"/>
              <a:t>Core timetable generation, role-based interfaces, and the adaptive rescheduling demonstration have been implemented.</a:t>
            </a:r>
            <a:endParaRPr lang="en-IN" sz="2400" dirty="0"/>
          </a:p>
          <a:p>
            <a:endParaRPr lang="en-IN" sz="2400" dirty="0"/>
          </a:p>
        </p:txBody>
      </p:sp>
      <p:sp>
        <p:nvSpPr>
          <p:cNvPr id="6" name="Slide Number Placeholder 5">
            <a:extLst>
              <a:ext uri="{FF2B5EF4-FFF2-40B4-BE49-F238E27FC236}">
                <a16:creationId xmlns:a16="http://schemas.microsoft.com/office/drawing/2014/main" id="{64B9575A-7DDA-3092-8A3E-4A1C0DB37B76}"/>
              </a:ext>
            </a:extLst>
          </p:cNvPr>
          <p:cNvSpPr>
            <a:spLocks noGrp="1"/>
          </p:cNvSpPr>
          <p:nvPr>
            <p:ph type="sldNum" sz="quarter" idx="12"/>
          </p:nvPr>
        </p:nvSpPr>
        <p:spPr/>
        <p:txBody>
          <a:bodyPr/>
          <a:lstStyle/>
          <a:p>
            <a:pPr>
              <a:defRPr/>
            </a:pPr>
            <a:fld id="{BDC2143B-610F-499C-A392-DFFBE135A7B2}" type="slidenum">
              <a:rPr lang="en-US" altLang="en-US" smtClean="0"/>
              <a:pPr>
                <a:defRPr/>
              </a:pPr>
              <a:t>5</a:t>
            </a:fld>
            <a:endParaRPr lang="en-US" altLang="en-US" dirty="0"/>
          </a:p>
        </p:txBody>
      </p:sp>
    </p:spTree>
    <p:extLst>
      <p:ext uri="{BB962C8B-B14F-4D97-AF65-F5344CB8AC3E}">
        <p14:creationId xmlns:p14="http://schemas.microsoft.com/office/powerpoint/2010/main" val="2571717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B9BBE-312C-2B3D-025C-03AFFDD05638}"/>
              </a:ext>
            </a:extLst>
          </p:cNvPr>
          <p:cNvSpPr>
            <a:spLocks noGrp="1"/>
          </p:cNvSpPr>
          <p:nvPr>
            <p:ph type="title"/>
          </p:nvPr>
        </p:nvSpPr>
        <p:spPr/>
        <p:txBody>
          <a:bodyPr/>
          <a:lstStyle/>
          <a:p>
            <a:pPr algn="ctr"/>
            <a:r>
              <a:rPr lang="en-IN" sz="3200" b="1" dirty="0">
                <a:solidFill>
                  <a:srgbClr val="FF0000"/>
                </a:solidFill>
              </a:rPr>
              <a:t>Abstract</a:t>
            </a:r>
          </a:p>
        </p:txBody>
      </p:sp>
      <p:sp>
        <p:nvSpPr>
          <p:cNvPr id="3" name="Content Placeholder 2">
            <a:extLst>
              <a:ext uri="{FF2B5EF4-FFF2-40B4-BE49-F238E27FC236}">
                <a16:creationId xmlns:a16="http://schemas.microsoft.com/office/drawing/2014/main" id="{44789A93-9D96-4F90-CC76-F002107B1EB3}"/>
              </a:ext>
            </a:extLst>
          </p:cNvPr>
          <p:cNvSpPr>
            <a:spLocks noGrp="1"/>
          </p:cNvSpPr>
          <p:nvPr>
            <p:ph idx="1"/>
          </p:nvPr>
        </p:nvSpPr>
        <p:spPr/>
        <p:txBody>
          <a:bodyPr/>
          <a:lstStyle/>
          <a:p>
            <a:pPr marL="0" indent="0">
              <a:buNone/>
            </a:pPr>
            <a:r>
              <a:rPr lang="en-IN" sz="2400" b="1" dirty="0"/>
              <a:t>Intelligent Adaptive University Timetable Generator Using Constraint Satisfaction Problem (CSP)</a:t>
            </a:r>
            <a:endParaRPr lang="en-IN" sz="2400" dirty="0"/>
          </a:p>
          <a:p>
            <a:pPr marL="0" indent="0" algn="just">
              <a:buNone/>
            </a:pPr>
            <a:r>
              <a:rPr lang="en-IN" sz="2400" dirty="0"/>
              <a:t>	University timetable scheduling is a complex task involving the allocation of subjects, faculty members, classrooms, laboratories, and time slots while satisfying multiple constraints. Manual scheduling is time-consuming and may lead to conflicts and difficulties when changes occur. This project proposes an Intelligent Adaptive University Timetable Generator using Constraint Satisfaction Problems (CSP). </a:t>
            </a:r>
          </a:p>
        </p:txBody>
      </p:sp>
      <p:sp>
        <p:nvSpPr>
          <p:cNvPr id="6" name="Slide Number Placeholder 5">
            <a:extLst>
              <a:ext uri="{FF2B5EF4-FFF2-40B4-BE49-F238E27FC236}">
                <a16:creationId xmlns:a16="http://schemas.microsoft.com/office/drawing/2014/main" id="{9F0F7E0B-04C3-E156-D455-F2526D56F8A5}"/>
              </a:ext>
            </a:extLst>
          </p:cNvPr>
          <p:cNvSpPr>
            <a:spLocks noGrp="1"/>
          </p:cNvSpPr>
          <p:nvPr>
            <p:ph type="sldNum" sz="quarter" idx="12"/>
          </p:nvPr>
        </p:nvSpPr>
        <p:spPr/>
        <p:txBody>
          <a:bodyPr/>
          <a:lstStyle/>
          <a:p>
            <a:pPr>
              <a:defRPr/>
            </a:pPr>
            <a:fld id="{BDC2143B-610F-499C-A392-DFFBE135A7B2}" type="slidenum">
              <a:rPr lang="en-US" altLang="en-US" smtClean="0"/>
              <a:pPr>
                <a:defRPr/>
              </a:pPr>
              <a:t>6</a:t>
            </a:fld>
            <a:endParaRPr lang="en-US" altLang="en-US"/>
          </a:p>
        </p:txBody>
      </p:sp>
    </p:spTree>
    <p:extLst>
      <p:ext uri="{BB962C8B-B14F-4D97-AF65-F5344CB8AC3E}">
        <p14:creationId xmlns:p14="http://schemas.microsoft.com/office/powerpoint/2010/main" val="111830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BD1F0-6D5B-6538-8155-E29E3AA47174}"/>
              </a:ext>
            </a:extLst>
          </p:cNvPr>
          <p:cNvSpPr>
            <a:spLocks noGrp="1"/>
          </p:cNvSpPr>
          <p:nvPr>
            <p:ph type="title"/>
          </p:nvPr>
        </p:nvSpPr>
        <p:spPr/>
        <p:txBody>
          <a:bodyPr/>
          <a:lstStyle/>
          <a:p>
            <a:pPr algn="ctr"/>
            <a:r>
              <a:rPr lang="en-IN" sz="3200" b="1" dirty="0">
                <a:solidFill>
                  <a:srgbClr val="FF0000"/>
                </a:solidFill>
              </a:rPr>
              <a:t>Abstract</a:t>
            </a:r>
            <a:endParaRPr lang="en-IN" sz="3200" b="1" dirty="0"/>
          </a:p>
        </p:txBody>
      </p:sp>
      <p:sp>
        <p:nvSpPr>
          <p:cNvPr id="3" name="Content Placeholder 2">
            <a:extLst>
              <a:ext uri="{FF2B5EF4-FFF2-40B4-BE49-F238E27FC236}">
                <a16:creationId xmlns:a16="http://schemas.microsoft.com/office/drawing/2014/main" id="{ACE081A5-E634-6077-EDD0-2B972C93B23E}"/>
              </a:ext>
            </a:extLst>
          </p:cNvPr>
          <p:cNvSpPr>
            <a:spLocks noGrp="1"/>
          </p:cNvSpPr>
          <p:nvPr>
            <p:ph idx="1"/>
          </p:nvPr>
        </p:nvSpPr>
        <p:spPr>
          <a:xfrm>
            <a:off x="191344" y="1752600"/>
            <a:ext cx="11665295" cy="4267200"/>
          </a:xfrm>
        </p:spPr>
        <p:txBody>
          <a:bodyPr/>
          <a:lstStyle/>
          <a:p>
            <a:pPr algn="just"/>
            <a:r>
              <a:rPr lang="en-IN" sz="2400" dirty="0"/>
              <a:t>The system models class sessions as variables, valid day–period–room combinations as domains, and scheduling requirements as constraints. Backtracking Search, Minimum Remaining Values (MRV), Least Constraining Value (LCV), and Forward Checking are used to support timetable generation.</a:t>
            </a:r>
          </a:p>
          <a:p>
            <a:pPr algn="just"/>
            <a:r>
              <a:rPr lang="en-IN" sz="2400" dirty="0"/>
              <a:t>The system also incorporates an adaptive rescheduling mechanism to handle faculty leave. It identifies affected classes, checks for suitable substitutes, and attempts to reschedule affected assignments while preserving unaffected classes.</a:t>
            </a:r>
          </a:p>
        </p:txBody>
      </p:sp>
      <p:sp>
        <p:nvSpPr>
          <p:cNvPr id="6" name="Slide Number Placeholder 5">
            <a:extLst>
              <a:ext uri="{FF2B5EF4-FFF2-40B4-BE49-F238E27FC236}">
                <a16:creationId xmlns:a16="http://schemas.microsoft.com/office/drawing/2014/main" id="{1D415E84-4B64-576D-9143-3EC25DFBBCB1}"/>
              </a:ext>
            </a:extLst>
          </p:cNvPr>
          <p:cNvSpPr>
            <a:spLocks noGrp="1"/>
          </p:cNvSpPr>
          <p:nvPr>
            <p:ph type="sldNum" sz="quarter" idx="12"/>
          </p:nvPr>
        </p:nvSpPr>
        <p:spPr/>
        <p:txBody>
          <a:bodyPr/>
          <a:lstStyle/>
          <a:p>
            <a:pPr>
              <a:defRPr/>
            </a:pPr>
            <a:fld id="{BDC2143B-610F-499C-A392-DFFBE135A7B2}" type="slidenum">
              <a:rPr lang="en-US" altLang="en-US" smtClean="0"/>
              <a:pPr>
                <a:defRPr/>
              </a:pPr>
              <a:t>7</a:t>
            </a:fld>
            <a:endParaRPr lang="en-US" altLang="en-US"/>
          </a:p>
        </p:txBody>
      </p:sp>
    </p:spTree>
    <p:extLst>
      <p:ext uri="{BB962C8B-B14F-4D97-AF65-F5344CB8AC3E}">
        <p14:creationId xmlns:p14="http://schemas.microsoft.com/office/powerpoint/2010/main" val="1983831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35E3B-7192-CB43-FEF9-FE49FFCDD722}"/>
              </a:ext>
            </a:extLst>
          </p:cNvPr>
          <p:cNvSpPr>
            <a:spLocks noGrp="1"/>
          </p:cNvSpPr>
          <p:nvPr>
            <p:ph type="title"/>
          </p:nvPr>
        </p:nvSpPr>
        <p:spPr/>
        <p:txBody>
          <a:bodyPr/>
          <a:lstStyle/>
          <a:p>
            <a:pPr algn="ctr"/>
            <a:r>
              <a:rPr lang="en-IN" sz="3200" b="1" dirty="0">
                <a:solidFill>
                  <a:srgbClr val="FF0000"/>
                </a:solidFill>
              </a:rPr>
              <a:t>Abstract</a:t>
            </a:r>
            <a:endParaRPr lang="en-IN" sz="3200" b="1" dirty="0"/>
          </a:p>
        </p:txBody>
      </p:sp>
      <p:sp>
        <p:nvSpPr>
          <p:cNvPr id="3" name="Content Placeholder 2">
            <a:extLst>
              <a:ext uri="{FF2B5EF4-FFF2-40B4-BE49-F238E27FC236}">
                <a16:creationId xmlns:a16="http://schemas.microsoft.com/office/drawing/2014/main" id="{B16C9A32-90EB-D293-F0FD-AE23D7BB5421}"/>
              </a:ext>
            </a:extLst>
          </p:cNvPr>
          <p:cNvSpPr>
            <a:spLocks noGrp="1"/>
          </p:cNvSpPr>
          <p:nvPr>
            <p:ph idx="1"/>
          </p:nvPr>
        </p:nvSpPr>
        <p:spPr/>
        <p:txBody>
          <a:bodyPr/>
          <a:lstStyle/>
          <a:p>
            <a:pPr algn="just"/>
            <a:r>
              <a:rPr lang="en-IN" sz="2400" dirty="0"/>
              <a:t>The application is developed using Python, Flask, and SQLite, with separate interfaces for administrators, faculty, and students. The system aims to reduce scheduling conflicts, minimize unnecessary timetable modifications, and improve scheduling efficiency.</a:t>
            </a:r>
          </a:p>
          <a:p>
            <a:pPr algn="just"/>
            <a:r>
              <a:rPr lang="en-IN" sz="2400" b="1" dirty="0"/>
              <a:t>Keywords:</a:t>
            </a:r>
            <a:r>
              <a:rPr lang="en-IN" sz="2400" dirty="0"/>
              <a:t> Artificial Intelligence, Constraint Satisfaction Problem, Backtracking Search, University Timetabling, Adaptive Rescheduling.</a:t>
            </a:r>
          </a:p>
          <a:p>
            <a:pPr algn="just"/>
            <a:endParaRPr lang="en-IN" sz="2400" dirty="0"/>
          </a:p>
        </p:txBody>
      </p:sp>
      <p:sp>
        <p:nvSpPr>
          <p:cNvPr id="6" name="Slide Number Placeholder 5">
            <a:extLst>
              <a:ext uri="{FF2B5EF4-FFF2-40B4-BE49-F238E27FC236}">
                <a16:creationId xmlns:a16="http://schemas.microsoft.com/office/drawing/2014/main" id="{F9EEFD09-4AC8-FC9D-0147-84A20349F90F}"/>
              </a:ext>
            </a:extLst>
          </p:cNvPr>
          <p:cNvSpPr>
            <a:spLocks noGrp="1"/>
          </p:cNvSpPr>
          <p:nvPr>
            <p:ph type="sldNum" sz="quarter" idx="12"/>
          </p:nvPr>
        </p:nvSpPr>
        <p:spPr/>
        <p:txBody>
          <a:bodyPr/>
          <a:lstStyle/>
          <a:p>
            <a:pPr>
              <a:defRPr/>
            </a:pPr>
            <a:fld id="{BDC2143B-610F-499C-A392-DFFBE135A7B2}" type="slidenum">
              <a:rPr lang="en-US" altLang="en-US" smtClean="0"/>
              <a:pPr>
                <a:defRPr/>
              </a:pPr>
              <a:t>8</a:t>
            </a:fld>
            <a:endParaRPr lang="en-US" altLang="en-US"/>
          </a:p>
        </p:txBody>
      </p:sp>
    </p:spTree>
    <p:extLst>
      <p:ext uri="{BB962C8B-B14F-4D97-AF65-F5344CB8AC3E}">
        <p14:creationId xmlns:p14="http://schemas.microsoft.com/office/powerpoint/2010/main" val="1588031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66233" y="304801"/>
            <a:ext cx="10668000" cy="533399"/>
          </a:xfrm>
        </p:spPr>
        <p:txBody>
          <a:bodyPr/>
          <a:lstStyle/>
          <a:p>
            <a:pPr algn="ctr"/>
            <a:r>
              <a:rPr lang="en-US" sz="3200" b="1" dirty="0">
                <a:solidFill>
                  <a:srgbClr val="FF0000"/>
                </a:solidFill>
              </a:rPr>
              <a:t>Literature Survey</a:t>
            </a:r>
            <a:endParaRPr lang="en-IN" sz="3200" b="1" dirty="0">
              <a:solidFill>
                <a:srgbClr val="FF0000"/>
              </a:solidFill>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9</a:t>
            </a:fld>
            <a:endParaRPr lang="en-IN"/>
          </a:p>
        </p:txBody>
      </p:sp>
      <p:graphicFrame>
        <p:nvGraphicFramePr>
          <p:cNvPr id="5" name="Table 4">
            <a:extLst>
              <a:ext uri="{FF2B5EF4-FFF2-40B4-BE49-F238E27FC236}">
                <a16:creationId xmlns:a16="http://schemas.microsoft.com/office/drawing/2014/main" id="{AD7E4B40-F95E-47F4-B92E-06AFA2A015FC}"/>
              </a:ext>
            </a:extLst>
          </p:cNvPr>
          <p:cNvGraphicFramePr>
            <a:graphicFrameLocks noGrp="1"/>
          </p:cNvGraphicFramePr>
          <p:nvPr>
            <p:extLst>
              <p:ext uri="{D42A27DB-BD31-4B8C-83A1-F6EECF244321}">
                <p14:modId xmlns:p14="http://schemas.microsoft.com/office/powerpoint/2010/main" val="3439854226"/>
              </p:ext>
            </p:extLst>
          </p:nvPr>
        </p:nvGraphicFramePr>
        <p:xfrm>
          <a:off x="623392" y="1241407"/>
          <a:ext cx="11089233" cy="4972893"/>
        </p:xfrm>
        <a:graphic>
          <a:graphicData uri="http://schemas.openxmlformats.org/drawingml/2006/table">
            <a:tbl>
              <a:tblPr firstRow="1" bandRow="1">
                <a:tableStyleId>{5C22544A-7EE6-4342-B048-85BDC9FD1C3A}</a:tableStyleId>
              </a:tblPr>
              <a:tblGrid>
                <a:gridCol w="576064">
                  <a:extLst>
                    <a:ext uri="{9D8B030D-6E8A-4147-A177-3AD203B41FA5}">
                      <a16:colId xmlns:a16="http://schemas.microsoft.com/office/drawing/2014/main" val="20000"/>
                    </a:ext>
                  </a:extLst>
                </a:gridCol>
                <a:gridCol w="1640897">
                  <a:extLst>
                    <a:ext uri="{9D8B030D-6E8A-4147-A177-3AD203B41FA5}">
                      <a16:colId xmlns:a16="http://schemas.microsoft.com/office/drawing/2014/main" val="20001"/>
                    </a:ext>
                  </a:extLst>
                </a:gridCol>
                <a:gridCol w="3205166">
                  <a:extLst>
                    <a:ext uri="{9D8B030D-6E8A-4147-A177-3AD203B41FA5}">
                      <a16:colId xmlns:a16="http://schemas.microsoft.com/office/drawing/2014/main" val="20002"/>
                    </a:ext>
                  </a:extLst>
                </a:gridCol>
                <a:gridCol w="2554843">
                  <a:extLst>
                    <a:ext uri="{9D8B030D-6E8A-4147-A177-3AD203B41FA5}">
                      <a16:colId xmlns:a16="http://schemas.microsoft.com/office/drawing/2014/main" val="20003"/>
                    </a:ext>
                  </a:extLst>
                </a:gridCol>
                <a:gridCol w="3112263">
                  <a:extLst>
                    <a:ext uri="{9D8B030D-6E8A-4147-A177-3AD203B41FA5}">
                      <a16:colId xmlns:a16="http://schemas.microsoft.com/office/drawing/2014/main" val="20004"/>
                    </a:ext>
                  </a:extLst>
                </a:gridCol>
              </a:tblGrid>
              <a:tr h="1013541">
                <a:tc>
                  <a:txBody>
                    <a:bodyPr/>
                    <a:lstStyle/>
                    <a:p>
                      <a:pPr algn="ctr">
                        <a:defRPr sz="1200" b="1">
                          <a:solidFill>
                            <a:srgbClr val="FFFFFF"/>
                          </a:solidFill>
                          <a:latin typeface="Aptos"/>
                        </a:defRPr>
                      </a:pPr>
                      <a:r>
                        <a:rPr sz="2000">
                          <a:latin typeface="Aptos" panose="020B0004020202020204" pitchFamily="34" charset="0"/>
                        </a:rPr>
                        <a:t>S. No.</a:t>
                      </a:r>
                    </a:p>
                  </a:txBody>
                  <a:tcPr marR="73152" marT="54864" anchor="ctr">
                    <a:solidFill>
                      <a:srgbClr val="2A67B0"/>
                    </a:solidFill>
                  </a:tcPr>
                </a:tc>
                <a:tc>
                  <a:txBody>
                    <a:bodyPr/>
                    <a:lstStyle/>
                    <a:p>
                      <a:pPr algn="ctr">
                        <a:defRPr sz="1200" b="1">
                          <a:solidFill>
                            <a:srgbClr val="FFFFFF"/>
                          </a:solidFill>
                          <a:latin typeface="Aptos"/>
                        </a:defRPr>
                      </a:pPr>
                      <a:r>
                        <a:rPr sz="2000" dirty="0">
                          <a:latin typeface="Aptos" panose="020B0004020202020204" pitchFamily="34" charset="0"/>
                        </a:rPr>
                        <a:t>Author(s) &amp; Year</a:t>
                      </a:r>
                    </a:p>
                  </a:txBody>
                  <a:tcPr marR="73152" marT="54864" anchor="ctr">
                    <a:solidFill>
                      <a:srgbClr val="2A67B0"/>
                    </a:solidFill>
                  </a:tcPr>
                </a:tc>
                <a:tc>
                  <a:txBody>
                    <a:bodyPr/>
                    <a:lstStyle/>
                    <a:p>
                      <a:pPr algn="ctr">
                        <a:defRPr sz="1200" b="1">
                          <a:solidFill>
                            <a:srgbClr val="FFFFFF"/>
                          </a:solidFill>
                          <a:latin typeface="Aptos"/>
                        </a:defRPr>
                      </a:pPr>
                      <a:r>
                        <a:rPr sz="2000">
                          <a:latin typeface="Aptos" panose="020B0004020202020204" pitchFamily="34" charset="0"/>
                        </a:rPr>
                        <a:t>Paper Title</a:t>
                      </a:r>
                    </a:p>
                  </a:txBody>
                  <a:tcPr marR="73152" marT="54864" anchor="ctr">
                    <a:solidFill>
                      <a:srgbClr val="2A67B0"/>
                    </a:solidFill>
                  </a:tcPr>
                </a:tc>
                <a:tc>
                  <a:txBody>
                    <a:bodyPr/>
                    <a:lstStyle/>
                    <a:p>
                      <a:pPr algn="ctr">
                        <a:defRPr sz="1200" b="1">
                          <a:solidFill>
                            <a:srgbClr val="FFFFFF"/>
                          </a:solidFill>
                          <a:latin typeface="Aptos"/>
                        </a:defRPr>
                      </a:pPr>
                      <a:r>
                        <a:rPr sz="2000">
                          <a:latin typeface="Aptos" panose="020B0004020202020204" pitchFamily="34" charset="0"/>
                        </a:rPr>
                        <a:t>Methodology / Algorithm</a:t>
                      </a:r>
                    </a:p>
                  </a:txBody>
                  <a:tcPr marR="73152" marT="54864" anchor="ctr">
                    <a:solidFill>
                      <a:srgbClr val="2A67B0"/>
                    </a:solidFill>
                  </a:tcPr>
                </a:tc>
                <a:tc>
                  <a:txBody>
                    <a:bodyPr/>
                    <a:lstStyle/>
                    <a:p>
                      <a:pPr algn="ctr">
                        <a:defRPr sz="1200" b="1">
                          <a:solidFill>
                            <a:srgbClr val="FFFFFF"/>
                          </a:solidFill>
                          <a:latin typeface="Aptos"/>
                        </a:defRPr>
                      </a:pPr>
                      <a:r>
                        <a:rPr sz="2000" dirty="0">
                          <a:latin typeface="Aptos" panose="020B0004020202020204" pitchFamily="34" charset="0"/>
                        </a:rPr>
                        <a:t>Limitations</a:t>
                      </a:r>
                    </a:p>
                  </a:txBody>
                  <a:tcPr marR="73152" marT="54864" anchor="ctr">
                    <a:solidFill>
                      <a:srgbClr val="2A67B0"/>
                    </a:solidFill>
                  </a:tcPr>
                </a:tc>
                <a:extLst>
                  <a:ext uri="{0D108BD9-81ED-4DB2-BD59-A6C34878D82A}">
                    <a16:rowId xmlns:a16="http://schemas.microsoft.com/office/drawing/2014/main" val="10000"/>
                  </a:ext>
                </a:extLst>
              </a:tr>
              <a:tr h="689190">
                <a:tc>
                  <a:txBody>
                    <a:bodyPr/>
                    <a:lstStyle/>
                    <a:p>
                      <a:pPr algn="ctr">
                        <a:defRPr sz="1100" b="0">
                          <a:solidFill>
                            <a:srgbClr val="2D343E"/>
                          </a:solidFill>
                          <a:latin typeface="Aptos"/>
                        </a:defRPr>
                      </a:pPr>
                      <a:r>
                        <a:rPr sz="1800">
                          <a:latin typeface="Aptos" panose="020B0004020202020204" pitchFamily="34" charset="0"/>
                        </a:rPr>
                        <a:t>1</a:t>
                      </a:r>
                    </a:p>
                  </a:txBody>
                  <a:tcPr marR="73152" marT="54864" anchor="ctr">
                    <a:solidFill>
                      <a:srgbClr val="FFFFFF"/>
                    </a:solidFill>
                  </a:tcPr>
                </a:tc>
                <a:tc>
                  <a:txBody>
                    <a:bodyPr/>
                    <a:lstStyle/>
                    <a:p>
                      <a:pPr algn="l">
                        <a:defRPr sz="1100" b="0">
                          <a:solidFill>
                            <a:srgbClr val="2D343E"/>
                          </a:solidFill>
                          <a:latin typeface="Aptos"/>
                        </a:defRPr>
                      </a:pPr>
                      <a:r>
                        <a:rPr lang="en-IN" sz="1600" b="0" kern="1200" dirty="0" err="1">
                          <a:solidFill>
                            <a:srgbClr val="2D343E"/>
                          </a:solidFill>
                          <a:latin typeface="Aptos" panose="020B0004020202020204" pitchFamily="34" charset="0"/>
                          <a:ea typeface="+mn-ea"/>
                          <a:cs typeface="+mn-cs"/>
                        </a:rPr>
                        <a:t>Lixi</a:t>
                      </a:r>
                      <a:r>
                        <a:rPr lang="en-IN" sz="1600" b="0" kern="1200" dirty="0">
                          <a:solidFill>
                            <a:srgbClr val="2D343E"/>
                          </a:solidFill>
                          <a:latin typeface="Aptos" panose="020B0004020202020204" pitchFamily="34" charset="0"/>
                          <a:ea typeface="+mn-ea"/>
                          <a:cs typeface="+mn-cs"/>
                        </a:rPr>
                        <a:t> Zhang and Sim Kim Lau, 2005</a:t>
                      </a:r>
                      <a:endParaRPr sz="1600" dirty="0">
                        <a:latin typeface="Aptos" panose="020B0004020202020204" pitchFamily="34" charset="0"/>
                      </a:endParaRPr>
                    </a:p>
                  </a:txBody>
                  <a:tcPr marR="73152" marT="54864" anchor="ctr">
                    <a:solidFill>
                      <a:srgbClr val="FFFFFF"/>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Constructing University Timetable Using Constraint Satisfaction Programming Approach</a:t>
                      </a:r>
                      <a:endParaRPr sz="1600" dirty="0">
                        <a:latin typeface="Aptos" panose="020B0004020202020204" pitchFamily="34" charset="0"/>
                      </a:endParaRPr>
                    </a:p>
                  </a:txBody>
                  <a:tcPr marR="73152" marT="54864" anchor="ctr">
                    <a:solidFill>
                      <a:srgbClr val="FFFFFF"/>
                    </a:solidFill>
                  </a:tcPr>
                </a:tc>
                <a:tc>
                  <a:txBody>
                    <a:bodyPr/>
                    <a:lstStyle/>
                    <a:p>
                      <a:pPr>
                        <a:buNone/>
                      </a:pPr>
                      <a:r>
                        <a:rPr lang="en-IN" sz="1600" dirty="0">
                          <a:latin typeface="Aptos" panose="020B0004020202020204" pitchFamily="34" charset="0"/>
                        </a:rPr>
                        <a:t>University Timetable Using Constraint Satisfaction Programming Approach</a:t>
                      </a:r>
                    </a:p>
                  </a:txBody>
                  <a:tcPr anchor="ctr">
                    <a:solidFill>
                      <a:srgbClr val="FFFFFF"/>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Provides a CSP-based scheduling foundation; adaptive rescheduling with minimal timetable changes is the focus of our extension.</a:t>
                      </a:r>
                      <a:endParaRPr sz="1600" dirty="0">
                        <a:latin typeface="Aptos" panose="020B0004020202020204" pitchFamily="34" charset="0"/>
                      </a:endParaRPr>
                    </a:p>
                  </a:txBody>
                  <a:tcPr marR="73152" marT="54864" anchor="ctr">
                    <a:solidFill>
                      <a:srgbClr val="FFFFFF"/>
                    </a:solidFill>
                  </a:tcPr>
                </a:tc>
                <a:extLst>
                  <a:ext uri="{0D108BD9-81ED-4DB2-BD59-A6C34878D82A}">
                    <a16:rowId xmlns:a16="http://schemas.microsoft.com/office/drawing/2014/main" val="10001"/>
                  </a:ext>
                </a:extLst>
              </a:tr>
              <a:tr h="689190">
                <a:tc>
                  <a:txBody>
                    <a:bodyPr/>
                    <a:lstStyle/>
                    <a:p>
                      <a:pPr algn="ctr">
                        <a:defRPr sz="1100" b="0">
                          <a:solidFill>
                            <a:srgbClr val="2D343E"/>
                          </a:solidFill>
                          <a:latin typeface="Aptos"/>
                        </a:defRPr>
                      </a:pPr>
                      <a:r>
                        <a:rPr sz="1800">
                          <a:latin typeface="Aptos" panose="020B0004020202020204" pitchFamily="34" charset="0"/>
                        </a:rPr>
                        <a:t>2</a:t>
                      </a: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Burke et al., 2004</a:t>
                      </a:r>
                      <a:endParaRPr sz="1600" dirty="0">
                        <a:latin typeface="Aptos" panose="020B0004020202020204" pitchFamily="34" charset="0"/>
                      </a:endParaRP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The State of the Art of University Timetabling</a:t>
                      </a:r>
                      <a:endParaRPr sz="1600" dirty="0">
                        <a:latin typeface="Aptos" panose="020B0004020202020204" pitchFamily="34" charset="0"/>
                      </a:endParaRP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Survey of university timetabling approaches and optimization techniques</a:t>
                      </a:r>
                      <a:endParaRPr sz="1600" dirty="0">
                        <a:latin typeface="Aptos" panose="020B0004020202020204" pitchFamily="34" charset="0"/>
                      </a:endParaRPr>
                    </a:p>
                  </a:txBody>
                  <a:tcPr marR="73152" marT="54864" anchor="ctr">
                    <a:solidFill>
                      <a:srgbClr val="EBF2FA"/>
                    </a:solidFill>
                  </a:tcPr>
                </a:tc>
                <a:tc>
                  <a:txBody>
                    <a:bodyPr/>
                    <a:lstStyle/>
                    <a:p>
                      <a:pPr>
                        <a:buNone/>
                      </a:pPr>
                      <a:r>
                        <a:rPr lang="en-IN" sz="1600" dirty="0">
                          <a:latin typeface="Aptos" panose="020B0004020202020204" pitchFamily="34" charset="0"/>
                        </a:rPr>
                        <a:t>timetabling approaches and optimization techniques</a:t>
                      </a:r>
                    </a:p>
                  </a:txBody>
                  <a:tcPr anchor="ctr">
                    <a:solidFill>
                      <a:srgbClr val="EBF2FA"/>
                    </a:solidFill>
                  </a:tcPr>
                </a:tc>
                <a:extLst>
                  <a:ext uri="{0D108BD9-81ED-4DB2-BD59-A6C34878D82A}">
                    <a16:rowId xmlns:a16="http://schemas.microsoft.com/office/drawing/2014/main" val="10002"/>
                  </a:ext>
                </a:extLst>
              </a:tr>
              <a:tr h="689190">
                <a:tc>
                  <a:txBody>
                    <a:bodyPr/>
                    <a:lstStyle/>
                    <a:p>
                      <a:pPr algn="ctr">
                        <a:defRPr sz="1100" b="0">
                          <a:solidFill>
                            <a:srgbClr val="2D343E"/>
                          </a:solidFill>
                          <a:latin typeface="Aptos"/>
                        </a:defRPr>
                      </a:pPr>
                      <a:r>
                        <a:rPr sz="1800">
                          <a:latin typeface="Aptos" panose="020B0004020202020204" pitchFamily="34" charset="0"/>
                        </a:rPr>
                        <a:t>3</a:t>
                      </a:r>
                    </a:p>
                  </a:txBody>
                  <a:tcPr marR="73152" marT="54864" anchor="ctr">
                    <a:solidFill>
                      <a:srgbClr val="FFFFFF"/>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Dechter, 2003</a:t>
                      </a:r>
                      <a:endParaRPr sz="1600" dirty="0">
                        <a:latin typeface="Aptos" panose="020B0004020202020204" pitchFamily="34" charset="0"/>
                      </a:endParaRPr>
                    </a:p>
                  </a:txBody>
                  <a:tcPr marR="73152" marT="54864" anchor="ctr">
                    <a:solidFill>
                      <a:srgbClr val="FFFFFF"/>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Constraint Processing</a:t>
                      </a:r>
                      <a:endParaRPr sz="1600" dirty="0">
                        <a:latin typeface="Aptos" panose="020B0004020202020204" pitchFamily="34" charset="0"/>
                      </a:endParaRPr>
                    </a:p>
                  </a:txBody>
                  <a:tcPr marR="73152" marT="54864" anchor="ctr">
                    <a:solidFill>
                      <a:srgbClr val="FFFFFF"/>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CSP representation, constraint propagation, and search techniques</a:t>
                      </a:r>
                      <a:endParaRPr sz="1600" dirty="0">
                        <a:latin typeface="Aptos" panose="020B0004020202020204" pitchFamily="34" charset="0"/>
                      </a:endParaRPr>
                    </a:p>
                  </a:txBody>
                  <a:tcPr marR="73152" marT="54864" anchor="ctr">
                    <a:solidFill>
                      <a:srgbClr val="FFFFFF"/>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Provides general CSP methods; their application to our specific university scheduling and adaptive rescheduling requirements must be implemented and evaluated.</a:t>
                      </a:r>
                      <a:endParaRPr sz="1600" dirty="0">
                        <a:latin typeface="Aptos" panose="020B0004020202020204" pitchFamily="34" charset="0"/>
                      </a:endParaRPr>
                    </a:p>
                  </a:txBody>
                  <a:tcPr marR="73152" marT="54864"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0445193"/>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827283" y="692696"/>
            <a:ext cx="10668000" cy="577552"/>
          </a:xfrm>
        </p:spPr>
        <p:txBody>
          <a:bodyPr/>
          <a:lstStyle/>
          <a:p>
            <a:pPr algn="ctr"/>
            <a:r>
              <a:rPr lang="en-US" sz="3200" b="1" dirty="0">
                <a:solidFill>
                  <a:srgbClr val="FF0000"/>
                </a:solidFill>
              </a:rPr>
              <a:t>Literature Survey</a:t>
            </a:r>
            <a:endParaRPr lang="en-IN" sz="3200" b="1" dirty="0">
              <a:solidFill>
                <a:srgbClr val="FF0000"/>
              </a:solidFill>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800" b="0" i="0" u="none" strike="noStrike" kern="0" cap="none" spc="0" normalizeH="0" baseline="0" noProof="0" dirty="0">
                <a:ln>
                  <a:noFill/>
                </a:ln>
                <a:solidFill>
                  <a:srgbClr val="000000"/>
                </a:solidFill>
                <a:effectLst/>
                <a:uLnTx/>
                <a:uFillTx/>
                <a:latin typeface="Verdana"/>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a:ea typeface="+mn-ea"/>
              <a:cs typeface="+mn-cs"/>
            </a:endParaRPr>
          </a:p>
          <a:p>
            <a:pPr marL="0" indent="0">
              <a:buNone/>
            </a:pPr>
            <a:endParaRPr lang="en-IN"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10</a:t>
            </a:fld>
            <a:endParaRPr lang="en-IN"/>
          </a:p>
        </p:txBody>
      </p:sp>
      <p:graphicFrame>
        <p:nvGraphicFramePr>
          <p:cNvPr id="5" name="Table 4">
            <a:extLst>
              <a:ext uri="{FF2B5EF4-FFF2-40B4-BE49-F238E27FC236}">
                <a16:creationId xmlns:a16="http://schemas.microsoft.com/office/drawing/2014/main" id="{AD7E4B40-F95E-47F4-B92E-06AFA2A015FC}"/>
              </a:ext>
            </a:extLst>
          </p:cNvPr>
          <p:cNvGraphicFramePr>
            <a:graphicFrameLocks noGrp="1"/>
          </p:cNvGraphicFramePr>
          <p:nvPr>
            <p:extLst>
              <p:ext uri="{D42A27DB-BD31-4B8C-83A1-F6EECF244321}">
                <p14:modId xmlns:p14="http://schemas.microsoft.com/office/powerpoint/2010/main" val="1157152175"/>
              </p:ext>
            </p:extLst>
          </p:nvPr>
        </p:nvGraphicFramePr>
        <p:xfrm>
          <a:off x="983432" y="1746251"/>
          <a:ext cx="10748320" cy="2816228"/>
        </p:xfrm>
        <a:graphic>
          <a:graphicData uri="http://schemas.openxmlformats.org/drawingml/2006/table">
            <a:tbl>
              <a:tblPr firstRow="1" bandRow="1">
                <a:tableStyleId>{5C22544A-7EE6-4342-B048-85BDC9FD1C3A}</a:tableStyleId>
              </a:tblPr>
              <a:tblGrid>
                <a:gridCol w="565701">
                  <a:extLst>
                    <a:ext uri="{9D8B030D-6E8A-4147-A177-3AD203B41FA5}">
                      <a16:colId xmlns:a16="http://schemas.microsoft.com/office/drawing/2014/main" val="20000"/>
                    </a:ext>
                  </a:extLst>
                </a:gridCol>
                <a:gridCol w="1871165">
                  <a:extLst>
                    <a:ext uri="{9D8B030D-6E8A-4147-A177-3AD203B41FA5}">
                      <a16:colId xmlns:a16="http://schemas.microsoft.com/office/drawing/2014/main" val="20001"/>
                    </a:ext>
                  </a:extLst>
                </a:gridCol>
                <a:gridCol w="3002567">
                  <a:extLst>
                    <a:ext uri="{9D8B030D-6E8A-4147-A177-3AD203B41FA5}">
                      <a16:colId xmlns:a16="http://schemas.microsoft.com/office/drawing/2014/main" val="20002"/>
                    </a:ext>
                  </a:extLst>
                </a:gridCol>
                <a:gridCol w="2393351">
                  <a:extLst>
                    <a:ext uri="{9D8B030D-6E8A-4147-A177-3AD203B41FA5}">
                      <a16:colId xmlns:a16="http://schemas.microsoft.com/office/drawing/2014/main" val="20003"/>
                    </a:ext>
                  </a:extLst>
                </a:gridCol>
                <a:gridCol w="2915536">
                  <a:extLst>
                    <a:ext uri="{9D8B030D-6E8A-4147-A177-3AD203B41FA5}">
                      <a16:colId xmlns:a16="http://schemas.microsoft.com/office/drawing/2014/main" val="20004"/>
                    </a:ext>
                  </a:extLst>
                </a:gridCol>
              </a:tblGrid>
              <a:tr h="664340">
                <a:tc>
                  <a:txBody>
                    <a:bodyPr/>
                    <a:lstStyle/>
                    <a:p>
                      <a:pPr algn="ctr">
                        <a:defRPr sz="1200" b="1">
                          <a:solidFill>
                            <a:srgbClr val="FFFFFF"/>
                          </a:solidFill>
                          <a:latin typeface="Aptos"/>
                        </a:defRPr>
                      </a:pPr>
                      <a:r>
                        <a:rPr sz="1600">
                          <a:latin typeface="Aptos" panose="020B0004020202020204" pitchFamily="34" charset="0"/>
                        </a:rPr>
                        <a:t>S. No.</a:t>
                      </a:r>
                    </a:p>
                  </a:txBody>
                  <a:tcPr marR="73152" marT="54864" anchor="ctr">
                    <a:solidFill>
                      <a:srgbClr val="2A67B0"/>
                    </a:solidFill>
                  </a:tcPr>
                </a:tc>
                <a:tc>
                  <a:txBody>
                    <a:bodyPr/>
                    <a:lstStyle/>
                    <a:p>
                      <a:pPr algn="ctr">
                        <a:defRPr sz="1200" b="1">
                          <a:solidFill>
                            <a:srgbClr val="FFFFFF"/>
                          </a:solidFill>
                          <a:latin typeface="Aptos"/>
                        </a:defRPr>
                      </a:pPr>
                      <a:r>
                        <a:rPr sz="1600" dirty="0">
                          <a:latin typeface="Aptos" panose="020B0004020202020204" pitchFamily="34" charset="0"/>
                        </a:rPr>
                        <a:t>Author(s) &amp; Year</a:t>
                      </a:r>
                    </a:p>
                  </a:txBody>
                  <a:tcPr marR="73152" marT="54864" anchor="ctr">
                    <a:solidFill>
                      <a:srgbClr val="2A67B0"/>
                    </a:solidFill>
                  </a:tcPr>
                </a:tc>
                <a:tc>
                  <a:txBody>
                    <a:bodyPr/>
                    <a:lstStyle/>
                    <a:p>
                      <a:pPr algn="ctr">
                        <a:defRPr sz="1200" b="1">
                          <a:solidFill>
                            <a:srgbClr val="FFFFFF"/>
                          </a:solidFill>
                          <a:latin typeface="Aptos"/>
                        </a:defRPr>
                      </a:pPr>
                      <a:r>
                        <a:rPr sz="1600">
                          <a:latin typeface="Aptos" panose="020B0004020202020204" pitchFamily="34" charset="0"/>
                        </a:rPr>
                        <a:t>Paper Title</a:t>
                      </a:r>
                    </a:p>
                  </a:txBody>
                  <a:tcPr marR="73152" marT="54864" anchor="ctr">
                    <a:solidFill>
                      <a:srgbClr val="2A67B0"/>
                    </a:solidFill>
                  </a:tcPr>
                </a:tc>
                <a:tc>
                  <a:txBody>
                    <a:bodyPr/>
                    <a:lstStyle/>
                    <a:p>
                      <a:pPr algn="ctr">
                        <a:defRPr sz="1200" b="1">
                          <a:solidFill>
                            <a:srgbClr val="FFFFFF"/>
                          </a:solidFill>
                          <a:latin typeface="Aptos"/>
                        </a:defRPr>
                      </a:pPr>
                      <a:r>
                        <a:rPr sz="1600">
                          <a:latin typeface="Aptos" panose="020B0004020202020204" pitchFamily="34" charset="0"/>
                        </a:rPr>
                        <a:t>Methodology / Algorithm</a:t>
                      </a:r>
                    </a:p>
                  </a:txBody>
                  <a:tcPr marR="73152" marT="54864" anchor="ctr">
                    <a:solidFill>
                      <a:srgbClr val="2A67B0"/>
                    </a:solidFill>
                  </a:tcPr>
                </a:tc>
                <a:tc>
                  <a:txBody>
                    <a:bodyPr/>
                    <a:lstStyle/>
                    <a:p>
                      <a:pPr algn="ctr">
                        <a:defRPr sz="1200" b="1">
                          <a:solidFill>
                            <a:srgbClr val="FFFFFF"/>
                          </a:solidFill>
                          <a:latin typeface="Aptos"/>
                        </a:defRPr>
                      </a:pPr>
                      <a:r>
                        <a:rPr sz="1600">
                          <a:latin typeface="Aptos" panose="020B0004020202020204" pitchFamily="34" charset="0"/>
                        </a:rPr>
                        <a:t>Limitations</a:t>
                      </a:r>
                    </a:p>
                  </a:txBody>
                  <a:tcPr marR="73152" marT="54864" anchor="ctr">
                    <a:solidFill>
                      <a:srgbClr val="2A67B0"/>
                    </a:solidFill>
                  </a:tcPr>
                </a:tc>
                <a:extLst>
                  <a:ext uri="{0D108BD9-81ED-4DB2-BD59-A6C34878D82A}">
                    <a16:rowId xmlns:a16="http://schemas.microsoft.com/office/drawing/2014/main" val="10000"/>
                  </a:ext>
                </a:extLst>
              </a:tr>
              <a:tr h="858106">
                <a:tc>
                  <a:txBody>
                    <a:bodyPr/>
                    <a:lstStyle/>
                    <a:p>
                      <a:pPr algn="ctr">
                        <a:defRPr sz="1100" b="0">
                          <a:solidFill>
                            <a:srgbClr val="2D343E"/>
                          </a:solidFill>
                          <a:latin typeface="Aptos"/>
                        </a:defRPr>
                      </a:pPr>
                      <a:r>
                        <a:rPr sz="1600" dirty="0">
                          <a:latin typeface="Aptos" panose="020B0004020202020204" pitchFamily="34" charset="0"/>
                        </a:rPr>
                        <a:t>4</a:t>
                      </a: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Russell and Norvig, 2021</a:t>
                      </a:r>
                      <a:endParaRPr sz="1600" dirty="0">
                        <a:latin typeface="Aptos" panose="020B0004020202020204" pitchFamily="34" charset="0"/>
                      </a:endParaRP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Artificial Intelligence: A Modern Approach</a:t>
                      </a:r>
                      <a:endParaRPr sz="1600" dirty="0">
                        <a:latin typeface="Aptos" panose="020B0004020202020204" pitchFamily="34" charset="0"/>
                      </a:endParaRPr>
                    </a:p>
                  </a:txBody>
                  <a:tcPr marR="73152" marT="54864" anchor="ctr">
                    <a:solidFill>
                      <a:srgbClr val="EBF2FA"/>
                    </a:solidFill>
                  </a:tcPr>
                </a:tc>
                <a:tc>
                  <a:txBody>
                    <a:bodyPr/>
                    <a:lstStyle/>
                    <a:p>
                      <a:pPr>
                        <a:buNone/>
                      </a:pPr>
                      <a:r>
                        <a:rPr lang="en-IN" sz="1600" dirty="0">
                          <a:latin typeface="Aptos" panose="020B0004020202020204" pitchFamily="34" charset="0"/>
                        </a:rPr>
                        <a:t>CSP, Backtracking Search, MRV, LCV, and constraint propagation</a:t>
                      </a:r>
                    </a:p>
                  </a:txBody>
                  <a:tcPr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Provides the theoretical foundation for the implemented classical AI algorithms.</a:t>
                      </a:r>
                      <a:endParaRPr sz="1600" dirty="0">
                        <a:latin typeface="Aptos" panose="020B0004020202020204" pitchFamily="34" charset="0"/>
                      </a:endParaRPr>
                    </a:p>
                  </a:txBody>
                  <a:tcPr marR="73152" marT="54864" anchor="ctr">
                    <a:solidFill>
                      <a:srgbClr val="EBF2FA"/>
                    </a:solidFill>
                  </a:tcPr>
                </a:tc>
                <a:extLst>
                  <a:ext uri="{0D108BD9-81ED-4DB2-BD59-A6C34878D82A}">
                    <a16:rowId xmlns:a16="http://schemas.microsoft.com/office/drawing/2014/main" val="10004"/>
                  </a:ext>
                </a:extLst>
              </a:tr>
              <a:tr h="858106">
                <a:tc>
                  <a:txBody>
                    <a:bodyPr/>
                    <a:lstStyle/>
                    <a:p>
                      <a:pPr algn="ctr">
                        <a:defRPr sz="1100" b="0">
                          <a:solidFill>
                            <a:srgbClr val="2D343E"/>
                          </a:solidFill>
                          <a:latin typeface="Aptos"/>
                        </a:defRPr>
                      </a:pPr>
                      <a:r>
                        <a:rPr lang="en-US" sz="1600" dirty="0">
                          <a:latin typeface="Aptos" panose="020B0004020202020204" pitchFamily="34" charset="0"/>
                        </a:rPr>
                        <a:t>5</a:t>
                      </a:r>
                      <a:endParaRPr sz="1600" dirty="0">
                        <a:latin typeface="Aptos" panose="020B0004020202020204" pitchFamily="34" charset="0"/>
                      </a:endParaRP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err="1">
                          <a:solidFill>
                            <a:srgbClr val="2D343E"/>
                          </a:solidFill>
                          <a:latin typeface="Aptos" panose="020B0004020202020204" pitchFamily="34" charset="0"/>
                          <a:ea typeface="+mn-ea"/>
                          <a:cs typeface="+mn-cs"/>
                        </a:rPr>
                        <a:t>Schaerf</a:t>
                      </a:r>
                      <a:r>
                        <a:rPr lang="en-IN" sz="1600" b="0" kern="1200" dirty="0">
                          <a:solidFill>
                            <a:srgbClr val="2D343E"/>
                          </a:solidFill>
                          <a:latin typeface="Aptos" panose="020B0004020202020204" pitchFamily="34" charset="0"/>
                          <a:ea typeface="+mn-ea"/>
                          <a:cs typeface="+mn-cs"/>
                        </a:rPr>
                        <a:t>, 1999</a:t>
                      </a:r>
                      <a:endParaRPr sz="1600" dirty="0">
                        <a:latin typeface="Aptos" panose="020B0004020202020204" pitchFamily="34" charset="0"/>
                      </a:endParaRPr>
                    </a:p>
                  </a:txBody>
                  <a:tcPr marR="73152" marT="54864" anchor="ctr">
                    <a:solidFill>
                      <a:srgbClr val="EBF2FA"/>
                    </a:solidFill>
                  </a:tcPr>
                </a:tc>
                <a:tc>
                  <a:txBody>
                    <a:bodyPr/>
                    <a:lstStyle/>
                    <a:p>
                      <a:pPr>
                        <a:buNone/>
                      </a:pPr>
                      <a:r>
                        <a:rPr lang="en-IN" sz="1600" dirty="0">
                          <a:latin typeface="Aptos" panose="020B0004020202020204" pitchFamily="34" charset="0"/>
                        </a:rPr>
                        <a:t>A Survey of Automated Timetabling</a:t>
                      </a:r>
                    </a:p>
                  </a:txBody>
                  <a:tcPr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Review of automated timetabling methods and scheduling approaches</a:t>
                      </a:r>
                      <a:endParaRPr sz="1600" dirty="0">
                        <a:latin typeface="Aptos" panose="020B0004020202020204" pitchFamily="34" charset="0"/>
                      </a:endParaRPr>
                    </a:p>
                  </a:txBody>
                  <a:tcPr marR="73152" marT="54864" anchor="ctr">
                    <a:solidFill>
                      <a:srgbClr val="EBF2FA"/>
                    </a:solidFill>
                  </a:tcPr>
                </a:tc>
                <a:tc>
                  <a:txBody>
                    <a:bodyPr/>
                    <a:lstStyle/>
                    <a:p>
                      <a:pPr algn="l">
                        <a:defRPr sz="1100" b="0">
                          <a:solidFill>
                            <a:srgbClr val="2D343E"/>
                          </a:solidFill>
                          <a:latin typeface="Aptos"/>
                        </a:defRPr>
                      </a:pPr>
                      <a:r>
                        <a:rPr lang="en-IN" sz="1600" b="0" kern="1200" dirty="0">
                          <a:solidFill>
                            <a:srgbClr val="2D343E"/>
                          </a:solidFill>
                          <a:latin typeface="Aptos" panose="020B0004020202020204" pitchFamily="34" charset="0"/>
                          <a:ea typeface="+mn-ea"/>
                          <a:cs typeface="+mn-cs"/>
                        </a:rPr>
                        <a:t>Establishes the challenges and constraints involved in automated timetable generation</a:t>
                      </a:r>
                      <a:endParaRPr sz="1600" dirty="0">
                        <a:latin typeface="Aptos" panose="020B0004020202020204" pitchFamily="34" charset="0"/>
                      </a:endParaRPr>
                    </a:p>
                  </a:txBody>
                  <a:tcPr marR="73152" marT="54864" anchor="ctr">
                    <a:solidFill>
                      <a:srgbClr val="EBF2FA"/>
                    </a:solidFill>
                  </a:tcPr>
                </a:tc>
                <a:extLst>
                  <a:ext uri="{0D108BD9-81ED-4DB2-BD59-A6C34878D82A}">
                    <a16:rowId xmlns:a16="http://schemas.microsoft.com/office/drawing/2014/main" val="2742916463"/>
                  </a:ext>
                </a:extLst>
              </a:tr>
            </a:tbl>
          </a:graphicData>
        </a:graphic>
      </p:graphicFrame>
    </p:spTree>
    <p:extLst>
      <p:ext uri="{BB962C8B-B14F-4D97-AF65-F5344CB8AC3E}">
        <p14:creationId xmlns:p14="http://schemas.microsoft.com/office/powerpoint/2010/main" val="424219530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66233" y="304801"/>
            <a:ext cx="10668000" cy="1216025"/>
          </a:xfrm>
        </p:spPr>
        <p:txBody>
          <a:bodyPr/>
          <a:lstStyle/>
          <a:p>
            <a:pPr algn="ctr"/>
            <a:r>
              <a:rPr lang="en-US" sz="3200" b="1" dirty="0">
                <a:solidFill>
                  <a:srgbClr val="FF0000"/>
                </a:solidFill>
              </a:rPr>
              <a:t> </a:t>
            </a:r>
            <a:r>
              <a:rPr lang="en-IN" sz="3200" b="1" dirty="0">
                <a:solidFill>
                  <a:srgbClr val="FF0000"/>
                </a:solidFill>
              </a:rPr>
              <a:t>RESEARCH GAP / EXISTING SYSTEM</a:t>
            </a: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11</a:t>
            </a:fld>
            <a:endParaRPr lang="en-IN"/>
          </a:p>
        </p:txBody>
      </p:sp>
      <p:sp>
        <p:nvSpPr>
          <p:cNvPr id="20" name="Rounded Rectangle 3">
            <a:extLst>
              <a:ext uri="{FF2B5EF4-FFF2-40B4-BE49-F238E27FC236}">
                <a16:creationId xmlns:a16="http://schemas.microsoft.com/office/drawing/2014/main" id="{F4FE7899-24E6-401C-9D46-CFAA1E243809}"/>
              </a:ext>
            </a:extLst>
          </p:cNvPr>
          <p:cNvSpPr>
            <a:spLocks noGrp="1"/>
          </p:cNvSpPr>
          <p:nvPr>
            <p:ph idx="1"/>
          </p:nvPr>
        </p:nvSpPr>
        <p:spPr>
          <a:xfrm>
            <a:off x="755650" y="1752600"/>
            <a:ext cx="4980310" cy="4340696"/>
          </a:xfrm>
          <a:prstGeom prst="roundRect">
            <a:avLst/>
          </a:prstGeom>
          <a:solidFill>
            <a:srgbClr val="EBF2FA"/>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marL="0" indent="0" algn="ctr">
              <a:buNone/>
            </a:pPr>
            <a:r>
              <a:rPr lang="en-IN" sz="1800" b="1" dirty="0">
                <a:solidFill>
                  <a:schemeClr val="tx1"/>
                </a:solidFill>
                <a:latin typeface="Aptos" panose="020B0004020202020204" pitchFamily="34" charset="0"/>
              </a:rPr>
              <a:t>  1. Existing Systems</a:t>
            </a:r>
          </a:p>
          <a:p>
            <a:pPr lvl="0"/>
            <a:r>
              <a:rPr lang="en-IN" sz="1800" dirty="0">
                <a:solidFill>
                  <a:schemeClr val="tx1"/>
                </a:solidFill>
                <a:latin typeface="Aptos" panose="020B0004020202020204" pitchFamily="34" charset="0"/>
              </a:rPr>
              <a:t>Manual timetable preparation requires significant administrative effort. </a:t>
            </a:r>
          </a:p>
          <a:p>
            <a:pPr lvl="0"/>
            <a:r>
              <a:rPr lang="en-IN" sz="1800" dirty="0">
                <a:solidFill>
                  <a:schemeClr val="tx1"/>
                </a:solidFill>
                <a:latin typeface="Aptos" panose="020B0004020202020204" pitchFamily="34" charset="0"/>
              </a:rPr>
              <a:t>Conventional automated systems use scheduling algorithms to allocate classes to available time slots. </a:t>
            </a:r>
          </a:p>
          <a:p>
            <a:pPr lvl="0"/>
            <a:r>
              <a:rPr lang="en-IN" sz="1800" dirty="0">
                <a:solidFill>
                  <a:schemeClr val="tx1"/>
                </a:solidFill>
                <a:latin typeface="Aptos" panose="020B0004020202020204" pitchFamily="34" charset="0"/>
              </a:rPr>
              <a:t>CSP provides a systematic approach to representing scheduling variables, domains, and constraints. </a:t>
            </a:r>
          </a:p>
          <a:p>
            <a:pPr lvl="0"/>
            <a:r>
              <a:rPr lang="en-IN" sz="1800" dirty="0">
                <a:solidFill>
                  <a:schemeClr val="tx1"/>
                </a:solidFill>
                <a:latin typeface="Aptos" panose="020B0004020202020204" pitchFamily="34" charset="0"/>
              </a:rPr>
              <a:t>Faculty availability and classroom capacity influence timetable feasibility.</a:t>
            </a:r>
          </a:p>
          <a:p>
            <a:pPr>
              <a:spcBef>
                <a:spcPts val="200"/>
              </a:spcBef>
              <a:defRPr sz="1300">
                <a:solidFill>
                  <a:srgbClr val="2D343E"/>
                </a:solidFill>
                <a:latin typeface="Aptos"/>
              </a:defRPr>
            </a:pPr>
            <a:endParaRPr lang="en-US" dirty="0">
              <a:solidFill>
                <a:schemeClr val="tx1"/>
              </a:solidFill>
              <a:latin typeface="Aptos" panose="020B0004020202020204" pitchFamily="34" charset="0"/>
            </a:endParaRPr>
          </a:p>
        </p:txBody>
      </p:sp>
      <p:sp>
        <p:nvSpPr>
          <p:cNvPr id="21" name="Rounded Rectangle 4">
            <a:extLst>
              <a:ext uri="{FF2B5EF4-FFF2-40B4-BE49-F238E27FC236}">
                <a16:creationId xmlns:a16="http://schemas.microsoft.com/office/drawing/2014/main" id="{FF66DAF5-0B91-4093-BD89-5CE7615E431A}"/>
              </a:ext>
            </a:extLst>
          </p:cNvPr>
          <p:cNvSpPr/>
          <p:nvPr/>
        </p:nvSpPr>
        <p:spPr>
          <a:xfrm>
            <a:off x="6240016" y="1752600"/>
            <a:ext cx="5452872" cy="4340695"/>
          </a:xfrm>
          <a:prstGeom prst="roundRect">
            <a:avLst/>
          </a:prstGeom>
          <a:solidFill>
            <a:srgbClr val="F7F9FC"/>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r>
              <a:rPr lang="en-IN" b="1" dirty="0">
                <a:solidFill>
                  <a:schemeClr val="tx1"/>
                </a:solidFill>
                <a:latin typeface="Aptos" panose="020B0004020202020204" pitchFamily="34" charset="0"/>
              </a:rPr>
              <a:t>                                 2. Limitations</a:t>
            </a:r>
          </a:p>
          <a:p>
            <a:pPr marL="285750" lvl="0" indent="-285750">
              <a:buFont typeface="Wingdings" panose="05000000000000000000" pitchFamily="2" charset="2"/>
              <a:buChar char="q"/>
            </a:pPr>
            <a:r>
              <a:rPr lang="en-IN" dirty="0">
                <a:solidFill>
                  <a:schemeClr val="tx1"/>
                </a:solidFill>
                <a:latin typeface="Aptos" panose="020B0004020202020204" pitchFamily="34" charset="0"/>
              </a:rPr>
              <a:t>Manual scheduling is susceptible to conflicts and human error. </a:t>
            </a:r>
          </a:p>
          <a:p>
            <a:pPr marL="285750" lvl="0" indent="-285750">
              <a:buFont typeface="Wingdings" panose="05000000000000000000" pitchFamily="2" charset="2"/>
              <a:buChar char="q"/>
            </a:pPr>
            <a:r>
              <a:rPr lang="en-IN" dirty="0">
                <a:solidFill>
                  <a:schemeClr val="tx1"/>
                </a:solidFill>
                <a:latin typeface="Aptos" panose="020B0004020202020204" pitchFamily="34" charset="0"/>
              </a:rPr>
              <a:t>Changes in faculty availability may require multiple timetable modifications. </a:t>
            </a:r>
          </a:p>
          <a:p>
            <a:pPr marL="285750" lvl="0" indent="-285750">
              <a:buFont typeface="Wingdings" panose="05000000000000000000" pitchFamily="2" charset="2"/>
              <a:buChar char="q"/>
            </a:pPr>
            <a:r>
              <a:rPr lang="en-IN" dirty="0">
                <a:solidFill>
                  <a:schemeClr val="tx1"/>
                </a:solidFill>
                <a:latin typeface="Aptos" panose="020B0004020202020204" pitchFamily="34" charset="0"/>
              </a:rPr>
              <a:t>Regenerating an entire timetable can unnecessarily affect previously valid assignments. </a:t>
            </a:r>
          </a:p>
          <a:p>
            <a:pPr marL="285750" lvl="0" indent="-285750">
              <a:buFont typeface="Wingdings" panose="05000000000000000000" pitchFamily="2" charset="2"/>
              <a:buChar char="q"/>
            </a:pPr>
            <a:r>
              <a:rPr lang="en-IN" dirty="0">
                <a:solidFill>
                  <a:schemeClr val="tx1"/>
                </a:solidFill>
                <a:latin typeface="Aptos" panose="020B0004020202020204" pitchFamily="34" charset="0"/>
              </a:rPr>
              <a:t>Maintaining timetable stability while satisfying new constraints remains an important scheduling challenge.</a:t>
            </a:r>
          </a:p>
          <a:p>
            <a:pPr marL="285750" indent="-285750">
              <a:spcBef>
                <a:spcPts val="200"/>
              </a:spcBef>
              <a:buFont typeface="Courier New" panose="02070309020205020404" pitchFamily="49" charset="0"/>
              <a:buChar char="o"/>
              <a:defRPr sz="1300">
                <a:solidFill>
                  <a:srgbClr val="2D343E"/>
                </a:solidFill>
                <a:latin typeface="Aptos"/>
              </a:defRPr>
            </a:pPr>
            <a:endParaRPr dirty="0">
              <a:solidFill>
                <a:schemeClr val="tx1"/>
              </a:solidFill>
              <a:latin typeface="Aptos" panose="020B0004020202020204" pitchFamily="34" charset="0"/>
            </a:endParaRPr>
          </a:p>
        </p:txBody>
      </p:sp>
    </p:spTree>
    <p:extLst>
      <p:ext uri="{BB962C8B-B14F-4D97-AF65-F5344CB8AC3E}">
        <p14:creationId xmlns:p14="http://schemas.microsoft.com/office/powerpoint/2010/main" val="46315084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99875F-5AE9-D254-9D48-01E71444CF8A}"/>
              </a:ext>
            </a:extLst>
          </p:cNvPr>
          <p:cNvSpPr>
            <a:spLocks noGrp="1"/>
          </p:cNvSpPr>
          <p:nvPr>
            <p:ph type="sldNum" sz="quarter" idx="12"/>
          </p:nvPr>
        </p:nvSpPr>
        <p:spPr/>
        <p:txBody>
          <a:bodyPr/>
          <a:lstStyle/>
          <a:p>
            <a:pPr>
              <a:defRPr/>
            </a:pPr>
            <a:fld id="{DD537315-F462-4C74-88B4-A900525A3FAA}" type="slidenum">
              <a:rPr lang="en-US" altLang="en-US" smtClean="0"/>
              <a:pPr>
                <a:defRPr/>
              </a:pPr>
              <a:t>12</a:t>
            </a:fld>
            <a:endParaRPr lang="en-US" altLang="en-US"/>
          </a:p>
        </p:txBody>
      </p:sp>
      <p:sp>
        <p:nvSpPr>
          <p:cNvPr id="6" name="Rounded Rectangle 5">
            <a:extLst>
              <a:ext uri="{FF2B5EF4-FFF2-40B4-BE49-F238E27FC236}">
                <a16:creationId xmlns:a16="http://schemas.microsoft.com/office/drawing/2014/main" id="{2E303D48-C677-9DF8-B6BB-EF3AACC7CFF8}"/>
              </a:ext>
            </a:extLst>
          </p:cNvPr>
          <p:cNvSpPr/>
          <p:nvPr/>
        </p:nvSpPr>
        <p:spPr>
          <a:xfrm>
            <a:off x="812800" y="1812777"/>
            <a:ext cx="5237981" cy="2520280"/>
          </a:xfrm>
          <a:prstGeom prst="roundRect">
            <a:avLst/>
          </a:prstGeom>
          <a:solidFill>
            <a:srgbClr val="EBF2FA"/>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algn="ctr"/>
            <a:r>
              <a:rPr lang="en-IN" b="1" dirty="0">
                <a:solidFill>
                  <a:schemeClr val="tx1"/>
                </a:solidFill>
              </a:rPr>
              <a:t>3. Research Gap</a:t>
            </a:r>
          </a:p>
          <a:p>
            <a:pPr marL="285750" indent="-285750">
              <a:buFont typeface="Wingdings" panose="05000000000000000000" pitchFamily="2" charset="2"/>
              <a:buChar char="q"/>
            </a:pPr>
            <a:r>
              <a:rPr lang="en-IN" dirty="0">
                <a:solidFill>
                  <a:schemeClr val="tx1"/>
                </a:solidFill>
              </a:rPr>
              <a:t>There is an opportunity to develop a timetable system that combines CSP-based scheduling with </a:t>
            </a:r>
            <a:r>
              <a:rPr lang="en-IN" b="1" dirty="0">
                <a:solidFill>
                  <a:schemeClr val="tx1"/>
                </a:solidFill>
              </a:rPr>
              <a:t>selective rescheduling of affected classes</a:t>
            </a:r>
            <a:r>
              <a:rPr lang="en-IN" dirty="0">
                <a:solidFill>
                  <a:schemeClr val="tx1"/>
                </a:solidFill>
              </a:rPr>
              <a:t>, reducing unnecessary changes to the existing timetable.</a:t>
            </a:r>
          </a:p>
        </p:txBody>
      </p:sp>
      <p:sp>
        <p:nvSpPr>
          <p:cNvPr id="8" name="Rounded Rectangle 6">
            <a:extLst>
              <a:ext uri="{FF2B5EF4-FFF2-40B4-BE49-F238E27FC236}">
                <a16:creationId xmlns:a16="http://schemas.microsoft.com/office/drawing/2014/main" id="{4EBFB88C-768F-119D-CFB1-9A42EE2FDC41}"/>
              </a:ext>
            </a:extLst>
          </p:cNvPr>
          <p:cNvSpPr/>
          <p:nvPr/>
        </p:nvSpPr>
        <p:spPr>
          <a:xfrm>
            <a:off x="6199633" y="1700808"/>
            <a:ext cx="5349240" cy="4032448"/>
          </a:xfrm>
          <a:prstGeom prst="roundRect">
            <a:avLst/>
          </a:prstGeom>
          <a:solidFill>
            <a:srgbClr val="F7F9FC"/>
          </a:solidFill>
          <a:ln>
            <a:solidFill>
              <a:srgbClr val="CDDAEB"/>
            </a:solidFill>
          </a:ln>
        </p:spPr>
        <p:style>
          <a:lnRef idx="1">
            <a:schemeClr val="accent1"/>
          </a:lnRef>
          <a:fillRef idx="3">
            <a:schemeClr val="accent1"/>
          </a:fillRef>
          <a:effectRef idx="2">
            <a:schemeClr val="accent1"/>
          </a:effectRef>
          <a:fontRef idx="minor">
            <a:schemeClr val="lt1"/>
          </a:fontRef>
        </p:style>
        <p:txBody>
          <a:bodyPr lIns="201168" tIns="146304" rIns="164592" rtlCol="0" anchor="ctr"/>
          <a:lstStyle/>
          <a:p>
            <a:pPr algn="ctr"/>
            <a:r>
              <a:rPr lang="en-US" dirty="0">
                <a:solidFill>
                  <a:schemeClr val="tx1"/>
                </a:solidFill>
              </a:rPr>
              <a:t> </a:t>
            </a:r>
            <a:r>
              <a:rPr lang="en-IN" b="1" dirty="0">
                <a:solidFill>
                  <a:schemeClr val="tx1"/>
                </a:solidFill>
              </a:rPr>
              <a:t>4. Proposed Solution</a:t>
            </a:r>
          </a:p>
          <a:p>
            <a:pPr marL="285750" lvl="0" indent="-285750">
              <a:buFont typeface="Wingdings" panose="05000000000000000000" pitchFamily="2" charset="2"/>
              <a:buChar char="q"/>
            </a:pPr>
            <a:r>
              <a:rPr lang="en-IN" dirty="0">
                <a:solidFill>
                  <a:schemeClr val="tx1"/>
                </a:solidFill>
              </a:rPr>
              <a:t>Formulate timetable generation as a CSP. </a:t>
            </a:r>
          </a:p>
          <a:p>
            <a:pPr marL="285750" lvl="0" indent="-285750">
              <a:buFont typeface="Wingdings" panose="05000000000000000000" pitchFamily="2" charset="2"/>
              <a:buChar char="q"/>
            </a:pPr>
            <a:r>
              <a:rPr lang="en-IN" dirty="0">
                <a:solidFill>
                  <a:schemeClr val="tx1"/>
                </a:solidFill>
              </a:rPr>
              <a:t>Apply Backtracking Search and search heuristics. </a:t>
            </a:r>
          </a:p>
          <a:p>
            <a:pPr marL="285750" lvl="0" indent="-285750">
              <a:buFont typeface="Wingdings" panose="05000000000000000000" pitchFamily="2" charset="2"/>
              <a:buChar char="q"/>
            </a:pPr>
            <a:r>
              <a:rPr lang="en-IN" dirty="0">
                <a:solidFill>
                  <a:schemeClr val="tx1"/>
                </a:solidFill>
              </a:rPr>
              <a:t>Identify assignments affected by faculty leave. </a:t>
            </a:r>
          </a:p>
          <a:p>
            <a:pPr marL="285750" lvl="0" indent="-285750">
              <a:buFont typeface="Wingdings" panose="05000000000000000000" pitchFamily="2" charset="2"/>
              <a:buChar char="q"/>
            </a:pPr>
            <a:r>
              <a:rPr lang="en-IN" dirty="0">
                <a:solidFill>
                  <a:schemeClr val="tx1"/>
                </a:solidFill>
              </a:rPr>
              <a:t>Check for a qualified substitute before rescheduling. </a:t>
            </a:r>
          </a:p>
          <a:p>
            <a:pPr marL="285750" lvl="0" indent="-285750">
              <a:buFont typeface="Wingdings" panose="05000000000000000000" pitchFamily="2" charset="2"/>
              <a:buChar char="q"/>
            </a:pPr>
            <a:r>
              <a:rPr lang="en-IN" dirty="0">
                <a:solidFill>
                  <a:schemeClr val="tx1"/>
                </a:solidFill>
              </a:rPr>
              <a:t>Use CSP to find a valid alternative for affected classes. </a:t>
            </a:r>
          </a:p>
          <a:p>
            <a:pPr marL="285750" lvl="0" indent="-285750">
              <a:buFont typeface="Wingdings" panose="05000000000000000000" pitchFamily="2" charset="2"/>
              <a:buChar char="q"/>
            </a:pPr>
            <a:r>
              <a:rPr lang="en-IN" dirty="0">
                <a:solidFill>
                  <a:schemeClr val="tx1"/>
                </a:solidFill>
              </a:rPr>
              <a:t>Preserve unaffected assignments whenever possible.</a:t>
            </a:r>
          </a:p>
          <a:p>
            <a:pPr marL="285750" indent="-285750">
              <a:spcBef>
                <a:spcPts val="200"/>
              </a:spcBef>
              <a:buFont typeface="Wingdings" panose="05000000000000000000" pitchFamily="2" charset="2"/>
              <a:buChar char="q"/>
              <a:defRPr sz="1300">
                <a:solidFill>
                  <a:srgbClr val="2D343E"/>
                </a:solidFill>
                <a:latin typeface="Aptos"/>
              </a:defRPr>
            </a:pPr>
            <a:endParaRPr dirty="0">
              <a:solidFill>
                <a:schemeClr val="tx1"/>
              </a:solidFill>
            </a:endParaRPr>
          </a:p>
        </p:txBody>
      </p:sp>
      <p:sp>
        <p:nvSpPr>
          <p:cNvPr id="9" name="TextBox 8">
            <a:extLst>
              <a:ext uri="{FF2B5EF4-FFF2-40B4-BE49-F238E27FC236}">
                <a16:creationId xmlns:a16="http://schemas.microsoft.com/office/drawing/2014/main" id="{80D0C7C6-82FF-6841-4AAD-89AE295269C7}"/>
              </a:ext>
            </a:extLst>
          </p:cNvPr>
          <p:cNvSpPr txBox="1"/>
          <p:nvPr/>
        </p:nvSpPr>
        <p:spPr>
          <a:xfrm>
            <a:off x="1992086" y="5236029"/>
            <a:ext cx="184731" cy="369332"/>
          </a:xfrm>
          <a:prstGeom prst="rect">
            <a:avLst/>
          </a:prstGeom>
          <a:noFill/>
        </p:spPr>
        <p:txBody>
          <a:bodyPr wrap="none" rtlCol="0">
            <a:spAutoFit/>
          </a:bodyPr>
          <a:lstStyle/>
          <a:p>
            <a:endParaRPr lang="en-IN" dirty="0"/>
          </a:p>
        </p:txBody>
      </p:sp>
      <p:sp>
        <p:nvSpPr>
          <p:cNvPr id="10" name="TextBox 9">
            <a:extLst>
              <a:ext uri="{FF2B5EF4-FFF2-40B4-BE49-F238E27FC236}">
                <a16:creationId xmlns:a16="http://schemas.microsoft.com/office/drawing/2014/main" id="{E2AF2C76-24C6-BAAC-F17B-BACAA17288E8}"/>
              </a:ext>
            </a:extLst>
          </p:cNvPr>
          <p:cNvSpPr txBox="1"/>
          <p:nvPr/>
        </p:nvSpPr>
        <p:spPr>
          <a:xfrm>
            <a:off x="812800" y="696686"/>
            <a:ext cx="10736073" cy="584775"/>
          </a:xfrm>
          <a:prstGeom prst="rect">
            <a:avLst/>
          </a:prstGeom>
          <a:noFill/>
        </p:spPr>
        <p:txBody>
          <a:bodyPr wrap="square" rtlCol="0">
            <a:spAutoFit/>
          </a:bodyPr>
          <a:lstStyle/>
          <a:p>
            <a:pPr algn="ctr"/>
            <a:r>
              <a:rPr lang="en-IN" sz="3200" b="1" dirty="0">
                <a:solidFill>
                  <a:srgbClr val="FF0000"/>
                </a:solidFill>
                <a:latin typeface="+mj-lt"/>
              </a:rPr>
              <a:t>RESEARCH GAP / EXISTING SYSTEM</a:t>
            </a:r>
          </a:p>
        </p:txBody>
      </p:sp>
    </p:spTree>
    <p:extLst>
      <p:ext uri="{BB962C8B-B14F-4D97-AF65-F5344CB8AC3E}">
        <p14:creationId xmlns:p14="http://schemas.microsoft.com/office/powerpoint/2010/main" val="1016145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US" sz="3200" b="1" dirty="0">
                <a:solidFill>
                  <a:srgbClr val="FF0000"/>
                </a:solidFill>
              </a:rPr>
              <a:t>Proposed System</a:t>
            </a:r>
            <a:endParaRPr lang="en-IN" sz="3200" b="1" dirty="0">
              <a:solidFill>
                <a:srgbClr val="FF0000"/>
              </a:solidFill>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p:txBody>
          <a:bodyPr/>
          <a:lstStyle/>
          <a:p>
            <a:pPr marL="0" indent="0">
              <a:buNone/>
            </a:pPr>
            <a:r>
              <a:rPr lang="en-IN" sz="2400" b="1" dirty="0"/>
              <a:t>Proposed System Overview</a:t>
            </a:r>
          </a:p>
          <a:p>
            <a:pPr marL="0" indent="0" algn="just">
              <a:buNone/>
            </a:pPr>
            <a:r>
              <a:rPr lang="en-IN" sz="2400" dirty="0"/>
              <a:t>	The proposed system automatically generates university timetables using classical Artificial Intelligence techniques and adapts schedules when faculty availability changes.</a:t>
            </a:r>
          </a:p>
          <a:p>
            <a:pPr marL="0" indent="0">
              <a:buNone/>
            </a:pPr>
            <a:r>
              <a:rPr lang="en-IN" sz="2400" b="1" dirty="0"/>
              <a:t>Major Components</a:t>
            </a:r>
          </a:p>
          <a:p>
            <a:pPr marL="0" indent="0">
              <a:buNone/>
            </a:pPr>
            <a:r>
              <a:rPr lang="en-IN" sz="2400" b="1" dirty="0"/>
              <a:t>1. User Management</a:t>
            </a:r>
            <a:endParaRPr lang="en-IN" sz="2400" dirty="0"/>
          </a:p>
          <a:p>
            <a:pPr lvl="0"/>
            <a:r>
              <a:rPr lang="en-IN" sz="2400" dirty="0"/>
              <a:t>Administrator, faculty, and student interfaces. </a:t>
            </a:r>
          </a:p>
          <a:p>
            <a:pPr lvl="0"/>
            <a:r>
              <a:rPr lang="en-IN" sz="2400" dirty="0"/>
              <a:t>Role-specific access to timetable functions. </a:t>
            </a:r>
          </a:p>
          <a:p>
            <a:pPr marL="0" indent="0">
              <a:buNone/>
            </a:pPr>
            <a:r>
              <a:rPr lang="en-IN" sz="2400" b="1" dirty="0"/>
              <a:t>2. Timetable Management</a:t>
            </a:r>
            <a:endParaRPr lang="en-IN" sz="2400" dirty="0"/>
          </a:p>
          <a:p>
            <a:pPr lvl="0"/>
            <a:r>
              <a:rPr lang="en-IN" sz="2400" dirty="0"/>
              <a:t>Manages departments, sections, subjects, faculty, rooms, and constraints. </a:t>
            </a:r>
          </a:p>
          <a:p>
            <a:pPr marL="0" indent="0">
              <a:buNone/>
            </a:pPr>
            <a:endParaRPr sz="24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13</a:t>
            </a:fld>
            <a:endParaRPr lang="en-IN"/>
          </a:p>
        </p:txBody>
      </p:sp>
    </p:spTree>
    <p:extLst>
      <p:ext uri="{BB962C8B-B14F-4D97-AF65-F5344CB8AC3E}">
        <p14:creationId xmlns:p14="http://schemas.microsoft.com/office/powerpoint/2010/main" val="183967786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C5D4F-DA73-E10B-6C64-7AEF14580D9D}"/>
              </a:ext>
            </a:extLst>
          </p:cNvPr>
          <p:cNvSpPr>
            <a:spLocks noGrp="1"/>
          </p:cNvSpPr>
          <p:nvPr>
            <p:ph type="title"/>
          </p:nvPr>
        </p:nvSpPr>
        <p:spPr/>
        <p:txBody>
          <a:bodyPr/>
          <a:lstStyle/>
          <a:p>
            <a:pPr algn="ctr"/>
            <a:r>
              <a:rPr lang="en-US" sz="3200" b="1" dirty="0">
                <a:solidFill>
                  <a:srgbClr val="FF0000"/>
                </a:solidFill>
              </a:rPr>
              <a:t>Proposed System</a:t>
            </a:r>
            <a:endParaRPr lang="en-IN" sz="3200" dirty="0"/>
          </a:p>
        </p:txBody>
      </p:sp>
      <p:sp>
        <p:nvSpPr>
          <p:cNvPr id="3" name="Content Placeholder 2">
            <a:extLst>
              <a:ext uri="{FF2B5EF4-FFF2-40B4-BE49-F238E27FC236}">
                <a16:creationId xmlns:a16="http://schemas.microsoft.com/office/drawing/2014/main" id="{216822A1-B6C5-1106-84BD-423F618E25DE}"/>
              </a:ext>
            </a:extLst>
          </p:cNvPr>
          <p:cNvSpPr>
            <a:spLocks noGrp="1"/>
          </p:cNvSpPr>
          <p:nvPr>
            <p:ph idx="1"/>
          </p:nvPr>
        </p:nvSpPr>
        <p:spPr/>
        <p:txBody>
          <a:bodyPr/>
          <a:lstStyle/>
          <a:p>
            <a:pPr lvl="0"/>
            <a:r>
              <a:rPr lang="en-IN" sz="2400" dirty="0"/>
              <a:t>Collects scheduling information required for timetable generation. </a:t>
            </a:r>
          </a:p>
          <a:p>
            <a:pPr marL="0" indent="0">
              <a:buNone/>
            </a:pPr>
            <a:r>
              <a:rPr lang="en-IN" sz="2400" b="1" dirty="0"/>
              <a:t>3. CSP-Based Timetable Generator</a:t>
            </a:r>
            <a:endParaRPr lang="en-IN" sz="2400" dirty="0"/>
          </a:p>
          <a:p>
            <a:pPr lvl="0"/>
            <a:r>
              <a:rPr lang="en-IN" sz="2400" dirty="0"/>
              <a:t>Represents class sessions as variables. </a:t>
            </a:r>
          </a:p>
          <a:p>
            <a:pPr lvl="0"/>
            <a:r>
              <a:rPr lang="en-IN" sz="2400" dirty="0"/>
              <a:t>Defines valid day–period–room combinations as domains. </a:t>
            </a:r>
          </a:p>
          <a:p>
            <a:pPr lvl="0"/>
            <a:r>
              <a:rPr lang="en-IN" sz="2400" dirty="0"/>
              <a:t>Enforces faculty, section, room, and laboratory constraints. </a:t>
            </a:r>
          </a:p>
          <a:p>
            <a:pPr lvl="0"/>
            <a:r>
              <a:rPr lang="en-IN" sz="2400" dirty="0"/>
              <a:t>Uses Backtracking Search, MRV, LCV, and Forward Checking. </a:t>
            </a:r>
          </a:p>
          <a:p>
            <a:pPr marL="0" indent="0">
              <a:buNone/>
            </a:pPr>
            <a:r>
              <a:rPr lang="en-IN" sz="2400" b="1" dirty="0"/>
              <a:t>4. Adaptive Rescheduling</a:t>
            </a:r>
            <a:endParaRPr lang="en-IN" sz="2400" dirty="0"/>
          </a:p>
          <a:p>
            <a:pPr lvl="0"/>
            <a:r>
              <a:rPr lang="en-IN" sz="2400" dirty="0"/>
              <a:t>Processes faculty leave requests. </a:t>
            </a:r>
          </a:p>
          <a:p>
            <a:pPr lvl="0"/>
            <a:r>
              <a:rPr lang="en-IN" sz="2400" dirty="0"/>
              <a:t>Identifies affected assignments. </a:t>
            </a:r>
          </a:p>
        </p:txBody>
      </p:sp>
      <p:sp>
        <p:nvSpPr>
          <p:cNvPr id="6" name="Slide Number Placeholder 5">
            <a:extLst>
              <a:ext uri="{FF2B5EF4-FFF2-40B4-BE49-F238E27FC236}">
                <a16:creationId xmlns:a16="http://schemas.microsoft.com/office/drawing/2014/main" id="{1AF6E130-1730-AF93-2B2F-8028B56B8659}"/>
              </a:ext>
            </a:extLst>
          </p:cNvPr>
          <p:cNvSpPr>
            <a:spLocks noGrp="1"/>
          </p:cNvSpPr>
          <p:nvPr>
            <p:ph type="sldNum" sz="quarter" idx="12"/>
          </p:nvPr>
        </p:nvSpPr>
        <p:spPr/>
        <p:txBody>
          <a:bodyPr/>
          <a:lstStyle/>
          <a:p>
            <a:pPr>
              <a:defRPr/>
            </a:pPr>
            <a:fld id="{BDC2143B-610F-499C-A392-DFFBE135A7B2}" type="slidenum">
              <a:rPr lang="en-US" altLang="en-US" smtClean="0"/>
              <a:pPr>
                <a:defRPr/>
              </a:pPr>
              <a:t>14</a:t>
            </a:fld>
            <a:endParaRPr lang="en-US" altLang="en-US"/>
          </a:p>
        </p:txBody>
      </p:sp>
    </p:spTree>
    <p:extLst>
      <p:ext uri="{BB962C8B-B14F-4D97-AF65-F5344CB8AC3E}">
        <p14:creationId xmlns:p14="http://schemas.microsoft.com/office/powerpoint/2010/main" val="947363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329A-D380-5DEF-47FA-041D4CA503FE}"/>
              </a:ext>
            </a:extLst>
          </p:cNvPr>
          <p:cNvSpPr>
            <a:spLocks noGrp="1"/>
          </p:cNvSpPr>
          <p:nvPr>
            <p:ph type="title"/>
          </p:nvPr>
        </p:nvSpPr>
        <p:spPr/>
        <p:txBody>
          <a:bodyPr/>
          <a:lstStyle/>
          <a:p>
            <a:pPr algn="ctr"/>
            <a:r>
              <a:rPr lang="en-US" sz="3200" b="1" dirty="0">
                <a:solidFill>
                  <a:srgbClr val="FF0000"/>
                </a:solidFill>
              </a:rPr>
              <a:t> Proposed System</a:t>
            </a:r>
            <a:endParaRPr lang="en-IN" sz="3200" dirty="0"/>
          </a:p>
        </p:txBody>
      </p:sp>
      <p:sp>
        <p:nvSpPr>
          <p:cNvPr id="3" name="Content Placeholder 2">
            <a:extLst>
              <a:ext uri="{FF2B5EF4-FFF2-40B4-BE49-F238E27FC236}">
                <a16:creationId xmlns:a16="http://schemas.microsoft.com/office/drawing/2014/main" id="{97A08F31-1541-97C8-E67B-7476C6A88D5F}"/>
              </a:ext>
            </a:extLst>
          </p:cNvPr>
          <p:cNvSpPr>
            <a:spLocks noGrp="1"/>
          </p:cNvSpPr>
          <p:nvPr>
            <p:ph idx="1"/>
          </p:nvPr>
        </p:nvSpPr>
        <p:spPr/>
        <p:txBody>
          <a:bodyPr/>
          <a:lstStyle/>
          <a:p>
            <a:pPr lvl="0"/>
            <a:r>
              <a:rPr lang="en-IN" sz="2400" dirty="0"/>
              <a:t>Checks for suitable substitute faculty. </a:t>
            </a:r>
          </a:p>
          <a:p>
            <a:pPr lvl="0"/>
            <a:r>
              <a:rPr lang="en-IN" sz="2400" dirty="0"/>
              <a:t>Reschedules affected classes when necessary. </a:t>
            </a:r>
          </a:p>
          <a:p>
            <a:pPr marL="0" indent="0">
              <a:buNone/>
            </a:pPr>
            <a:r>
              <a:rPr lang="en-IN" sz="2400" b="1" dirty="0"/>
              <a:t>5. Database and Output</a:t>
            </a:r>
            <a:endParaRPr lang="en-IN" sz="2400" dirty="0"/>
          </a:p>
          <a:p>
            <a:pPr lvl="0"/>
            <a:r>
              <a:rPr lang="en-IN" sz="2400" dirty="0"/>
              <a:t>Uses SQLite to store timetable-related information. </a:t>
            </a:r>
          </a:p>
          <a:p>
            <a:pPr lvl="0"/>
            <a:r>
              <a:rPr lang="en-IN" sz="2400" dirty="0"/>
              <a:t>Displays department-wise, section-wise, and faculty-wise timetables. </a:t>
            </a:r>
          </a:p>
          <a:p>
            <a:pPr lvl="0"/>
            <a:r>
              <a:rPr lang="en-IN" sz="2400" dirty="0"/>
              <a:t>Displays updated assignments after rescheduling</a:t>
            </a:r>
            <a:endParaRPr lang="en-IN" dirty="0"/>
          </a:p>
        </p:txBody>
      </p:sp>
      <p:sp>
        <p:nvSpPr>
          <p:cNvPr id="6" name="Slide Number Placeholder 5">
            <a:extLst>
              <a:ext uri="{FF2B5EF4-FFF2-40B4-BE49-F238E27FC236}">
                <a16:creationId xmlns:a16="http://schemas.microsoft.com/office/drawing/2014/main" id="{9597F765-6758-2193-83E5-E2D52765CD51}"/>
              </a:ext>
            </a:extLst>
          </p:cNvPr>
          <p:cNvSpPr>
            <a:spLocks noGrp="1"/>
          </p:cNvSpPr>
          <p:nvPr>
            <p:ph type="sldNum" sz="quarter" idx="12"/>
          </p:nvPr>
        </p:nvSpPr>
        <p:spPr/>
        <p:txBody>
          <a:bodyPr/>
          <a:lstStyle/>
          <a:p>
            <a:pPr>
              <a:defRPr/>
            </a:pPr>
            <a:fld id="{BDC2143B-610F-499C-A392-DFFBE135A7B2}" type="slidenum">
              <a:rPr lang="en-US" altLang="en-US" smtClean="0"/>
              <a:pPr>
                <a:defRPr/>
              </a:pPr>
              <a:t>15</a:t>
            </a:fld>
            <a:endParaRPr lang="en-US" altLang="en-US"/>
          </a:p>
        </p:txBody>
      </p:sp>
    </p:spTree>
    <p:extLst>
      <p:ext uri="{BB962C8B-B14F-4D97-AF65-F5344CB8AC3E}">
        <p14:creationId xmlns:p14="http://schemas.microsoft.com/office/powerpoint/2010/main" val="107961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US" sz="3200" b="1" dirty="0">
                <a:solidFill>
                  <a:srgbClr val="FF0000"/>
                </a:solidFill>
              </a:rPr>
              <a:t>DFD Diagram</a:t>
            </a:r>
            <a:endParaRPr lang="en-IN" sz="3200" b="1" dirty="0">
              <a:solidFill>
                <a:srgbClr val="FF0000"/>
              </a:solidFill>
            </a:endParaRPr>
          </a:p>
        </p:txBody>
      </p:sp>
      <p:pic>
        <p:nvPicPr>
          <p:cNvPr id="5" name="Content Placeholder 4">
            <a:extLst>
              <a:ext uri="{FF2B5EF4-FFF2-40B4-BE49-F238E27FC236}">
                <a16:creationId xmlns:a16="http://schemas.microsoft.com/office/drawing/2014/main" id="{691ABE39-EDFE-3287-C5A9-E77E0CB39ED0}"/>
              </a:ext>
            </a:extLst>
          </p:cNvPr>
          <p:cNvPicPr>
            <a:picLocks noGrp="1" noChangeAspect="1"/>
          </p:cNvPicPr>
          <p:nvPr>
            <p:ph idx="1"/>
          </p:nvPr>
        </p:nvPicPr>
        <p:blipFill rotWithShape="1">
          <a:blip r:embed="rId2"/>
          <a:srcRect r="49935"/>
          <a:stretch>
            <a:fillRect/>
          </a:stretch>
        </p:blipFill>
        <p:spPr bwMode="auto">
          <a:xfrm>
            <a:off x="3661372" y="1749424"/>
            <a:ext cx="4869256" cy="4415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16</a:t>
            </a:fld>
            <a:endParaRPr lang="en-IN"/>
          </a:p>
        </p:txBody>
      </p:sp>
    </p:spTree>
    <p:extLst>
      <p:ext uri="{BB962C8B-B14F-4D97-AF65-F5344CB8AC3E}">
        <p14:creationId xmlns:p14="http://schemas.microsoft.com/office/powerpoint/2010/main" val="1066777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IN" altLang="en-US" sz="3200" b="1" dirty="0">
                <a:solidFill>
                  <a:srgbClr val="FF0000"/>
                </a:solidFill>
              </a:rPr>
              <a:t>Methodology / Workflow Diagram</a:t>
            </a:r>
            <a:endParaRPr lang="en-IN" sz="2800" dirty="0"/>
          </a:p>
        </p:txBody>
      </p:sp>
      <p:pic>
        <p:nvPicPr>
          <p:cNvPr id="7" name="Content Placeholder 6">
            <a:extLst>
              <a:ext uri="{FF2B5EF4-FFF2-40B4-BE49-F238E27FC236}">
                <a16:creationId xmlns:a16="http://schemas.microsoft.com/office/drawing/2014/main" id="{5708180D-62DC-0236-33B2-617B1D6B6B0E}"/>
              </a:ext>
            </a:extLst>
          </p:cNvPr>
          <p:cNvPicPr>
            <a:picLocks noGrp="1" noChangeAspect="1"/>
          </p:cNvPicPr>
          <p:nvPr>
            <p:ph idx="1"/>
          </p:nvPr>
        </p:nvPicPr>
        <p:blipFill rotWithShape="1">
          <a:blip r:embed="rId2"/>
          <a:srcRect l="50065"/>
          <a:stretch>
            <a:fillRect/>
          </a:stretch>
        </p:blipFill>
        <p:spPr bwMode="auto">
          <a:xfrm>
            <a:off x="3575720" y="1844824"/>
            <a:ext cx="485655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17</a:t>
            </a:fld>
            <a:endParaRPr lang="en-IN"/>
          </a:p>
        </p:txBody>
      </p:sp>
    </p:spTree>
    <p:extLst>
      <p:ext uri="{BB962C8B-B14F-4D97-AF65-F5344CB8AC3E}">
        <p14:creationId xmlns:p14="http://schemas.microsoft.com/office/powerpoint/2010/main" val="2967815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65FE-D1EF-9ED0-0CBE-CBAAADBFCC7B}"/>
              </a:ext>
            </a:extLst>
          </p:cNvPr>
          <p:cNvSpPr>
            <a:spLocks noGrp="1"/>
          </p:cNvSpPr>
          <p:nvPr>
            <p:ph type="title"/>
          </p:nvPr>
        </p:nvSpPr>
        <p:spPr>
          <a:xfrm>
            <a:off x="754501" y="-308275"/>
            <a:ext cx="10668000" cy="1216025"/>
          </a:xfrm>
        </p:spPr>
        <p:txBody>
          <a:bodyPr/>
          <a:lstStyle/>
          <a:p>
            <a:pPr algn="ctr"/>
            <a:r>
              <a:rPr lang="en-US" sz="3200" b="1" dirty="0">
                <a:solidFill>
                  <a:srgbClr val="FF0000"/>
                </a:solidFill>
              </a:rPr>
              <a:t>Tools and Technologies</a:t>
            </a:r>
            <a:endParaRPr lang="en-IN" sz="3200" dirty="0"/>
          </a:p>
        </p:txBody>
      </p:sp>
      <p:graphicFrame>
        <p:nvGraphicFramePr>
          <p:cNvPr id="9" name="Content Placeholder 8">
            <a:extLst>
              <a:ext uri="{FF2B5EF4-FFF2-40B4-BE49-F238E27FC236}">
                <a16:creationId xmlns:a16="http://schemas.microsoft.com/office/drawing/2014/main" id="{2B683B68-AA4D-568D-F677-548059D55A79}"/>
              </a:ext>
            </a:extLst>
          </p:cNvPr>
          <p:cNvGraphicFramePr>
            <a:graphicFrameLocks noGrp="1"/>
          </p:cNvGraphicFramePr>
          <p:nvPr>
            <p:ph idx="1"/>
            <p:extLst>
              <p:ext uri="{D42A27DB-BD31-4B8C-83A1-F6EECF244321}">
                <p14:modId xmlns:p14="http://schemas.microsoft.com/office/powerpoint/2010/main" val="4254143774"/>
              </p:ext>
            </p:extLst>
          </p:nvPr>
        </p:nvGraphicFramePr>
        <p:xfrm>
          <a:off x="551384" y="907750"/>
          <a:ext cx="10668000" cy="5882640"/>
        </p:xfrm>
        <a:graphic>
          <a:graphicData uri="http://schemas.openxmlformats.org/drawingml/2006/table">
            <a:tbl>
              <a:tblPr firstRow="1" bandRow="1">
                <a:tableStyleId>{21E4AEA4-8DFA-4A89-87EB-49C32662AFE0}</a:tableStyleId>
              </a:tblPr>
              <a:tblGrid>
                <a:gridCol w="3312368">
                  <a:extLst>
                    <a:ext uri="{9D8B030D-6E8A-4147-A177-3AD203B41FA5}">
                      <a16:colId xmlns:a16="http://schemas.microsoft.com/office/drawing/2014/main" val="2507821712"/>
                    </a:ext>
                  </a:extLst>
                </a:gridCol>
                <a:gridCol w="2880320">
                  <a:extLst>
                    <a:ext uri="{9D8B030D-6E8A-4147-A177-3AD203B41FA5}">
                      <a16:colId xmlns:a16="http://schemas.microsoft.com/office/drawing/2014/main" val="1127679209"/>
                    </a:ext>
                  </a:extLst>
                </a:gridCol>
                <a:gridCol w="4475312">
                  <a:extLst>
                    <a:ext uri="{9D8B030D-6E8A-4147-A177-3AD203B41FA5}">
                      <a16:colId xmlns:a16="http://schemas.microsoft.com/office/drawing/2014/main" val="361355933"/>
                    </a:ext>
                  </a:extLst>
                </a:gridCol>
              </a:tblGrid>
              <a:tr h="370840">
                <a:tc>
                  <a:txBody>
                    <a:bodyPr/>
                    <a:lstStyle/>
                    <a:p>
                      <a:pPr>
                        <a:buNone/>
                      </a:pPr>
                      <a:r>
                        <a:rPr lang="en-IN" sz="2000" dirty="0"/>
                        <a:t>Category</a:t>
                      </a:r>
                    </a:p>
                  </a:txBody>
                  <a:tcPr anchor="ctr"/>
                </a:tc>
                <a:tc>
                  <a:txBody>
                    <a:bodyPr/>
                    <a:lstStyle/>
                    <a:p>
                      <a:pPr>
                        <a:buNone/>
                      </a:pPr>
                      <a:r>
                        <a:rPr lang="en-IN" sz="2000"/>
                        <a:t>Technology</a:t>
                      </a:r>
                    </a:p>
                  </a:txBody>
                  <a:tcPr anchor="ctr"/>
                </a:tc>
                <a:tc>
                  <a:txBody>
                    <a:bodyPr/>
                    <a:lstStyle/>
                    <a:p>
                      <a:pPr>
                        <a:buNone/>
                      </a:pPr>
                      <a:r>
                        <a:rPr lang="en-IN" sz="2000"/>
                        <a:t>Purpose</a:t>
                      </a:r>
                    </a:p>
                  </a:txBody>
                  <a:tcPr anchor="ctr"/>
                </a:tc>
                <a:extLst>
                  <a:ext uri="{0D108BD9-81ED-4DB2-BD59-A6C34878D82A}">
                    <a16:rowId xmlns:a16="http://schemas.microsoft.com/office/drawing/2014/main" val="85560690"/>
                  </a:ext>
                </a:extLst>
              </a:tr>
              <a:tr h="370840">
                <a:tc>
                  <a:txBody>
                    <a:bodyPr/>
                    <a:lstStyle/>
                    <a:p>
                      <a:pPr>
                        <a:buNone/>
                      </a:pPr>
                      <a:r>
                        <a:rPr lang="en-IN" sz="2000" dirty="0"/>
                        <a:t>Programming Language</a:t>
                      </a:r>
                    </a:p>
                  </a:txBody>
                  <a:tcPr anchor="ctr"/>
                </a:tc>
                <a:tc>
                  <a:txBody>
                    <a:bodyPr/>
                    <a:lstStyle/>
                    <a:p>
                      <a:pPr>
                        <a:buNone/>
                      </a:pPr>
                      <a:r>
                        <a:rPr lang="en-IN" sz="2000"/>
                        <a:t>Python</a:t>
                      </a:r>
                    </a:p>
                  </a:txBody>
                  <a:tcPr anchor="ctr"/>
                </a:tc>
                <a:tc>
                  <a:txBody>
                    <a:bodyPr/>
                    <a:lstStyle/>
                    <a:p>
                      <a:pPr>
                        <a:buNone/>
                      </a:pPr>
                      <a:r>
                        <a:rPr lang="en-IN" sz="2000"/>
                        <a:t>CSP implementation and backend logic</a:t>
                      </a:r>
                    </a:p>
                  </a:txBody>
                  <a:tcPr anchor="ctr"/>
                </a:tc>
                <a:extLst>
                  <a:ext uri="{0D108BD9-81ED-4DB2-BD59-A6C34878D82A}">
                    <a16:rowId xmlns:a16="http://schemas.microsoft.com/office/drawing/2014/main" val="1703136590"/>
                  </a:ext>
                </a:extLst>
              </a:tr>
              <a:tr h="370840">
                <a:tc>
                  <a:txBody>
                    <a:bodyPr/>
                    <a:lstStyle/>
                    <a:p>
                      <a:pPr>
                        <a:buNone/>
                      </a:pPr>
                      <a:r>
                        <a:rPr lang="en-IN" sz="2000" dirty="0"/>
                        <a:t>Web Framework</a:t>
                      </a:r>
                    </a:p>
                  </a:txBody>
                  <a:tcPr anchor="ctr"/>
                </a:tc>
                <a:tc>
                  <a:txBody>
                    <a:bodyPr/>
                    <a:lstStyle/>
                    <a:p>
                      <a:pPr>
                        <a:buNone/>
                      </a:pPr>
                      <a:r>
                        <a:rPr lang="en-IN" sz="2000"/>
                        <a:t>Flask</a:t>
                      </a:r>
                    </a:p>
                  </a:txBody>
                  <a:tcPr anchor="ctr"/>
                </a:tc>
                <a:tc>
                  <a:txBody>
                    <a:bodyPr/>
                    <a:lstStyle/>
                    <a:p>
                      <a:pPr>
                        <a:buNone/>
                      </a:pPr>
                      <a:r>
                        <a:rPr lang="en-IN" sz="2000"/>
                        <a:t>Web application and routing</a:t>
                      </a:r>
                    </a:p>
                  </a:txBody>
                  <a:tcPr anchor="ctr"/>
                </a:tc>
                <a:extLst>
                  <a:ext uri="{0D108BD9-81ED-4DB2-BD59-A6C34878D82A}">
                    <a16:rowId xmlns:a16="http://schemas.microsoft.com/office/drawing/2014/main" val="1132013341"/>
                  </a:ext>
                </a:extLst>
              </a:tr>
              <a:tr h="370840">
                <a:tc>
                  <a:txBody>
                    <a:bodyPr/>
                    <a:lstStyle/>
                    <a:p>
                      <a:pPr>
                        <a:buNone/>
                      </a:pPr>
                      <a:r>
                        <a:rPr lang="en-IN" sz="2000" dirty="0"/>
                        <a:t>Frontend</a:t>
                      </a:r>
                    </a:p>
                  </a:txBody>
                  <a:tcPr anchor="ctr"/>
                </a:tc>
                <a:tc>
                  <a:txBody>
                    <a:bodyPr/>
                    <a:lstStyle/>
                    <a:p>
                      <a:pPr>
                        <a:buNone/>
                      </a:pPr>
                      <a:r>
                        <a:rPr lang="en-IN" sz="2000" dirty="0"/>
                        <a:t>HTML, CSS, JavaScript</a:t>
                      </a:r>
                    </a:p>
                  </a:txBody>
                  <a:tcPr anchor="ctr"/>
                </a:tc>
                <a:tc>
                  <a:txBody>
                    <a:bodyPr/>
                    <a:lstStyle/>
                    <a:p>
                      <a:pPr>
                        <a:buNone/>
                      </a:pPr>
                      <a:r>
                        <a:rPr lang="en-IN" sz="2000"/>
                        <a:t>User interface and timetable display</a:t>
                      </a:r>
                    </a:p>
                  </a:txBody>
                  <a:tcPr anchor="ctr"/>
                </a:tc>
                <a:extLst>
                  <a:ext uri="{0D108BD9-81ED-4DB2-BD59-A6C34878D82A}">
                    <a16:rowId xmlns:a16="http://schemas.microsoft.com/office/drawing/2014/main" val="2757014257"/>
                  </a:ext>
                </a:extLst>
              </a:tr>
              <a:tr h="0">
                <a:tc>
                  <a:txBody>
                    <a:bodyPr/>
                    <a:lstStyle/>
                    <a:p>
                      <a:pPr>
                        <a:buNone/>
                      </a:pPr>
                      <a:r>
                        <a:rPr lang="en-IN" sz="2000"/>
                        <a:t>Database</a:t>
                      </a:r>
                    </a:p>
                  </a:txBody>
                  <a:tcPr anchor="ctr"/>
                </a:tc>
                <a:tc>
                  <a:txBody>
                    <a:bodyPr/>
                    <a:lstStyle/>
                    <a:p>
                      <a:pPr>
                        <a:buNone/>
                      </a:pPr>
                      <a:r>
                        <a:rPr lang="en-IN" sz="2000" dirty="0"/>
                        <a:t>SQLite</a:t>
                      </a:r>
                    </a:p>
                  </a:txBody>
                  <a:tcPr anchor="ctr"/>
                </a:tc>
                <a:tc>
                  <a:txBody>
                    <a:bodyPr/>
                    <a:lstStyle/>
                    <a:p>
                      <a:pPr>
                        <a:buNone/>
                      </a:pPr>
                      <a:r>
                        <a:rPr lang="en-IN" sz="2000"/>
                        <a:t>Persistent storage of timetable data</a:t>
                      </a:r>
                    </a:p>
                  </a:txBody>
                  <a:tcPr anchor="ctr"/>
                </a:tc>
                <a:extLst>
                  <a:ext uri="{0D108BD9-81ED-4DB2-BD59-A6C34878D82A}">
                    <a16:rowId xmlns:a16="http://schemas.microsoft.com/office/drawing/2014/main" val="1510059427"/>
                  </a:ext>
                </a:extLst>
              </a:tr>
              <a:tr h="370840">
                <a:tc>
                  <a:txBody>
                    <a:bodyPr/>
                    <a:lstStyle/>
                    <a:p>
                      <a:pPr>
                        <a:buNone/>
                      </a:pPr>
                      <a:r>
                        <a:rPr lang="en-IN" sz="2000"/>
                        <a:t>AI Technique</a:t>
                      </a:r>
                    </a:p>
                  </a:txBody>
                  <a:tcPr anchor="ctr"/>
                </a:tc>
                <a:tc>
                  <a:txBody>
                    <a:bodyPr/>
                    <a:lstStyle/>
                    <a:p>
                      <a:pPr>
                        <a:buNone/>
                      </a:pPr>
                      <a:r>
                        <a:rPr lang="en-IN" sz="2000"/>
                        <a:t>CSP</a:t>
                      </a:r>
                    </a:p>
                  </a:txBody>
                  <a:tcPr anchor="ctr"/>
                </a:tc>
                <a:tc>
                  <a:txBody>
                    <a:bodyPr/>
                    <a:lstStyle/>
                    <a:p>
                      <a:pPr>
                        <a:buNone/>
                      </a:pPr>
                      <a:r>
                        <a:rPr lang="en-IN" sz="2000"/>
                        <a:t>Formal scheduling model</a:t>
                      </a:r>
                    </a:p>
                  </a:txBody>
                  <a:tcPr anchor="ctr"/>
                </a:tc>
                <a:extLst>
                  <a:ext uri="{0D108BD9-81ED-4DB2-BD59-A6C34878D82A}">
                    <a16:rowId xmlns:a16="http://schemas.microsoft.com/office/drawing/2014/main" val="2617676160"/>
                  </a:ext>
                </a:extLst>
              </a:tr>
              <a:tr h="370840">
                <a:tc>
                  <a:txBody>
                    <a:bodyPr/>
                    <a:lstStyle/>
                    <a:p>
                      <a:pPr>
                        <a:buNone/>
                      </a:pPr>
                      <a:r>
                        <a:rPr lang="en-IN" sz="2000"/>
                        <a:t>Search Algorithm</a:t>
                      </a:r>
                    </a:p>
                  </a:txBody>
                  <a:tcPr anchor="ctr"/>
                </a:tc>
                <a:tc>
                  <a:txBody>
                    <a:bodyPr/>
                    <a:lstStyle/>
                    <a:p>
                      <a:pPr>
                        <a:buNone/>
                      </a:pPr>
                      <a:r>
                        <a:rPr lang="en-IN" sz="2000" dirty="0"/>
                        <a:t>Backtracking Search</a:t>
                      </a:r>
                    </a:p>
                  </a:txBody>
                  <a:tcPr anchor="ctr"/>
                </a:tc>
                <a:tc>
                  <a:txBody>
                    <a:bodyPr/>
                    <a:lstStyle/>
                    <a:p>
                      <a:pPr>
                        <a:buNone/>
                      </a:pPr>
                      <a:r>
                        <a:rPr lang="en-IN" sz="2000"/>
                        <a:t>Assignment exploration</a:t>
                      </a:r>
                    </a:p>
                  </a:txBody>
                  <a:tcPr anchor="ctr"/>
                </a:tc>
                <a:extLst>
                  <a:ext uri="{0D108BD9-81ED-4DB2-BD59-A6C34878D82A}">
                    <a16:rowId xmlns:a16="http://schemas.microsoft.com/office/drawing/2014/main" val="1139579729"/>
                  </a:ext>
                </a:extLst>
              </a:tr>
              <a:tr h="370840">
                <a:tc>
                  <a:txBody>
                    <a:bodyPr/>
                    <a:lstStyle/>
                    <a:p>
                      <a:pPr>
                        <a:buNone/>
                      </a:pPr>
                      <a:r>
                        <a:rPr lang="en-IN" sz="2000"/>
                        <a:t>Heuristics</a:t>
                      </a:r>
                    </a:p>
                  </a:txBody>
                  <a:tcPr anchor="ctr"/>
                </a:tc>
                <a:tc>
                  <a:txBody>
                    <a:bodyPr/>
                    <a:lstStyle/>
                    <a:p>
                      <a:pPr>
                        <a:buNone/>
                      </a:pPr>
                      <a:r>
                        <a:rPr lang="en-IN" sz="2000" dirty="0"/>
                        <a:t>MRV and LCV</a:t>
                      </a:r>
                    </a:p>
                  </a:txBody>
                  <a:tcPr anchor="ctr"/>
                </a:tc>
                <a:tc>
                  <a:txBody>
                    <a:bodyPr/>
                    <a:lstStyle/>
                    <a:p>
                      <a:pPr>
                        <a:buNone/>
                      </a:pPr>
                      <a:r>
                        <a:rPr lang="en-IN" sz="2000"/>
                        <a:t>Variable and value ordering</a:t>
                      </a:r>
                    </a:p>
                  </a:txBody>
                  <a:tcPr anchor="ctr"/>
                </a:tc>
                <a:extLst>
                  <a:ext uri="{0D108BD9-81ED-4DB2-BD59-A6C34878D82A}">
                    <a16:rowId xmlns:a16="http://schemas.microsoft.com/office/drawing/2014/main" val="3126980935"/>
                  </a:ext>
                </a:extLst>
              </a:tr>
              <a:tr h="370840">
                <a:tc>
                  <a:txBody>
                    <a:bodyPr/>
                    <a:lstStyle/>
                    <a:p>
                      <a:pPr>
                        <a:buNone/>
                      </a:pPr>
                      <a:r>
                        <a:rPr lang="en-IN" sz="2000"/>
                        <a:t>Constraint Propagation</a:t>
                      </a:r>
                    </a:p>
                  </a:txBody>
                  <a:tcPr anchor="ctr"/>
                </a:tc>
                <a:tc>
                  <a:txBody>
                    <a:bodyPr/>
                    <a:lstStyle/>
                    <a:p>
                      <a:pPr>
                        <a:buNone/>
                      </a:pPr>
                      <a:r>
                        <a:rPr lang="en-IN" sz="2000" dirty="0"/>
                        <a:t>Forward Checking</a:t>
                      </a:r>
                    </a:p>
                  </a:txBody>
                  <a:tcPr anchor="ctr"/>
                </a:tc>
                <a:tc>
                  <a:txBody>
                    <a:bodyPr/>
                    <a:lstStyle/>
                    <a:p>
                      <a:pPr>
                        <a:buNone/>
                      </a:pPr>
                      <a:r>
                        <a:rPr lang="en-IN" sz="2000"/>
                        <a:t>Detect domain failures early</a:t>
                      </a:r>
                    </a:p>
                  </a:txBody>
                  <a:tcPr anchor="ctr"/>
                </a:tc>
                <a:extLst>
                  <a:ext uri="{0D108BD9-81ED-4DB2-BD59-A6C34878D82A}">
                    <a16:rowId xmlns:a16="http://schemas.microsoft.com/office/drawing/2014/main" val="521606236"/>
                  </a:ext>
                </a:extLst>
              </a:tr>
              <a:tr h="370840">
                <a:tc>
                  <a:txBody>
                    <a:bodyPr/>
                    <a:lstStyle/>
                    <a:p>
                      <a:pPr>
                        <a:buNone/>
                      </a:pPr>
                      <a:r>
                        <a:rPr lang="en-IN" sz="2000"/>
                        <a:t>Development Environment</a:t>
                      </a:r>
                    </a:p>
                  </a:txBody>
                  <a:tcPr anchor="ctr"/>
                </a:tc>
                <a:tc>
                  <a:txBody>
                    <a:bodyPr/>
                    <a:lstStyle/>
                    <a:p>
                      <a:pPr>
                        <a:buNone/>
                      </a:pPr>
                      <a:r>
                        <a:rPr lang="en-IN" sz="2000"/>
                        <a:t>Visual Studio Code</a:t>
                      </a:r>
                    </a:p>
                  </a:txBody>
                  <a:tcPr anchor="ctr"/>
                </a:tc>
                <a:tc>
                  <a:txBody>
                    <a:bodyPr/>
                    <a:lstStyle/>
                    <a:p>
                      <a:pPr>
                        <a:buNone/>
                      </a:pPr>
                      <a:r>
                        <a:rPr lang="en-IN" sz="2000"/>
                        <a:t>Coding and debugging</a:t>
                      </a:r>
                    </a:p>
                  </a:txBody>
                  <a:tcPr anchor="ctr"/>
                </a:tc>
                <a:extLst>
                  <a:ext uri="{0D108BD9-81ED-4DB2-BD59-A6C34878D82A}">
                    <a16:rowId xmlns:a16="http://schemas.microsoft.com/office/drawing/2014/main" val="2424102389"/>
                  </a:ext>
                </a:extLst>
              </a:tr>
              <a:tr h="370840">
                <a:tc>
                  <a:txBody>
                    <a:bodyPr/>
                    <a:lstStyle/>
                    <a:p>
                      <a:pPr>
                        <a:buNone/>
                      </a:pPr>
                      <a:r>
                        <a:rPr lang="en-IN" sz="2000"/>
                        <a:t>Version Control</a:t>
                      </a:r>
                    </a:p>
                  </a:txBody>
                  <a:tcPr anchor="ctr"/>
                </a:tc>
                <a:tc>
                  <a:txBody>
                    <a:bodyPr/>
                    <a:lstStyle/>
                    <a:p>
                      <a:pPr>
                        <a:buNone/>
                      </a:pPr>
                      <a:r>
                        <a:rPr lang="en-IN" sz="2000" dirty="0"/>
                        <a:t>Git</a:t>
                      </a:r>
                    </a:p>
                  </a:txBody>
                  <a:tcPr anchor="ctr"/>
                </a:tc>
                <a:tc>
                  <a:txBody>
                    <a:bodyPr/>
                    <a:lstStyle/>
                    <a:p>
                      <a:pPr>
                        <a:buNone/>
                      </a:pPr>
                      <a:r>
                        <a:rPr lang="en-IN" sz="2000" dirty="0"/>
                        <a:t>Source-code management, if used</a:t>
                      </a:r>
                    </a:p>
                  </a:txBody>
                  <a:tcPr anchor="ctr"/>
                </a:tc>
                <a:extLst>
                  <a:ext uri="{0D108BD9-81ED-4DB2-BD59-A6C34878D82A}">
                    <a16:rowId xmlns:a16="http://schemas.microsoft.com/office/drawing/2014/main" val="2382426113"/>
                  </a:ext>
                </a:extLst>
              </a:tr>
            </a:tbl>
          </a:graphicData>
        </a:graphic>
      </p:graphicFrame>
      <p:sp>
        <p:nvSpPr>
          <p:cNvPr id="6" name="Slide Number Placeholder 5">
            <a:extLst>
              <a:ext uri="{FF2B5EF4-FFF2-40B4-BE49-F238E27FC236}">
                <a16:creationId xmlns:a16="http://schemas.microsoft.com/office/drawing/2014/main" id="{4DB6670A-3440-93F1-96B4-A9F62C330498}"/>
              </a:ext>
            </a:extLst>
          </p:cNvPr>
          <p:cNvSpPr>
            <a:spLocks noGrp="1"/>
          </p:cNvSpPr>
          <p:nvPr>
            <p:ph type="sldNum" sz="quarter" idx="12"/>
          </p:nvPr>
        </p:nvSpPr>
        <p:spPr/>
        <p:txBody>
          <a:bodyPr/>
          <a:lstStyle/>
          <a:p>
            <a:pPr>
              <a:defRPr/>
            </a:pPr>
            <a:fld id="{BDC2143B-610F-499C-A392-DFFBE135A7B2}" type="slidenum">
              <a:rPr lang="en-US" altLang="en-US" smtClean="0"/>
              <a:pPr>
                <a:defRPr/>
              </a:pPr>
              <a:t>18</a:t>
            </a:fld>
            <a:endParaRPr lang="en-US" altLang="en-US"/>
          </a:p>
        </p:txBody>
      </p:sp>
    </p:spTree>
    <p:extLst>
      <p:ext uri="{BB962C8B-B14F-4D97-AF65-F5344CB8AC3E}">
        <p14:creationId xmlns:p14="http://schemas.microsoft.com/office/powerpoint/2010/main" val="2286666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479376" y="187326"/>
            <a:ext cx="10668000" cy="603919"/>
          </a:xfrm>
        </p:spPr>
        <p:txBody>
          <a:bodyPr/>
          <a:lstStyle/>
          <a:p>
            <a:pPr algn="ctr"/>
            <a:r>
              <a:rPr lang="en-US" altLang="en-US" sz="3200" b="1" dirty="0">
                <a:solidFill>
                  <a:srgbClr val="FF0000"/>
                </a:solidFill>
              </a:rPr>
              <a:t>List of Modules</a:t>
            </a:r>
            <a:endParaRPr lang="en-IN" sz="2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19</a:t>
            </a:fld>
            <a:endParaRPr lang="en-IN"/>
          </a:p>
        </p:txBody>
      </p:sp>
      <p:graphicFrame>
        <p:nvGraphicFramePr>
          <p:cNvPr id="8" name="Table 7">
            <a:extLst>
              <a:ext uri="{FF2B5EF4-FFF2-40B4-BE49-F238E27FC236}">
                <a16:creationId xmlns:a16="http://schemas.microsoft.com/office/drawing/2014/main" id="{B50D8E62-4B50-ADB1-3723-186E3C974195}"/>
              </a:ext>
            </a:extLst>
          </p:cNvPr>
          <p:cNvGraphicFramePr>
            <a:graphicFrameLocks noGrp="1"/>
          </p:cNvGraphicFramePr>
          <p:nvPr>
            <p:extLst>
              <p:ext uri="{D42A27DB-BD31-4B8C-83A1-F6EECF244321}">
                <p14:modId xmlns:p14="http://schemas.microsoft.com/office/powerpoint/2010/main" val="3215889253"/>
              </p:ext>
            </p:extLst>
          </p:nvPr>
        </p:nvGraphicFramePr>
        <p:xfrm>
          <a:off x="551384" y="836712"/>
          <a:ext cx="11305256" cy="5889224"/>
        </p:xfrm>
        <a:graphic>
          <a:graphicData uri="http://schemas.openxmlformats.org/drawingml/2006/table">
            <a:tbl>
              <a:tblPr firstRow="1" bandRow="1">
                <a:tableStyleId>{21E4AEA4-8DFA-4A89-87EB-49C32662AFE0}</a:tableStyleId>
              </a:tblPr>
              <a:tblGrid>
                <a:gridCol w="648072">
                  <a:extLst>
                    <a:ext uri="{9D8B030D-6E8A-4147-A177-3AD203B41FA5}">
                      <a16:colId xmlns:a16="http://schemas.microsoft.com/office/drawing/2014/main" val="3536630010"/>
                    </a:ext>
                  </a:extLst>
                </a:gridCol>
                <a:gridCol w="2232248">
                  <a:extLst>
                    <a:ext uri="{9D8B030D-6E8A-4147-A177-3AD203B41FA5}">
                      <a16:colId xmlns:a16="http://schemas.microsoft.com/office/drawing/2014/main" val="2490591219"/>
                    </a:ext>
                  </a:extLst>
                </a:gridCol>
                <a:gridCol w="6336704">
                  <a:extLst>
                    <a:ext uri="{9D8B030D-6E8A-4147-A177-3AD203B41FA5}">
                      <a16:colId xmlns:a16="http://schemas.microsoft.com/office/drawing/2014/main" val="1785394920"/>
                    </a:ext>
                  </a:extLst>
                </a:gridCol>
                <a:gridCol w="2088232">
                  <a:extLst>
                    <a:ext uri="{9D8B030D-6E8A-4147-A177-3AD203B41FA5}">
                      <a16:colId xmlns:a16="http://schemas.microsoft.com/office/drawing/2014/main" val="618169713"/>
                    </a:ext>
                  </a:extLst>
                </a:gridCol>
              </a:tblGrid>
              <a:tr h="797837">
                <a:tc>
                  <a:txBody>
                    <a:bodyPr/>
                    <a:lstStyle/>
                    <a:p>
                      <a:pPr>
                        <a:buNone/>
                      </a:pPr>
                      <a:r>
                        <a:rPr lang="en-IN" sz="2400">
                          <a:latin typeface="Aptos" panose="020B0004020202020204" pitchFamily="34" charset="0"/>
                        </a:rPr>
                        <a:t>S. No.</a:t>
                      </a:r>
                    </a:p>
                  </a:txBody>
                  <a:tcPr marL="44450" marR="44450" marT="22225" marB="22225" anchor="ctr"/>
                </a:tc>
                <a:tc>
                  <a:txBody>
                    <a:bodyPr/>
                    <a:lstStyle/>
                    <a:p>
                      <a:pPr algn="ctr">
                        <a:buNone/>
                      </a:pPr>
                      <a:r>
                        <a:rPr lang="en-IN" sz="2400" dirty="0">
                          <a:latin typeface="Aptos" panose="020B0004020202020204" pitchFamily="34" charset="0"/>
                        </a:rPr>
                        <a:t>Module</a:t>
                      </a:r>
                    </a:p>
                  </a:txBody>
                  <a:tcPr marL="44450" marR="44450" marT="22225" marB="22225" anchor="ctr"/>
                </a:tc>
                <a:tc>
                  <a:txBody>
                    <a:bodyPr/>
                    <a:lstStyle/>
                    <a:p>
                      <a:pPr algn="ctr">
                        <a:buNone/>
                      </a:pPr>
                      <a:r>
                        <a:rPr lang="en-IN" sz="2400" dirty="0">
                          <a:latin typeface="Aptos" panose="020B0004020202020204" pitchFamily="34" charset="0"/>
                        </a:rPr>
                        <a:t>Function</a:t>
                      </a:r>
                    </a:p>
                  </a:txBody>
                  <a:tcPr marL="44450" marR="44450" marT="22225" marB="22225" anchor="ctr"/>
                </a:tc>
                <a:tc>
                  <a:txBody>
                    <a:bodyPr/>
                    <a:lstStyle/>
                    <a:p>
                      <a:pPr algn="ctr">
                        <a:buNone/>
                      </a:pPr>
                      <a:r>
                        <a:rPr lang="en-IN" sz="2400" dirty="0">
                          <a:latin typeface="Aptos" panose="020B0004020202020204" pitchFamily="34" charset="0"/>
                        </a:rPr>
                        <a:t>Status</a:t>
                      </a:r>
                    </a:p>
                  </a:txBody>
                  <a:tcPr marL="44450" marR="44450" marT="22225" marB="22225" anchor="ctr"/>
                </a:tc>
                <a:extLst>
                  <a:ext uri="{0D108BD9-81ED-4DB2-BD59-A6C34878D82A}">
                    <a16:rowId xmlns:a16="http://schemas.microsoft.com/office/drawing/2014/main" val="2898419106"/>
                  </a:ext>
                </a:extLst>
              </a:tr>
              <a:tr h="877261">
                <a:tc>
                  <a:txBody>
                    <a:bodyPr/>
                    <a:lstStyle/>
                    <a:p>
                      <a:pPr>
                        <a:buNone/>
                      </a:pPr>
                      <a:r>
                        <a:rPr lang="en-IN" sz="2400">
                          <a:latin typeface="Aptos" panose="020B0004020202020204" pitchFamily="34" charset="0"/>
                        </a:rPr>
                        <a:t>1</a:t>
                      </a:r>
                    </a:p>
                  </a:txBody>
                  <a:tcPr marL="44450" marR="44450" marT="22225" marB="22225" anchor="ctr"/>
                </a:tc>
                <a:tc>
                  <a:txBody>
                    <a:bodyPr/>
                    <a:lstStyle/>
                    <a:p>
                      <a:pPr>
                        <a:buNone/>
                      </a:pPr>
                      <a:r>
                        <a:rPr lang="en-IN" sz="2400" dirty="0">
                          <a:latin typeface="Aptos" panose="020B0004020202020204" pitchFamily="34" charset="0"/>
                        </a:rPr>
                        <a:t>University Data Management</a:t>
                      </a:r>
                    </a:p>
                  </a:txBody>
                  <a:tcPr marL="44450" marR="44450" marT="22225" marB="22225" anchor="ctr"/>
                </a:tc>
                <a:tc>
                  <a:txBody>
                    <a:bodyPr/>
                    <a:lstStyle/>
                    <a:p>
                      <a:pPr algn="just">
                        <a:buNone/>
                      </a:pPr>
                      <a:r>
                        <a:rPr lang="en-IN" sz="2400">
                          <a:latin typeface="Aptos" panose="020B0004020202020204" pitchFamily="34" charset="0"/>
                        </a:rPr>
                        <a:t>Maintains university data, including departments, subjects, faculty, classrooms, and laboratories.</a:t>
                      </a:r>
                    </a:p>
                  </a:txBody>
                  <a:tcPr marL="44450" marR="44450" marT="22225" marB="22225" anchor="ctr"/>
                </a:tc>
                <a:tc>
                  <a:txBody>
                    <a:bodyPr/>
                    <a:lstStyle/>
                    <a:p>
                      <a:pPr algn="ctr">
                        <a:buNone/>
                      </a:pPr>
                      <a:r>
                        <a:rPr lang="en-IN" sz="2400" dirty="0">
                          <a:latin typeface="Aptos" panose="020B0004020202020204" pitchFamily="34" charset="0"/>
                        </a:rPr>
                        <a:t>Completed</a:t>
                      </a:r>
                    </a:p>
                  </a:txBody>
                  <a:tcPr marL="44450" marR="44450" marT="22225" marB="22225" anchor="ctr"/>
                </a:tc>
                <a:extLst>
                  <a:ext uri="{0D108BD9-81ED-4DB2-BD59-A6C34878D82A}">
                    <a16:rowId xmlns:a16="http://schemas.microsoft.com/office/drawing/2014/main" val="4156029489"/>
                  </a:ext>
                </a:extLst>
              </a:tr>
              <a:tr h="599825">
                <a:tc>
                  <a:txBody>
                    <a:bodyPr/>
                    <a:lstStyle/>
                    <a:p>
                      <a:pPr>
                        <a:buNone/>
                      </a:pPr>
                      <a:r>
                        <a:rPr lang="en-IN" sz="2400">
                          <a:latin typeface="Aptos" panose="020B0004020202020204" pitchFamily="34" charset="0"/>
                        </a:rPr>
                        <a:t>2</a:t>
                      </a:r>
                    </a:p>
                  </a:txBody>
                  <a:tcPr marL="44450" marR="44450" marT="22225" marB="22225" anchor="ctr"/>
                </a:tc>
                <a:tc>
                  <a:txBody>
                    <a:bodyPr/>
                    <a:lstStyle/>
                    <a:p>
                      <a:pPr>
                        <a:buNone/>
                      </a:pPr>
                      <a:r>
                        <a:rPr lang="en-IN" sz="2400" dirty="0">
                          <a:latin typeface="Aptos" panose="020B0004020202020204" pitchFamily="34" charset="0"/>
                        </a:rPr>
                        <a:t>CSP Formulation</a:t>
                      </a:r>
                    </a:p>
                  </a:txBody>
                  <a:tcPr marL="44450" marR="44450" marT="22225" marB="22225" anchor="ctr"/>
                </a:tc>
                <a:tc>
                  <a:txBody>
                    <a:bodyPr/>
                    <a:lstStyle/>
                    <a:p>
                      <a:pPr algn="just">
                        <a:buNone/>
                      </a:pPr>
                      <a:r>
                        <a:rPr lang="en-IN" sz="2400" dirty="0">
                          <a:latin typeface="Aptos" panose="020B0004020202020204" pitchFamily="34" charset="0"/>
                        </a:rPr>
                        <a:t>Defines timetable variables, domains, and scheduling constraints.</a:t>
                      </a:r>
                    </a:p>
                  </a:txBody>
                  <a:tcPr marL="44450" marR="44450" marT="22225" marB="22225" anchor="ctr"/>
                </a:tc>
                <a:tc>
                  <a:txBody>
                    <a:bodyPr/>
                    <a:lstStyle/>
                    <a:p>
                      <a:pPr algn="ctr">
                        <a:buNone/>
                      </a:pPr>
                      <a:r>
                        <a:rPr lang="en-IN" sz="2400">
                          <a:latin typeface="Aptos" panose="020B0004020202020204" pitchFamily="34" charset="0"/>
                        </a:rPr>
                        <a:t>Completed</a:t>
                      </a:r>
                    </a:p>
                  </a:txBody>
                  <a:tcPr marL="44450" marR="44450" marT="22225" marB="22225" anchor="ctr"/>
                </a:tc>
                <a:extLst>
                  <a:ext uri="{0D108BD9-81ED-4DB2-BD59-A6C34878D82A}">
                    <a16:rowId xmlns:a16="http://schemas.microsoft.com/office/drawing/2014/main" val="2662357387"/>
                  </a:ext>
                </a:extLst>
              </a:tr>
              <a:tr h="877261">
                <a:tc>
                  <a:txBody>
                    <a:bodyPr/>
                    <a:lstStyle/>
                    <a:p>
                      <a:pPr>
                        <a:buNone/>
                      </a:pPr>
                      <a:r>
                        <a:rPr lang="en-IN" sz="2400">
                          <a:latin typeface="Aptos" panose="020B0004020202020204" pitchFamily="34" charset="0"/>
                        </a:rPr>
                        <a:t>3</a:t>
                      </a:r>
                    </a:p>
                  </a:txBody>
                  <a:tcPr marL="44450" marR="44450" marT="22225" marB="22225" anchor="ctr"/>
                </a:tc>
                <a:tc>
                  <a:txBody>
                    <a:bodyPr/>
                    <a:lstStyle/>
                    <a:p>
                      <a:pPr>
                        <a:buNone/>
                      </a:pPr>
                      <a:r>
                        <a:rPr lang="en-IN" sz="2400" dirty="0">
                          <a:latin typeface="Aptos" panose="020B0004020202020204" pitchFamily="34" charset="0"/>
                        </a:rPr>
                        <a:t>Constraint Validation</a:t>
                      </a:r>
                    </a:p>
                  </a:txBody>
                  <a:tcPr marL="44450" marR="44450" marT="22225" marB="22225" anchor="ctr"/>
                </a:tc>
                <a:tc>
                  <a:txBody>
                    <a:bodyPr/>
                    <a:lstStyle/>
                    <a:p>
                      <a:pPr algn="just">
                        <a:buNone/>
                      </a:pPr>
                      <a:r>
                        <a:rPr lang="en-IN" sz="2400">
                          <a:latin typeface="Aptos" panose="020B0004020202020204" pitchFamily="34" charset="0"/>
                        </a:rPr>
                        <a:t>Checks faculty availability, room and section conflicts, laboratory requirements, and workload limits.</a:t>
                      </a:r>
                    </a:p>
                  </a:txBody>
                  <a:tcPr marL="44450" marR="44450" marT="22225" marB="22225" anchor="ctr"/>
                </a:tc>
                <a:tc>
                  <a:txBody>
                    <a:bodyPr/>
                    <a:lstStyle/>
                    <a:p>
                      <a:pPr algn="ctr">
                        <a:buNone/>
                      </a:pPr>
                      <a:r>
                        <a:rPr lang="en-IN" sz="2400">
                          <a:latin typeface="Aptos" panose="020B0004020202020204" pitchFamily="34" charset="0"/>
                        </a:rPr>
                        <a:t>Completed</a:t>
                      </a:r>
                    </a:p>
                  </a:txBody>
                  <a:tcPr marL="44450" marR="44450" marT="22225" marB="22225" anchor="ctr"/>
                </a:tc>
                <a:extLst>
                  <a:ext uri="{0D108BD9-81ED-4DB2-BD59-A6C34878D82A}">
                    <a16:rowId xmlns:a16="http://schemas.microsoft.com/office/drawing/2014/main" val="1787833119"/>
                  </a:ext>
                </a:extLst>
              </a:tr>
              <a:tr h="877261">
                <a:tc>
                  <a:txBody>
                    <a:bodyPr/>
                    <a:lstStyle/>
                    <a:p>
                      <a:pPr>
                        <a:buNone/>
                      </a:pPr>
                      <a:r>
                        <a:rPr lang="en-IN" sz="2400">
                          <a:latin typeface="Aptos" panose="020B0004020202020204" pitchFamily="34" charset="0"/>
                        </a:rPr>
                        <a:t>4</a:t>
                      </a:r>
                    </a:p>
                  </a:txBody>
                  <a:tcPr marL="44450" marR="44450" marT="22225" marB="22225" anchor="ctr"/>
                </a:tc>
                <a:tc>
                  <a:txBody>
                    <a:bodyPr/>
                    <a:lstStyle/>
                    <a:p>
                      <a:pPr>
                        <a:buNone/>
                      </a:pPr>
                      <a:r>
                        <a:rPr lang="en-IN" sz="2400" dirty="0">
                          <a:latin typeface="Aptos" panose="020B0004020202020204" pitchFamily="34" charset="0"/>
                        </a:rPr>
                        <a:t>Optimized Search</a:t>
                      </a:r>
                    </a:p>
                  </a:txBody>
                  <a:tcPr marL="44450" marR="44450" marT="22225" marB="22225" anchor="ctr"/>
                </a:tc>
                <a:tc>
                  <a:txBody>
                    <a:bodyPr/>
                    <a:lstStyle/>
                    <a:p>
                      <a:pPr algn="just">
                        <a:buNone/>
                      </a:pPr>
                      <a:r>
                        <a:rPr lang="en-IN" sz="2400">
                          <a:latin typeface="Aptos" panose="020B0004020202020204" pitchFamily="34" charset="0"/>
                        </a:rPr>
                        <a:t>Applies Backtracking, MRV, LCV, and Forward Checking to generate feasible timetables.</a:t>
                      </a:r>
                    </a:p>
                  </a:txBody>
                  <a:tcPr marL="44450" marR="44450" marT="22225" marB="22225" anchor="ctr"/>
                </a:tc>
                <a:tc>
                  <a:txBody>
                    <a:bodyPr/>
                    <a:lstStyle/>
                    <a:p>
                      <a:pPr algn="ctr">
                        <a:buNone/>
                      </a:pPr>
                      <a:r>
                        <a:rPr lang="en-IN" sz="2400">
                          <a:latin typeface="Aptos" panose="020B0004020202020204" pitchFamily="34" charset="0"/>
                        </a:rPr>
                        <a:t>Completed</a:t>
                      </a:r>
                    </a:p>
                  </a:txBody>
                  <a:tcPr marL="44450" marR="44450" marT="22225" marB="22225" anchor="ctr"/>
                </a:tc>
                <a:extLst>
                  <a:ext uri="{0D108BD9-81ED-4DB2-BD59-A6C34878D82A}">
                    <a16:rowId xmlns:a16="http://schemas.microsoft.com/office/drawing/2014/main" val="697609713"/>
                  </a:ext>
                </a:extLst>
              </a:tr>
              <a:tr h="1154696">
                <a:tc>
                  <a:txBody>
                    <a:bodyPr/>
                    <a:lstStyle/>
                    <a:p>
                      <a:pPr>
                        <a:buNone/>
                      </a:pPr>
                      <a:r>
                        <a:rPr lang="en-IN" sz="2400">
                          <a:latin typeface="Aptos" panose="020B0004020202020204" pitchFamily="34" charset="0"/>
                        </a:rPr>
                        <a:t>5</a:t>
                      </a:r>
                    </a:p>
                  </a:txBody>
                  <a:tcPr marL="44450" marR="44450" marT="22225" marB="22225" anchor="ctr"/>
                </a:tc>
                <a:tc>
                  <a:txBody>
                    <a:bodyPr/>
                    <a:lstStyle/>
                    <a:p>
                      <a:pPr>
                        <a:buNone/>
                      </a:pPr>
                      <a:r>
                        <a:rPr lang="en-IN" sz="2400" dirty="0">
                          <a:latin typeface="Aptos" panose="020B0004020202020204" pitchFamily="34" charset="0"/>
                        </a:rPr>
                        <a:t>Adaptive Timetable Rescheduling</a:t>
                      </a:r>
                    </a:p>
                  </a:txBody>
                  <a:tcPr marL="44450" marR="44450" marT="22225" marB="22225" anchor="ctr"/>
                </a:tc>
                <a:tc>
                  <a:txBody>
                    <a:bodyPr/>
                    <a:lstStyle/>
                    <a:p>
                      <a:pPr algn="just">
                        <a:buNone/>
                      </a:pPr>
                      <a:r>
                        <a:rPr lang="en-IN" sz="2400" dirty="0">
                          <a:latin typeface="Aptos" panose="020B0004020202020204" pitchFamily="34" charset="0"/>
                        </a:rPr>
                        <a:t>Handles faculty absences through substitution or rescheduling of affected classes while preserving unaffected assignments.</a:t>
                      </a:r>
                    </a:p>
                  </a:txBody>
                  <a:tcPr marL="44450" marR="44450" marT="22225" marB="22225" anchor="ctr"/>
                </a:tc>
                <a:tc>
                  <a:txBody>
                    <a:bodyPr/>
                    <a:lstStyle/>
                    <a:p>
                      <a:pPr algn="ctr">
                        <a:buNone/>
                      </a:pPr>
                      <a:r>
                        <a:rPr lang="en-IN" sz="2400" dirty="0">
                          <a:latin typeface="Aptos" panose="020B0004020202020204" pitchFamily="34" charset="0"/>
                        </a:rPr>
                        <a:t>Completed</a:t>
                      </a:r>
                    </a:p>
                  </a:txBody>
                  <a:tcPr marL="44450" marR="44450" marT="22225" marB="22225" anchor="ctr"/>
                </a:tc>
                <a:extLst>
                  <a:ext uri="{0D108BD9-81ED-4DB2-BD59-A6C34878D82A}">
                    <a16:rowId xmlns:a16="http://schemas.microsoft.com/office/drawing/2014/main" val="829502375"/>
                  </a:ext>
                </a:extLst>
              </a:tr>
            </a:tbl>
          </a:graphicData>
        </a:graphic>
      </p:graphicFrame>
    </p:spTree>
    <p:extLst>
      <p:ext uri="{BB962C8B-B14F-4D97-AF65-F5344CB8AC3E}">
        <p14:creationId xmlns:p14="http://schemas.microsoft.com/office/powerpoint/2010/main" val="651015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a:xfrm>
            <a:off x="766233" y="304801"/>
            <a:ext cx="10668000" cy="891951"/>
          </a:xfrm>
        </p:spPr>
        <p:txBody>
          <a:bodyPr/>
          <a:lstStyle/>
          <a:p>
            <a:pPr algn="ctr"/>
            <a:r>
              <a:rPr lang="en-US" altLang="en-US" sz="3200" b="1" dirty="0">
                <a:solidFill>
                  <a:srgbClr val="FF0000"/>
                </a:solidFill>
              </a:rPr>
              <a:t>Module Description</a:t>
            </a:r>
            <a:endParaRPr lang="en-IN" sz="2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20</a:t>
            </a:fld>
            <a:endParaRPr lang="en-IN"/>
          </a:p>
        </p:txBody>
      </p:sp>
      <p:sp>
        <p:nvSpPr>
          <p:cNvPr id="4" name="Content Placeholder 3">
            <a:extLst>
              <a:ext uri="{FF2B5EF4-FFF2-40B4-BE49-F238E27FC236}">
                <a16:creationId xmlns:a16="http://schemas.microsoft.com/office/drawing/2014/main" id="{7BFB8C10-243E-75CC-3F7D-BC7F3C92F34E}"/>
              </a:ext>
            </a:extLst>
          </p:cNvPr>
          <p:cNvSpPr>
            <a:spLocks noGrp="1"/>
          </p:cNvSpPr>
          <p:nvPr>
            <p:ph idx="1"/>
          </p:nvPr>
        </p:nvSpPr>
        <p:spPr>
          <a:xfrm>
            <a:off x="683643" y="1752600"/>
            <a:ext cx="7068541" cy="4267200"/>
          </a:xfrm>
        </p:spPr>
        <p:txBody>
          <a:bodyPr/>
          <a:lstStyle/>
          <a:p>
            <a:pPr marL="0" indent="0" algn="just">
              <a:buNone/>
            </a:pPr>
            <a:r>
              <a:rPr lang="en-IN" sz="2400" b="1" dirty="0"/>
              <a:t>1. University Data Management Module</a:t>
            </a:r>
          </a:p>
          <a:p>
            <a:pPr marL="0" indent="0" algn="just">
              <a:buNone/>
            </a:pPr>
            <a:r>
              <a:rPr lang="en-IN" sz="2400" dirty="0"/>
              <a:t>This module manages the university information required for timetable generation. It maintains details about departments, subjects, faculty members, classrooms, and laboratories using an SQLite database. The stored information is retrieved and supplied to the scheduling process, ensuring that timetable generation uses the relevant academic and resource data.</a:t>
            </a:r>
          </a:p>
        </p:txBody>
      </p:sp>
      <p:pic>
        <p:nvPicPr>
          <p:cNvPr id="5" name="Picture 4">
            <a:extLst>
              <a:ext uri="{FF2B5EF4-FFF2-40B4-BE49-F238E27FC236}">
                <a16:creationId xmlns:a16="http://schemas.microsoft.com/office/drawing/2014/main" id="{D288175A-2045-09AF-66AA-D3D6CB2A57D0}"/>
              </a:ext>
            </a:extLst>
          </p:cNvPr>
          <p:cNvPicPr>
            <a:picLocks noChangeAspect="1"/>
          </p:cNvPicPr>
          <p:nvPr/>
        </p:nvPicPr>
        <p:blipFill>
          <a:blip r:embed="rId2"/>
          <a:stretch>
            <a:fillRect/>
          </a:stretch>
        </p:blipFill>
        <p:spPr>
          <a:xfrm>
            <a:off x="7896200" y="1916832"/>
            <a:ext cx="3700300" cy="3744416"/>
          </a:xfrm>
          <a:prstGeom prst="rect">
            <a:avLst/>
          </a:prstGeom>
        </p:spPr>
      </p:pic>
    </p:spTree>
    <p:extLst>
      <p:ext uri="{BB962C8B-B14F-4D97-AF65-F5344CB8AC3E}">
        <p14:creationId xmlns:p14="http://schemas.microsoft.com/office/powerpoint/2010/main" val="517529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A786-10E6-DE28-45A2-8465E80FE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D5CF9-F55D-6A82-2184-10C6D6A6A23B}"/>
              </a:ext>
            </a:extLst>
          </p:cNvPr>
          <p:cNvSpPr>
            <a:spLocks noGrp="1"/>
          </p:cNvSpPr>
          <p:nvPr>
            <p:ph type="title"/>
          </p:nvPr>
        </p:nvSpPr>
        <p:spPr>
          <a:xfrm>
            <a:off x="766233" y="304801"/>
            <a:ext cx="10668000" cy="891951"/>
          </a:xfrm>
        </p:spPr>
        <p:txBody>
          <a:bodyPr/>
          <a:lstStyle/>
          <a:p>
            <a:pPr algn="ctr"/>
            <a:r>
              <a:rPr lang="en-US" altLang="en-US" sz="3200" b="1" dirty="0">
                <a:solidFill>
                  <a:srgbClr val="FF0000"/>
                </a:solidFill>
              </a:rPr>
              <a:t>Module Description</a:t>
            </a:r>
            <a:endParaRPr lang="en-IN" sz="2800" dirty="0"/>
          </a:p>
        </p:txBody>
      </p:sp>
      <p:sp>
        <p:nvSpPr>
          <p:cNvPr id="6" name="Slide Number Placeholder 5">
            <a:extLst>
              <a:ext uri="{FF2B5EF4-FFF2-40B4-BE49-F238E27FC236}">
                <a16:creationId xmlns:a16="http://schemas.microsoft.com/office/drawing/2014/main" id="{EC2C00B4-58BB-D484-0E57-91C085175737}"/>
              </a:ext>
            </a:extLst>
          </p:cNvPr>
          <p:cNvSpPr>
            <a:spLocks noGrp="1"/>
          </p:cNvSpPr>
          <p:nvPr>
            <p:ph type="sldNum" sz="quarter" idx="12"/>
          </p:nvPr>
        </p:nvSpPr>
        <p:spPr/>
        <p:txBody>
          <a:bodyPr/>
          <a:lstStyle/>
          <a:p>
            <a:fld id="{5AB9ECBD-B4DD-40D5-8D24-9ECCDBB1583E}" type="slidenum">
              <a:rPr lang="en-IN" smtClean="0"/>
              <a:t>21</a:t>
            </a:fld>
            <a:endParaRPr lang="en-IN"/>
          </a:p>
        </p:txBody>
      </p:sp>
      <p:sp>
        <p:nvSpPr>
          <p:cNvPr id="8" name="TextBox 7">
            <a:extLst>
              <a:ext uri="{FF2B5EF4-FFF2-40B4-BE49-F238E27FC236}">
                <a16:creationId xmlns:a16="http://schemas.microsoft.com/office/drawing/2014/main" id="{9E84AE9E-EB82-F957-DA08-DFBD704DEDC4}"/>
              </a:ext>
            </a:extLst>
          </p:cNvPr>
          <p:cNvSpPr txBox="1"/>
          <p:nvPr/>
        </p:nvSpPr>
        <p:spPr>
          <a:xfrm>
            <a:off x="766233" y="1720840"/>
            <a:ext cx="7634023" cy="4893647"/>
          </a:xfrm>
          <a:prstGeom prst="rect">
            <a:avLst/>
          </a:prstGeom>
          <a:noFill/>
        </p:spPr>
        <p:txBody>
          <a:bodyPr wrap="square">
            <a:spAutoFit/>
          </a:bodyPr>
          <a:lstStyle/>
          <a:p>
            <a:pPr algn="just">
              <a:buNone/>
            </a:pPr>
            <a:r>
              <a:rPr lang="en-IN" sz="2400" b="1" dirty="0"/>
              <a:t>2. CSP Formulation Module</a:t>
            </a:r>
          </a:p>
          <a:p>
            <a:pPr algn="just">
              <a:buNone/>
            </a:pPr>
            <a:r>
              <a:rPr lang="en-IN" sz="2400" dirty="0"/>
              <a:t>	This module represents the university timetable scheduling problem as a Constraint Satisfaction Problem (CSP). Each class session is treated as a variable, with possible day, period, and room combinations forming its domain. Scheduling requirements are represented as constraints, including faculty availability, room allocation, section conflicts, workload limits, and laboratory requirements. This formulation provides the foundation for applying CSP search techniques to generate feasible timetables.</a:t>
            </a:r>
          </a:p>
        </p:txBody>
      </p:sp>
      <p:pic>
        <p:nvPicPr>
          <p:cNvPr id="9" name="Picture 8">
            <a:extLst>
              <a:ext uri="{FF2B5EF4-FFF2-40B4-BE49-F238E27FC236}">
                <a16:creationId xmlns:a16="http://schemas.microsoft.com/office/drawing/2014/main" id="{33F84801-246D-A335-A787-95C987F5E5FA}"/>
              </a:ext>
            </a:extLst>
          </p:cNvPr>
          <p:cNvPicPr>
            <a:picLocks noChangeAspect="1"/>
          </p:cNvPicPr>
          <p:nvPr/>
        </p:nvPicPr>
        <p:blipFill>
          <a:blip r:embed="rId2"/>
          <a:stretch>
            <a:fillRect/>
          </a:stretch>
        </p:blipFill>
        <p:spPr>
          <a:xfrm>
            <a:off x="8400256" y="1916832"/>
            <a:ext cx="3424849" cy="4104129"/>
          </a:xfrm>
          <a:prstGeom prst="rect">
            <a:avLst/>
          </a:prstGeom>
        </p:spPr>
      </p:pic>
    </p:spTree>
    <p:extLst>
      <p:ext uri="{BB962C8B-B14F-4D97-AF65-F5344CB8AC3E}">
        <p14:creationId xmlns:p14="http://schemas.microsoft.com/office/powerpoint/2010/main" val="2401445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0F599-1800-3723-60AC-6A5141816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51A261-7107-4A24-66F9-157C5EF37401}"/>
              </a:ext>
            </a:extLst>
          </p:cNvPr>
          <p:cNvSpPr>
            <a:spLocks noGrp="1"/>
          </p:cNvSpPr>
          <p:nvPr>
            <p:ph type="title"/>
          </p:nvPr>
        </p:nvSpPr>
        <p:spPr>
          <a:xfrm>
            <a:off x="766233" y="304801"/>
            <a:ext cx="10668000" cy="891951"/>
          </a:xfrm>
        </p:spPr>
        <p:txBody>
          <a:bodyPr/>
          <a:lstStyle/>
          <a:p>
            <a:pPr algn="ctr"/>
            <a:r>
              <a:rPr lang="en-US" altLang="en-US" sz="3200" b="1" dirty="0">
                <a:solidFill>
                  <a:srgbClr val="FF0000"/>
                </a:solidFill>
              </a:rPr>
              <a:t>Module Description</a:t>
            </a:r>
            <a:endParaRPr lang="en-IN" sz="2800" dirty="0"/>
          </a:p>
        </p:txBody>
      </p:sp>
      <p:sp>
        <p:nvSpPr>
          <p:cNvPr id="6" name="Slide Number Placeholder 5">
            <a:extLst>
              <a:ext uri="{FF2B5EF4-FFF2-40B4-BE49-F238E27FC236}">
                <a16:creationId xmlns:a16="http://schemas.microsoft.com/office/drawing/2014/main" id="{E6B18123-0EA9-7C5A-5F2E-E6159269718B}"/>
              </a:ext>
            </a:extLst>
          </p:cNvPr>
          <p:cNvSpPr>
            <a:spLocks noGrp="1"/>
          </p:cNvSpPr>
          <p:nvPr>
            <p:ph type="sldNum" sz="quarter" idx="12"/>
          </p:nvPr>
        </p:nvSpPr>
        <p:spPr/>
        <p:txBody>
          <a:bodyPr/>
          <a:lstStyle/>
          <a:p>
            <a:fld id="{5AB9ECBD-B4DD-40D5-8D24-9ECCDBB1583E}" type="slidenum">
              <a:rPr lang="en-IN" smtClean="0"/>
              <a:t>22</a:t>
            </a:fld>
            <a:endParaRPr lang="en-IN"/>
          </a:p>
        </p:txBody>
      </p:sp>
      <p:sp>
        <p:nvSpPr>
          <p:cNvPr id="7" name="TextBox 6">
            <a:extLst>
              <a:ext uri="{FF2B5EF4-FFF2-40B4-BE49-F238E27FC236}">
                <a16:creationId xmlns:a16="http://schemas.microsoft.com/office/drawing/2014/main" id="{D5D1743D-7DBE-262E-C633-34C0865CF075}"/>
              </a:ext>
            </a:extLst>
          </p:cNvPr>
          <p:cNvSpPr txBox="1"/>
          <p:nvPr/>
        </p:nvSpPr>
        <p:spPr>
          <a:xfrm>
            <a:off x="812800" y="1700808"/>
            <a:ext cx="7057959" cy="4524315"/>
          </a:xfrm>
          <a:prstGeom prst="rect">
            <a:avLst/>
          </a:prstGeom>
          <a:noFill/>
        </p:spPr>
        <p:txBody>
          <a:bodyPr wrap="square">
            <a:spAutoFit/>
          </a:bodyPr>
          <a:lstStyle/>
          <a:p>
            <a:pPr algn="just">
              <a:buNone/>
            </a:pPr>
            <a:r>
              <a:rPr lang="en-IN" sz="2400" b="1" dirty="0"/>
              <a:t>3. Constraint Validation Module</a:t>
            </a:r>
          </a:p>
          <a:p>
            <a:pPr algn="just">
              <a:buNone/>
            </a:pPr>
            <a:r>
              <a:rPr lang="en-IN" sz="2400" dirty="0"/>
              <a:t>	This module checks whether timetable assignments satisfy the defined scheduling constraints. It verifies faculty availability, prevents classroom and section conflicts, checks faculty workload limits, and validates laboratory scheduling requirements. Assignments that violate mandatory constraints are rejected during the scheduling process. This helps maintain the consistency and validity of the generated timetable.</a:t>
            </a:r>
          </a:p>
        </p:txBody>
      </p:sp>
      <p:pic>
        <p:nvPicPr>
          <p:cNvPr id="8" name="Picture 7">
            <a:extLst>
              <a:ext uri="{FF2B5EF4-FFF2-40B4-BE49-F238E27FC236}">
                <a16:creationId xmlns:a16="http://schemas.microsoft.com/office/drawing/2014/main" id="{F3A95527-DF8C-8B91-6B26-4F8BBFFD805D}"/>
              </a:ext>
            </a:extLst>
          </p:cNvPr>
          <p:cNvPicPr>
            <a:picLocks noChangeAspect="1"/>
          </p:cNvPicPr>
          <p:nvPr/>
        </p:nvPicPr>
        <p:blipFill>
          <a:blip r:embed="rId2"/>
          <a:stretch>
            <a:fillRect/>
          </a:stretch>
        </p:blipFill>
        <p:spPr>
          <a:xfrm>
            <a:off x="8040216" y="1732147"/>
            <a:ext cx="3839291" cy="3960440"/>
          </a:xfrm>
          <a:prstGeom prst="rect">
            <a:avLst/>
          </a:prstGeom>
        </p:spPr>
      </p:pic>
    </p:spTree>
    <p:extLst>
      <p:ext uri="{BB962C8B-B14F-4D97-AF65-F5344CB8AC3E}">
        <p14:creationId xmlns:p14="http://schemas.microsoft.com/office/powerpoint/2010/main" val="1624350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436E3-4B3F-330C-5D8D-766CC676B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FFF63-8D8D-F647-7BC2-6CA4D1394F0D}"/>
              </a:ext>
            </a:extLst>
          </p:cNvPr>
          <p:cNvSpPr>
            <a:spLocks noGrp="1"/>
          </p:cNvSpPr>
          <p:nvPr>
            <p:ph type="title"/>
          </p:nvPr>
        </p:nvSpPr>
        <p:spPr>
          <a:xfrm>
            <a:off x="766233" y="304801"/>
            <a:ext cx="10668000" cy="891951"/>
          </a:xfrm>
        </p:spPr>
        <p:txBody>
          <a:bodyPr/>
          <a:lstStyle/>
          <a:p>
            <a:pPr algn="ctr"/>
            <a:r>
              <a:rPr lang="en-US" altLang="en-US" sz="3200" b="1" dirty="0">
                <a:solidFill>
                  <a:srgbClr val="FF0000"/>
                </a:solidFill>
              </a:rPr>
              <a:t>Module Description</a:t>
            </a:r>
            <a:endParaRPr lang="en-IN" sz="2800" dirty="0"/>
          </a:p>
        </p:txBody>
      </p:sp>
      <p:sp>
        <p:nvSpPr>
          <p:cNvPr id="6" name="Slide Number Placeholder 5">
            <a:extLst>
              <a:ext uri="{FF2B5EF4-FFF2-40B4-BE49-F238E27FC236}">
                <a16:creationId xmlns:a16="http://schemas.microsoft.com/office/drawing/2014/main" id="{E27BCD38-C891-D1ED-1932-6C105B06A42B}"/>
              </a:ext>
            </a:extLst>
          </p:cNvPr>
          <p:cNvSpPr>
            <a:spLocks noGrp="1"/>
          </p:cNvSpPr>
          <p:nvPr>
            <p:ph type="sldNum" sz="quarter" idx="12"/>
          </p:nvPr>
        </p:nvSpPr>
        <p:spPr/>
        <p:txBody>
          <a:bodyPr/>
          <a:lstStyle/>
          <a:p>
            <a:fld id="{5AB9ECBD-B4DD-40D5-8D24-9ECCDBB1583E}" type="slidenum">
              <a:rPr lang="en-IN" smtClean="0"/>
              <a:t>23</a:t>
            </a:fld>
            <a:endParaRPr lang="en-IN"/>
          </a:p>
        </p:txBody>
      </p:sp>
      <p:sp>
        <p:nvSpPr>
          <p:cNvPr id="3" name="Content Placeholder 2">
            <a:extLst>
              <a:ext uri="{FF2B5EF4-FFF2-40B4-BE49-F238E27FC236}">
                <a16:creationId xmlns:a16="http://schemas.microsoft.com/office/drawing/2014/main" id="{90AA11C7-EB45-7D64-0925-86AD97846239}"/>
              </a:ext>
            </a:extLst>
          </p:cNvPr>
          <p:cNvSpPr>
            <a:spLocks noGrp="1"/>
          </p:cNvSpPr>
          <p:nvPr>
            <p:ph idx="1"/>
          </p:nvPr>
        </p:nvSpPr>
        <p:spPr>
          <a:xfrm>
            <a:off x="755651" y="1752600"/>
            <a:ext cx="6204445" cy="4267200"/>
          </a:xfrm>
        </p:spPr>
        <p:txBody>
          <a:bodyPr/>
          <a:lstStyle/>
          <a:p>
            <a:pPr marL="0" indent="0" algn="just">
              <a:buNone/>
            </a:pPr>
            <a:r>
              <a:rPr lang="en-IN" sz="2400" b="1" dirty="0"/>
              <a:t>4. Optimized Search Module</a:t>
            </a:r>
          </a:p>
          <a:p>
            <a:pPr marL="0" indent="0" algn="just">
              <a:buNone/>
            </a:pPr>
            <a:r>
              <a:rPr lang="en-IN" sz="2400" dirty="0"/>
              <a:t>	This module generates feasible timetables using Backtracking Search and optimization techniques. MRV selects variables with the fewest available options, while LCV prioritizes assignments that restrict other variables the least. Forward Checking detects conflicts early by updating the available options for unassigned variables, helping guide the search towards a valid timetable.</a:t>
            </a:r>
          </a:p>
        </p:txBody>
      </p:sp>
      <p:pic>
        <p:nvPicPr>
          <p:cNvPr id="5" name="Picture 4">
            <a:extLst>
              <a:ext uri="{FF2B5EF4-FFF2-40B4-BE49-F238E27FC236}">
                <a16:creationId xmlns:a16="http://schemas.microsoft.com/office/drawing/2014/main" id="{79E228F6-ABFD-3863-5E00-2BBCD5A241BB}"/>
              </a:ext>
            </a:extLst>
          </p:cNvPr>
          <p:cNvPicPr>
            <a:picLocks noChangeAspect="1"/>
          </p:cNvPicPr>
          <p:nvPr/>
        </p:nvPicPr>
        <p:blipFill>
          <a:blip r:embed="rId2"/>
          <a:stretch>
            <a:fillRect/>
          </a:stretch>
        </p:blipFill>
        <p:spPr>
          <a:xfrm>
            <a:off x="7104112" y="2172816"/>
            <a:ext cx="4640064" cy="3096344"/>
          </a:xfrm>
          <a:prstGeom prst="rect">
            <a:avLst/>
          </a:prstGeom>
        </p:spPr>
      </p:pic>
    </p:spTree>
    <p:extLst>
      <p:ext uri="{BB962C8B-B14F-4D97-AF65-F5344CB8AC3E}">
        <p14:creationId xmlns:p14="http://schemas.microsoft.com/office/powerpoint/2010/main" val="2000800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80374-5FF7-D906-C8EE-B3A52C4D7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37AFE-8F05-3C2A-59F2-C2E62DB95EA7}"/>
              </a:ext>
            </a:extLst>
          </p:cNvPr>
          <p:cNvSpPr>
            <a:spLocks noGrp="1"/>
          </p:cNvSpPr>
          <p:nvPr>
            <p:ph type="title"/>
          </p:nvPr>
        </p:nvSpPr>
        <p:spPr>
          <a:xfrm>
            <a:off x="766233" y="304801"/>
            <a:ext cx="10668000" cy="891951"/>
          </a:xfrm>
        </p:spPr>
        <p:txBody>
          <a:bodyPr/>
          <a:lstStyle/>
          <a:p>
            <a:pPr algn="ctr"/>
            <a:r>
              <a:rPr lang="en-US" altLang="en-US" sz="3200" b="1" dirty="0">
                <a:solidFill>
                  <a:srgbClr val="FF0000"/>
                </a:solidFill>
              </a:rPr>
              <a:t>Module Description</a:t>
            </a:r>
            <a:endParaRPr lang="en-IN" sz="2800" dirty="0"/>
          </a:p>
        </p:txBody>
      </p:sp>
      <p:sp>
        <p:nvSpPr>
          <p:cNvPr id="6" name="Slide Number Placeholder 5">
            <a:extLst>
              <a:ext uri="{FF2B5EF4-FFF2-40B4-BE49-F238E27FC236}">
                <a16:creationId xmlns:a16="http://schemas.microsoft.com/office/drawing/2014/main" id="{E3BB3057-37DF-E36B-204C-6AC277396B18}"/>
              </a:ext>
            </a:extLst>
          </p:cNvPr>
          <p:cNvSpPr>
            <a:spLocks noGrp="1"/>
          </p:cNvSpPr>
          <p:nvPr>
            <p:ph type="sldNum" sz="quarter" idx="12"/>
          </p:nvPr>
        </p:nvSpPr>
        <p:spPr/>
        <p:txBody>
          <a:bodyPr/>
          <a:lstStyle/>
          <a:p>
            <a:fld id="{5AB9ECBD-B4DD-40D5-8D24-9ECCDBB1583E}" type="slidenum">
              <a:rPr lang="en-IN" smtClean="0"/>
              <a:t>24</a:t>
            </a:fld>
            <a:endParaRPr lang="en-IN"/>
          </a:p>
        </p:txBody>
      </p:sp>
      <p:sp>
        <p:nvSpPr>
          <p:cNvPr id="3" name="Content Placeholder 2">
            <a:extLst>
              <a:ext uri="{FF2B5EF4-FFF2-40B4-BE49-F238E27FC236}">
                <a16:creationId xmlns:a16="http://schemas.microsoft.com/office/drawing/2014/main" id="{D627FB6A-3DC9-4E9B-9944-81BD0B2A6E5B}"/>
              </a:ext>
            </a:extLst>
          </p:cNvPr>
          <p:cNvSpPr>
            <a:spLocks noGrp="1"/>
          </p:cNvSpPr>
          <p:nvPr>
            <p:ph idx="1"/>
          </p:nvPr>
        </p:nvSpPr>
        <p:spPr>
          <a:xfrm>
            <a:off x="755651" y="1700808"/>
            <a:ext cx="6276453" cy="4267200"/>
          </a:xfrm>
        </p:spPr>
        <p:txBody>
          <a:bodyPr/>
          <a:lstStyle/>
          <a:p>
            <a:pPr marL="0" indent="0">
              <a:buNone/>
            </a:pPr>
            <a:r>
              <a:rPr lang="en-IN" sz="2400" b="1" dirty="0"/>
              <a:t>5. Adaptive Timetable Rescheduling Module</a:t>
            </a:r>
          </a:p>
          <a:p>
            <a:pPr marL="0" indent="0" algn="just">
              <a:buNone/>
            </a:pPr>
            <a:r>
              <a:rPr lang="en-IN" sz="2400" dirty="0"/>
              <a:t>	This module handles faculty absences by identifying affected classes and checking for qualified, available substitute faculty. If a suitable substitute is unavailable, the system uses CSP-based rescheduling to find an alternative time slot. The revised timetable is validated and updated while preserving unaffected assignments, minimizing unnecessary changes to the existing schedule.</a:t>
            </a:r>
          </a:p>
          <a:p>
            <a:pPr algn="just"/>
            <a:endParaRPr lang="en-IN" sz="2400" dirty="0"/>
          </a:p>
        </p:txBody>
      </p:sp>
      <p:pic>
        <p:nvPicPr>
          <p:cNvPr id="5" name="Picture 4">
            <a:extLst>
              <a:ext uri="{FF2B5EF4-FFF2-40B4-BE49-F238E27FC236}">
                <a16:creationId xmlns:a16="http://schemas.microsoft.com/office/drawing/2014/main" id="{2A424761-61DD-95EE-233D-969C1101CDCF}"/>
              </a:ext>
            </a:extLst>
          </p:cNvPr>
          <p:cNvPicPr>
            <a:picLocks noChangeAspect="1"/>
          </p:cNvPicPr>
          <p:nvPr/>
        </p:nvPicPr>
        <p:blipFill>
          <a:blip r:embed="rId2"/>
          <a:stretch>
            <a:fillRect/>
          </a:stretch>
        </p:blipFill>
        <p:spPr>
          <a:xfrm>
            <a:off x="7176120" y="2298578"/>
            <a:ext cx="4700431" cy="3071659"/>
          </a:xfrm>
          <a:prstGeom prst="rect">
            <a:avLst/>
          </a:prstGeom>
        </p:spPr>
      </p:pic>
    </p:spTree>
    <p:extLst>
      <p:ext uri="{BB962C8B-B14F-4D97-AF65-F5344CB8AC3E}">
        <p14:creationId xmlns:p14="http://schemas.microsoft.com/office/powerpoint/2010/main" val="4276741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US" altLang="en-US" sz="3200" b="1" dirty="0">
                <a:solidFill>
                  <a:srgbClr val="FF0000"/>
                </a:solidFill>
              </a:rPr>
              <a:t>Results &amp; Discussion</a:t>
            </a:r>
            <a:endParaRPr lang="en-IN" sz="2800" dirty="0"/>
          </a:p>
        </p:txBody>
      </p:sp>
      <p:graphicFrame>
        <p:nvGraphicFramePr>
          <p:cNvPr id="5" name="Content Placeholder 4">
            <a:extLst>
              <a:ext uri="{FF2B5EF4-FFF2-40B4-BE49-F238E27FC236}">
                <a16:creationId xmlns:a16="http://schemas.microsoft.com/office/drawing/2014/main" id="{6D4E280A-CE06-19DB-B233-ADCE06400281}"/>
              </a:ext>
            </a:extLst>
          </p:cNvPr>
          <p:cNvGraphicFramePr>
            <a:graphicFrameLocks noGrp="1"/>
          </p:cNvGraphicFramePr>
          <p:nvPr>
            <p:ph idx="1"/>
            <p:extLst>
              <p:ext uri="{D42A27DB-BD31-4B8C-83A1-F6EECF244321}">
                <p14:modId xmlns:p14="http://schemas.microsoft.com/office/powerpoint/2010/main" val="809717448"/>
              </p:ext>
            </p:extLst>
          </p:nvPr>
        </p:nvGraphicFramePr>
        <p:xfrm>
          <a:off x="755650" y="1752600"/>
          <a:ext cx="10668000" cy="3337560"/>
        </p:xfrm>
        <a:graphic>
          <a:graphicData uri="http://schemas.openxmlformats.org/drawingml/2006/table">
            <a:tbl>
              <a:tblPr firstRow="1" bandRow="1">
                <a:tableStyleId>{21E4AEA4-8DFA-4A89-87EB-49C32662AFE0}</a:tableStyleId>
              </a:tblPr>
              <a:tblGrid>
                <a:gridCol w="5334000">
                  <a:extLst>
                    <a:ext uri="{9D8B030D-6E8A-4147-A177-3AD203B41FA5}">
                      <a16:colId xmlns:a16="http://schemas.microsoft.com/office/drawing/2014/main" val="3275089899"/>
                    </a:ext>
                  </a:extLst>
                </a:gridCol>
                <a:gridCol w="5334000">
                  <a:extLst>
                    <a:ext uri="{9D8B030D-6E8A-4147-A177-3AD203B41FA5}">
                      <a16:colId xmlns:a16="http://schemas.microsoft.com/office/drawing/2014/main" val="2023477394"/>
                    </a:ext>
                  </a:extLst>
                </a:gridCol>
              </a:tblGrid>
              <a:tr h="370840">
                <a:tc>
                  <a:txBody>
                    <a:bodyPr/>
                    <a:lstStyle/>
                    <a:p>
                      <a:pPr>
                        <a:buNone/>
                      </a:pPr>
                      <a:r>
                        <a:rPr lang="en-IN" dirty="0"/>
                        <a:t>Parameter</a:t>
                      </a:r>
                    </a:p>
                  </a:txBody>
                  <a:tcPr anchor="ctr"/>
                </a:tc>
                <a:tc>
                  <a:txBody>
                    <a:bodyPr/>
                    <a:lstStyle/>
                    <a:p>
                      <a:pPr>
                        <a:buNone/>
                      </a:pPr>
                      <a:r>
                        <a:rPr lang="en-IN"/>
                        <a:t>Configuration</a:t>
                      </a:r>
                    </a:p>
                  </a:txBody>
                  <a:tcPr anchor="ctr"/>
                </a:tc>
                <a:extLst>
                  <a:ext uri="{0D108BD9-81ED-4DB2-BD59-A6C34878D82A}">
                    <a16:rowId xmlns:a16="http://schemas.microsoft.com/office/drawing/2014/main" val="2237705553"/>
                  </a:ext>
                </a:extLst>
              </a:tr>
              <a:tr h="370840">
                <a:tc>
                  <a:txBody>
                    <a:bodyPr/>
                    <a:lstStyle/>
                    <a:p>
                      <a:pPr>
                        <a:buNone/>
                      </a:pPr>
                      <a:r>
                        <a:rPr lang="en-IN"/>
                        <a:t>Departments</a:t>
                      </a:r>
                    </a:p>
                  </a:txBody>
                  <a:tcPr anchor="ctr"/>
                </a:tc>
                <a:tc>
                  <a:txBody>
                    <a:bodyPr/>
                    <a:lstStyle/>
                    <a:p>
                      <a:pPr>
                        <a:buNone/>
                      </a:pPr>
                      <a:r>
                        <a:rPr lang="en-IN"/>
                        <a:t>6</a:t>
                      </a:r>
                    </a:p>
                  </a:txBody>
                  <a:tcPr anchor="ctr"/>
                </a:tc>
                <a:extLst>
                  <a:ext uri="{0D108BD9-81ED-4DB2-BD59-A6C34878D82A}">
                    <a16:rowId xmlns:a16="http://schemas.microsoft.com/office/drawing/2014/main" val="3330659213"/>
                  </a:ext>
                </a:extLst>
              </a:tr>
              <a:tr h="370840">
                <a:tc>
                  <a:txBody>
                    <a:bodyPr/>
                    <a:lstStyle/>
                    <a:p>
                      <a:pPr>
                        <a:buNone/>
                      </a:pPr>
                      <a:r>
                        <a:rPr lang="en-IN"/>
                        <a:t>Sections per department</a:t>
                      </a:r>
                    </a:p>
                  </a:txBody>
                  <a:tcPr anchor="ctr"/>
                </a:tc>
                <a:tc>
                  <a:txBody>
                    <a:bodyPr/>
                    <a:lstStyle/>
                    <a:p>
                      <a:pPr>
                        <a:buNone/>
                      </a:pPr>
                      <a:r>
                        <a:rPr lang="en-IN"/>
                        <a:t>2</a:t>
                      </a:r>
                    </a:p>
                  </a:txBody>
                  <a:tcPr anchor="ctr"/>
                </a:tc>
                <a:extLst>
                  <a:ext uri="{0D108BD9-81ED-4DB2-BD59-A6C34878D82A}">
                    <a16:rowId xmlns:a16="http://schemas.microsoft.com/office/drawing/2014/main" val="3420158269"/>
                  </a:ext>
                </a:extLst>
              </a:tr>
              <a:tr h="370840">
                <a:tc>
                  <a:txBody>
                    <a:bodyPr/>
                    <a:lstStyle/>
                    <a:p>
                      <a:pPr>
                        <a:buNone/>
                      </a:pPr>
                      <a:r>
                        <a:rPr lang="en-IN"/>
                        <a:t>Total sections</a:t>
                      </a:r>
                    </a:p>
                  </a:txBody>
                  <a:tcPr anchor="ctr"/>
                </a:tc>
                <a:tc>
                  <a:txBody>
                    <a:bodyPr/>
                    <a:lstStyle/>
                    <a:p>
                      <a:pPr>
                        <a:buNone/>
                      </a:pPr>
                      <a:r>
                        <a:rPr lang="en-IN"/>
                        <a:t>12</a:t>
                      </a:r>
                    </a:p>
                  </a:txBody>
                  <a:tcPr anchor="ctr"/>
                </a:tc>
                <a:extLst>
                  <a:ext uri="{0D108BD9-81ED-4DB2-BD59-A6C34878D82A}">
                    <a16:rowId xmlns:a16="http://schemas.microsoft.com/office/drawing/2014/main" val="2208126041"/>
                  </a:ext>
                </a:extLst>
              </a:tr>
              <a:tr h="370840">
                <a:tc>
                  <a:txBody>
                    <a:bodyPr/>
                    <a:lstStyle/>
                    <a:p>
                      <a:pPr>
                        <a:buNone/>
                      </a:pPr>
                      <a:r>
                        <a:rPr lang="en-IN"/>
                        <a:t>Working days</a:t>
                      </a:r>
                    </a:p>
                  </a:txBody>
                  <a:tcPr anchor="ctr"/>
                </a:tc>
                <a:tc>
                  <a:txBody>
                    <a:bodyPr/>
                    <a:lstStyle/>
                    <a:p>
                      <a:pPr>
                        <a:buNone/>
                      </a:pPr>
                      <a:r>
                        <a:rPr lang="en-IN"/>
                        <a:t>Monday–Friday</a:t>
                      </a:r>
                    </a:p>
                  </a:txBody>
                  <a:tcPr anchor="ctr"/>
                </a:tc>
                <a:extLst>
                  <a:ext uri="{0D108BD9-81ED-4DB2-BD59-A6C34878D82A}">
                    <a16:rowId xmlns:a16="http://schemas.microsoft.com/office/drawing/2014/main" val="1644081383"/>
                  </a:ext>
                </a:extLst>
              </a:tr>
              <a:tr h="370840">
                <a:tc>
                  <a:txBody>
                    <a:bodyPr/>
                    <a:lstStyle/>
                    <a:p>
                      <a:pPr>
                        <a:buNone/>
                      </a:pPr>
                      <a:r>
                        <a:rPr lang="en-IN"/>
                        <a:t>Periods per day</a:t>
                      </a:r>
                    </a:p>
                  </a:txBody>
                  <a:tcPr anchor="ctr"/>
                </a:tc>
                <a:tc>
                  <a:txBody>
                    <a:bodyPr/>
                    <a:lstStyle/>
                    <a:p>
                      <a:pPr>
                        <a:buNone/>
                      </a:pPr>
                      <a:r>
                        <a:rPr lang="en-IN"/>
                        <a:t>7</a:t>
                      </a:r>
                    </a:p>
                  </a:txBody>
                  <a:tcPr anchor="ctr"/>
                </a:tc>
                <a:extLst>
                  <a:ext uri="{0D108BD9-81ED-4DB2-BD59-A6C34878D82A}">
                    <a16:rowId xmlns:a16="http://schemas.microsoft.com/office/drawing/2014/main" val="4200231248"/>
                  </a:ext>
                </a:extLst>
              </a:tr>
              <a:tr h="370840">
                <a:tc>
                  <a:txBody>
                    <a:bodyPr/>
                    <a:lstStyle/>
                    <a:p>
                      <a:pPr>
                        <a:buNone/>
                      </a:pPr>
                      <a:r>
                        <a:rPr lang="en-IN"/>
                        <a:t>Duration per period</a:t>
                      </a:r>
                    </a:p>
                  </a:txBody>
                  <a:tcPr anchor="ctr"/>
                </a:tc>
                <a:tc>
                  <a:txBody>
                    <a:bodyPr/>
                    <a:lstStyle/>
                    <a:p>
                      <a:pPr>
                        <a:buNone/>
                      </a:pPr>
                      <a:r>
                        <a:rPr lang="en-IN"/>
                        <a:t>50 minutes</a:t>
                      </a:r>
                    </a:p>
                  </a:txBody>
                  <a:tcPr anchor="ctr"/>
                </a:tc>
                <a:extLst>
                  <a:ext uri="{0D108BD9-81ED-4DB2-BD59-A6C34878D82A}">
                    <a16:rowId xmlns:a16="http://schemas.microsoft.com/office/drawing/2014/main" val="256884939"/>
                  </a:ext>
                </a:extLst>
              </a:tr>
              <a:tr h="370840">
                <a:tc>
                  <a:txBody>
                    <a:bodyPr/>
                    <a:lstStyle/>
                    <a:p>
                      <a:pPr>
                        <a:buNone/>
                      </a:pPr>
                      <a:r>
                        <a:rPr lang="en-IN"/>
                        <a:t>Lunch break</a:t>
                      </a:r>
                    </a:p>
                  </a:txBody>
                  <a:tcPr anchor="ctr"/>
                </a:tc>
                <a:tc>
                  <a:txBody>
                    <a:bodyPr/>
                    <a:lstStyle/>
                    <a:p>
                      <a:pPr>
                        <a:buNone/>
                      </a:pPr>
                      <a:r>
                        <a:rPr lang="en-IN"/>
                        <a:t>11:20 AM–12:20 PM</a:t>
                      </a:r>
                    </a:p>
                  </a:txBody>
                  <a:tcPr anchor="ctr"/>
                </a:tc>
                <a:extLst>
                  <a:ext uri="{0D108BD9-81ED-4DB2-BD59-A6C34878D82A}">
                    <a16:rowId xmlns:a16="http://schemas.microsoft.com/office/drawing/2014/main" val="2711308003"/>
                  </a:ext>
                </a:extLst>
              </a:tr>
              <a:tr h="370840">
                <a:tc>
                  <a:txBody>
                    <a:bodyPr/>
                    <a:lstStyle/>
                    <a:p>
                      <a:pPr>
                        <a:buNone/>
                      </a:pPr>
                      <a:r>
                        <a:rPr lang="en-IN"/>
                        <a:t>Laboratory duration</a:t>
                      </a:r>
                    </a:p>
                  </a:txBody>
                  <a:tcPr anchor="ctr"/>
                </a:tc>
                <a:tc>
                  <a:txBody>
                    <a:bodyPr/>
                    <a:lstStyle/>
                    <a:p>
                      <a:pPr>
                        <a:buNone/>
                      </a:pPr>
                      <a:r>
                        <a:rPr lang="en-IN" dirty="0"/>
                        <a:t>2 consecutive periods</a:t>
                      </a:r>
                    </a:p>
                  </a:txBody>
                  <a:tcPr anchor="ctr"/>
                </a:tc>
                <a:extLst>
                  <a:ext uri="{0D108BD9-81ED-4DB2-BD59-A6C34878D82A}">
                    <a16:rowId xmlns:a16="http://schemas.microsoft.com/office/drawing/2014/main" val="2750882287"/>
                  </a:ext>
                </a:extLst>
              </a:tr>
            </a:tbl>
          </a:graphicData>
        </a:graphic>
      </p:graphicFrame>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25</a:t>
            </a:fld>
            <a:endParaRPr lang="en-IN"/>
          </a:p>
        </p:txBody>
      </p:sp>
    </p:spTree>
    <p:extLst>
      <p:ext uri="{BB962C8B-B14F-4D97-AF65-F5344CB8AC3E}">
        <p14:creationId xmlns:p14="http://schemas.microsoft.com/office/powerpoint/2010/main" val="4109638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08A8-9FEC-955E-6E7C-F676A135168A}"/>
              </a:ext>
            </a:extLst>
          </p:cNvPr>
          <p:cNvSpPr>
            <a:spLocks noGrp="1"/>
          </p:cNvSpPr>
          <p:nvPr>
            <p:ph type="title"/>
          </p:nvPr>
        </p:nvSpPr>
        <p:spPr/>
        <p:txBody>
          <a:bodyPr/>
          <a:lstStyle/>
          <a:p>
            <a:pPr algn="ctr"/>
            <a:r>
              <a:rPr lang="en-US" altLang="en-US" sz="3200" b="1" dirty="0">
                <a:solidFill>
                  <a:srgbClr val="FF0000"/>
                </a:solidFill>
              </a:rPr>
              <a:t>Results &amp; Discussion</a:t>
            </a:r>
            <a:endParaRPr lang="en-IN" sz="3200" dirty="0"/>
          </a:p>
        </p:txBody>
      </p:sp>
      <p:graphicFrame>
        <p:nvGraphicFramePr>
          <p:cNvPr id="7" name="Content Placeholder 6">
            <a:extLst>
              <a:ext uri="{FF2B5EF4-FFF2-40B4-BE49-F238E27FC236}">
                <a16:creationId xmlns:a16="http://schemas.microsoft.com/office/drawing/2014/main" id="{E0482F9D-62FE-8F4F-942C-818A67E4B8B2}"/>
              </a:ext>
            </a:extLst>
          </p:cNvPr>
          <p:cNvGraphicFramePr>
            <a:graphicFrameLocks noGrp="1"/>
          </p:cNvGraphicFramePr>
          <p:nvPr>
            <p:ph idx="1"/>
            <p:extLst>
              <p:ext uri="{D42A27DB-BD31-4B8C-83A1-F6EECF244321}">
                <p14:modId xmlns:p14="http://schemas.microsoft.com/office/powerpoint/2010/main" val="3937719706"/>
              </p:ext>
            </p:extLst>
          </p:nvPr>
        </p:nvGraphicFramePr>
        <p:xfrm>
          <a:off x="755650" y="1752600"/>
          <a:ext cx="10668000" cy="2252466"/>
        </p:xfrm>
        <a:graphic>
          <a:graphicData uri="http://schemas.openxmlformats.org/drawingml/2006/table">
            <a:tbl>
              <a:tblPr firstRow="1" bandRow="1">
                <a:tableStyleId>{21E4AEA4-8DFA-4A89-87EB-49C32662AFE0}</a:tableStyleId>
              </a:tblPr>
              <a:tblGrid>
                <a:gridCol w="5334000">
                  <a:extLst>
                    <a:ext uri="{9D8B030D-6E8A-4147-A177-3AD203B41FA5}">
                      <a16:colId xmlns:a16="http://schemas.microsoft.com/office/drawing/2014/main" val="3371548888"/>
                    </a:ext>
                  </a:extLst>
                </a:gridCol>
                <a:gridCol w="5334000">
                  <a:extLst>
                    <a:ext uri="{9D8B030D-6E8A-4147-A177-3AD203B41FA5}">
                      <a16:colId xmlns:a16="http://schemas.microsoft.com/office/drawing/2014/main" val="3449617491"/>
                    </a:ext>
                  </a:extLst>
                </a:gridCol>
              </a:tblGrid>
              <a:tr h="375411">
                <a:tc>
                  <a:txBody>
                    <a:bodyPr/>
                    <a:lstStyle/>
                    <a:p>
                      <a:pPr>
                        <a:buNone/>
                      </a:pPr>
                      <a:r>
                        <a:rPr lang="en-IN" dirty="0"/>
                        <a:t>Metric</a:t>
                      </a:r>
                    </a:p>
                  </a:txBody>
                  <a:tcPr anchor="ctr"/>
                </a:tc>
                <a:tc>
                  <a:txBody>
                    <a:bodyPr/>
                    <a:lstStyle/>
                    <a:p>
                      <a:pPr algn="r">
                        <a:buNone/>
                      </a:pPr>
                      <a:r>
                        <a:rPr lang="en-IN"/>
                        <a:t>Observed Result</a:t>
                      </a:r>
                    </a:p>
                  </a:txBody>
                  <a:tcPr anchor="ctr"/>
                </a:tc>
                <a:extLst>
                  <a:ext uri="{0D108BD9-81ED-4DB2-BD59-A6C34878D82A}">
                    <a16:rowId xmlns:a16="http://schemas.microsoft.com/office/drawing/2014/main" val="2464565383"/>
                  </a:ext>
                </a:extLst>
              </a:tr>
              <a:tr h="375411">
                <a:tc>
                  <a:txBody>
                    <a:bodyPr/>
                    <a:lstStyle/>
                    <a:p>
                      <a:pPr>
                        <a:buNone/>
                      </a:pPr>
                      <a:r>
                        <a:rPr lang="en-IN"/>
                        <a:t>Affected classes</a:t>
                      </a:r>
                    </a:p>
                  </a:txBody>
                  <a:tcPr anchor="ctr"/>
                </a:tc>
                <a:tc>
                  <a:txBody>
                    <a:bodyPr/>
                    <a:lstStyle/>
                    <a:p>
                      <a:pPr algn="r">
                        <a:buNone/>
                      </a:pPr>
                      <a:r>
                        <a:rPr lang="en-IN"/>
                        <a:t>1</a:t>
                      </a:r>
                    </a:p>
                  </a:txBody>
                  <a:tcPr anchor="ctr"/>
                </a:tc>
                <a:extLst>
                  <a:ext uri="{0D108BD9-81ED-4DB2-BD59-A6C34878D82A}">
                    <a16:rowId xmlns:a16="http://schemas.microsoft.com/office/drawing/2014/main" val="125806980"/>
                  </a:ext>
                </a:extLst>
              </a:tr>
              <a:tr h="375411">
                <a:tc>
                  <a:txBody>
                    <a:bodyPr/>
                    <a:lstStyle/>
                    <a:p>
                      <a:pPr>
                        <a:buNone/>
                      </a:pPr>
                      <a:r>
                        <a:rPr lang="en-IN"/>
                        <a:t>Rescheduled classes</a:t>
                      </a:r>
                    </a:p>
                  </a:txBody>
                  <a:tcPr anchor="ctr"/>
                </a:tc>
                <a:tc>
                  <a:txBody>
                    <a:bodyPr/>
                    <a:lstStyle/>
                    <a:p>
                      <a:pPr algn="r">
                        <a:buNone/>
                      </a:pPr>
                      <a:r>
                        <a:rPr lang="en-IN"/>
                        <a:t>1</a:t>
                      </a:r>
                    </a:p>
                  </a:txBody>
                  <a:tcPr anchor="ctr"/>
                </a:tc>
                <a:extLst>
                  <a:ext uri="{0D108BD9-81ED-4DB2-BD59-A6C34878D82A}">
                    <a16:rowId xmlns:a16="http://schemas.microsoft.com/office/drawing/2014/main" val="1434918475"/>
                  </a:ext>
                </a:extLst>
              </a:tr>
              <a:tr h="375411">
                <a:tc>
                  <a:txBody>
                    <a:bodyPr/>
                    <a:lstStyle/>
                    <a:p>
                      <a:pPr>
                        <a:buNone/>
                      </a:pPr>
                      <a:r>
                        <a:rPr lang="en-IN"/>
                        <a:t>Classes covered by substitute</a:t>
                      </a:r>
                    </a:p>
                  </a:txBody>
                  <a:tcPr anchor="ctr"/>
                </a:tc>
                <a:tc>
                  <a:txBody>
                    <a:bodyPr/>
                    <a:lstStyle/>
                    <a:p>
                      <a:pPr algn="r">
                        <a:buNone/>
                      </a:pPr>
                      <a:r>
                        <a:rPr lang="en-IN"/>
                        <a:t>0</a:t>
                      </a:r>
                    </a:p>
                  </a:txBody>
                  <a:tcPr anchor="ctr"/>
                </a:tc>
                <a:extLst>
                  <a:ext uri="{0D108BD9-81ED-4DB2-BD59-A6C34878D82A}">
                    <a16:rowId xmlns:a16="http://schemas.microsoft.com/office/drawing/2014/main" val="342385459"/>
                  </a:ext>
                </a:extLst>
              </a:tr>
              <a:tr h="375411">
                <a:tc>
                  <a:txBody>
                    <a:bodyPr/>
                    <a:lstStyle/>
                    <a:p>
                      <a:pPr>
                        <a:buNone/>
                      </a:pPr>
                      <a:r>
                        <a:rPr lang="en-IN"/>
                        <a:t>Unchanged assignments</a:t>
                      </a:r>
                    </a:p>
                  </a:txBody>
                  <a:tcPr anchor="ctr"/>
                </a:tc>
                <a:tc>
                  <a:txBody>
                    <a:bodyPr/>
                    <a:lstStyle/>
                    <a:p>
                      <a:pPr algn="r">
                        <a:buNone/>
                      </a:pPr>
                      <a:r>
                        <a:rPr lang="en-IN"/>
                        <a:t>365</a:t>
                      </a:r>
                    </a:p>
                  </a:txBody>
                  <a:tcPr anchor="ctr"/>
                </a:tc>
                <a:extLst>
                  <a:ext uri="{0D108BD9-81ED-4DB2-BD59-A6C34878D82A}">
                    <a16:rowId xmlns:a16="http://schemas.microsoft.com/office/drawing/2014/main" val="2155060571"/>
                  </a:ext>
                </a:extLst>
              </a:tr>
              <a:tr h="375411">
                <a:tc>
                  <a:txBody>
                    <a:bodyPr/>
                    <a:lstStyle/>
                    <a:p>
                      <a:pPr>
                        <a:buNone/>
                      </a:pPr>
                      <a:r>
                        <a:rPr lang="en-IN"/>
                        <a:t>Timetable stability index</a:t>
                      </a:r>
                    </a:p>
                  </a:txBody>
                  <a:tcPr anchor="ctr"/>
                </a:tc>
                <a:tc>
                  <a:txBody>
                    <a:bodyPr/>
                    <a:lstStyle/>
                    <a:p>
                      <a:pPr algn="r">
                        <a:buNone/>
                      </a:pPr>
                      <a:r>
                        <a:rPr lang="en-IN" dirty="0"/>
                        <a:t>99.73%</a:t>
                      </a:r>
                    </a:p>
                  </a:txBody>
                  <a:tcPr anchor="ctr"/>
                </a:tc>
                <a:extLst>
                  <a:ext uri="{0D108BD9-81ED-4DB2-BD59-A6C34878D82A}">
                    <a16:rowId xmlns:a16="http://schemas.microsoft.com/office/drawing/2014/main" val="2132953147"/>
                  </a:ext>
                </a:extLst>
              </a:tr>
            </a:tbl>
          </a:graphicData>
        </a:graphic>
      </p:graphicFrame>
      <p:sp>
        <p:nvSpPr>
          <p:cNvPr id="6" name="Slide Number Placeholder 5">
            <a:extLst>
              <a:ext uri="{FF2B5EF4-FFF2-40B4-BE49-F238E27FC236}">
                <a16:creationId xmlns:a16="http://schemas.microsoft.com/office/drawing/2014/main" id="{E98B00DB-9446-52AA-FF89-7624E850F42C}"/>
              </a:ext>
            </a:extLst>
          </p:cNvPr>
          <p:cNvSpPr>
            <a:spLocks noGrp="1"/>
          </p:cNvSpPr>
          <p:nvPr>
            <p:ph type="sldNum" sz="quarter" idx="12"/>
          </p:nvPr>
        </p:nvSpPr>
        <p:spPr/>
        <p:txBody>
          <a:bodyPr/>
          <a:lstStyle/>
          <a:p>
            <a:pPr>
              <a:defRPr/>
            </a:pPr>
            <a:fld id="{BDC2143B-610F-499C-A392-DFFBE135A7B2}" type="slidenum">
              <a:rPr lang="en-US" altLang="en-US" smtClean="0"/>
              <a:pPr>
                <a:defRPr/>
              </a:pPr>
              <a:t>26</a:t>
            </a:fld>
            <a:endParaRPr lang="en-US" altLang="en-US"/>
          </a:p>
        </p:txBody>
      </p:sp>
    </p:spTree>
    <p:extLst>
      <p:ext uri="{BB962C8B-B14F-4D97-AF65-F5344CB8AC3E}">
        <p14:creationId xmlns:p14="http://schemas.microsoft.com/office/powerpoint/2010/main" val="2615841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3CCF4-60BD-5F79-5AE3-C11D9E4081E4}"/>
              </a:ext>
            </a:extLst>
          </p:cNvPr>
          <p:cNvSpPr>
            <a:spLocks noGrp="1"/>
          </p:cNvSpPr>
          <p:nvPr>
            <p:ph type="title"/>
          </p:nvPr>
        </p:nvSpPr>
        <p:spPr/>
        <p:txBody>
          <a:bodyPr/>
          <a:lstStyle/>
          <a:p>
            <a:pPr algn="ctr"/>
            <a:r>
              <a:rPr lang="en-US" altLang="en-US" sz="3200" b="1" dirty="0">
                <a:solidFill>
                  <a:srgbClr val="FF0000"/>
                </a:solidFill>
              </a:rPr>
              <a:t>Results &amp; Discussion</a:t>
            </a:r>
            <a:endParaRPr lang="en-IN" sz="3200" dirty="0"/>
          </a:p>
        </p:txBody>
      </p:sp>
      <p:sp>
        <p:nvSpPr>
          <p:cNvPr id="3" name="Content Placeholder 2">
            <a:extLst>
              <a:ext uri="{FF2B5EF4-FFF2-40B4-BE49-F238E27FC236}">
                <a16:creationId xmlns:a16="http://schemas.microsoft.com/office/drawing/2014/main" id="{A403FDFE-22EF-B9C1-22B1-268A67855013}"/>
              </a:ext>
            </a:extLst>
          </p:cNvPr>
          <p:cNvSpPr>
            <a:spLocks noGrp="1"/>
          </p:cNvSpPr>
          <p:nvPr>
            <p:ph idx="1"/>
          </p:nvPr>
        </p:nvSpPr>
        <p:spPr/>
        <p:txBody>
          <a:bodyPr/>
          <a:lstStyle/>
          <a:p>
            <a:pPr marL="0" indent="0">
              <a:buNone/>
            </a:pPr>
            <a:r>
              <a:rPr lang="en-IN" sz="2400" b="1" dirty="0"/>
              <a:t>Discussion</a:t>
            </a:r>
          </a:p>
          <a:p>
            <a:pPr lvl="0"/>
            <a:r>
              <a:rPr lang="en-IN" sz="2400" dirty="0"/>
              <a:t>The application successfully demonstrated selective timetable adaptation. </a:t>
            </a:r>
          </a:p>
          <a:p>
            <a:pPr lvl="0"/>
            <a:r>
              <a:rPr lang="en-IN" sz="2400" dirty="0"/>
              <a:t>Only the affected assignment was changed in the observed scenario. </a:t>
            </a:r>
          </a:p>
          <a:p>
            <a:pPr lvl="0"/>
            <a:r>
              <a:rPr lang="en-IN" sz="2400" dirty="0"/>
              <a:t>The remaining assignments were preserved. </a:t>
            </a:r>
          </a:p>
          <a:p>
            <a:pPr lvl="0"/>
            <a:r>
              <a:rPr lang="en-IN" sz="2400" dirty="0"/>
              <a:t>The stability index indicates that the change had limited impact on the timetable. </a:t>
            </a:r>
          </a:p>
          <a:p>
            <a:endParaRPr lang="en-IN" dirty="0"/>
          </a:p>
        </p:txBody>
      </p:sp>
      <p:sp>
        <p:nvSpPr>
          <p:cNvPr id="6" name="Slide Number Placeholder 5">
            <a:extLst>
              <a:ext uri="{FF2B5EF4-FFF2-40B4-BE49-F238E27FC236}">
                <a16:creationId xmlns:a16="http://schemas.microsoft.com/office/drawing/2014/main" id="{C83F4188-62B9-5F05-9A5D-D405EF272716}"/>
              </a:ext>
            </a:extLst>
          </p:cNvPr>
          <p:cNvSpPr>
            <a:spLocks noGrp="1"/>
          </p:cNvSpPr>
          <p:nvPr>
            <p:ph type="sldNum" sz="quarter" idx="12"/>
          </p:nvPr>
        </p:nvSpPr>
        <p:spPr/>
        <p:txBody>
          <a:bodyPr/>
          <a:lstStyle/>
          <a:p>
            <a:pPr>
              <a:defRPr/>
            </a:pPr>
            <a:fld id="{BDC2143B-610F-499C-A392-DFFBE135A7B2}" type="slidenum">
              <a:rPr lang="en-US" altLang="en-US" smtClean="0"/>
              <a:pPr>
                <a:defRPr/>
              </a:pPr>
              <a:t>27</a:t>
            </a:fld>
            <a:endParaRPr lang="en-US" altLang="en-US"/>
          </a:p>
        </p:txBody>
      </p:sp>
    </p:spTree>
    <p:extLst>
      <p:ext uri="{BB962C8B-B14F-4D97-AF65-F5344CB8AC3E}">
        <p14:creationId xmlns:p14="http://schemas.microsoft.com/office/powerpoint/2010/main" val="2608360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664CE-7311-4C5B-AA2E-45ABB90DD588}"/>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43FEBBD1-A13E-A08F-F13F-C2836CDD3E5D}"/>
              </a:ext>
            </a:extLst>
          </p:cNvPr>
          <p:cNvPicPr>
            <a:picLocks noGrp="1" noChangeAspect="1"/>
          </p:cNvPicPr>
          <p:nvPr>
            <p:ph idx="1"/>
          </p:nvPr>
        </p:nvPicPr>
        <p:blipFill>
          <a:blip r:embed="rId2"/>
          <a:stretch>
            <a:fillRect/>
          </a:stretch>
        </p:blipFill>
        <p:spPr bwMode="auto">
          <a:xfrm>
            <a:off x="3228827" y="1772816"/>
            <a:ext cx="5734345" cy="2838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3306318D-05CC-4803-9541-7064C44F7DE0}"/>
              </a:ext>
            </a:extLst>
          </p:cNvPr>
          <p:cNvSpPr>
            <a:spLocks noGrp="1"/>
          </p:cNvSpPr>
          <p:nvPr>
            <p:ph type="sldNum" sz="quarter" idx="12"/>
          </p:nvPr>
        </p:nvSpPr>
        <p:spPr/>
        <p:txBody>
          <a:bodyPr/>
          <a:lstStyle/>
          <a:p>
            <a:pPr>
              <a:defRPr/>
            </a:pPr>
            <a:fld id="{BDC2143B-610F-499C-A392-DFFBE135A7B2}" type="slidenum">
              <a:rPr lang="en-US" altLang="en-US" smtClean="0"/>
              <a:pPr>
                <a:defRPr/>
              </a:pPr>
              <a:t>28</a:t>
            </a:fld>
            <a:endParaRPr lang="en-US" altLang="en-US"/>
          </a:p>
        </p:txBody>
      </p:sp>
      <p:sp>
        <p:nvSpPr>
          <p:cNvPr id="10" name="TextBox 9">
            <a:extLst>
              <a:ext uri="{FF2B5EF4-FFF2-40B4-BE49-F238E27FC236}">
                <a16:creationId xmlns:a16="http://schemas.microsoft.com/office/drawing/2014/main" id="{3F136F9A-3139-116F-70B3-F682AB3A3440}"/>
              </a:ext>
            </a:extLst>
          </p:cNvPr>
          <p:cNvSpPr txBox="1"/>
          <p:nvPr/>
        </p:nvSpPr>
        <p:spPr>
          <a:xfrm>
            <a:off x="1055439" y="4797152"/>
            <a:ext cx="10378793" cy="369332"/>
          </a:xfrm>
          <a:prstGeom prst="rect">
            <a:avLst/>
          </a:prstGeom>
          <a:noFill/>
        </p:spPr>
        <p:txBody>
          <a:bodyPr wrap="square" rtlCol="0">
            <a:spAutoFit/>
          </a:bodyPr>
          <a:lstStyle/>
          <a:p>
            <a:pPr algn="ctr"/>
            <a:r>
              <a:rPr lang="en-US" b="1" dirty="0"/>
              <a:t>Figure 1 - Administrator Dashboard</a:t>
            </a:r>
            <a:endParaRPr lang="en-IN" dirty="0"/>
          </a:p>
        </p:txBody>
      </p:sp>
    </p:spTree>
    <p:extLst>
      <p:ext uri="{BB962C8B-B14F-4D97-AF65-F5344CB8AC3E}">
        <p14:creationId xmlns:p14="http://schemas.microsoft.com/office/powerpoint/2010/main" val="2257265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B9712-A6BD-EBFB-68FB-AE7F9E4BF41D}"/>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382519BB-1EC4-3718-35B2-85D7211355B2}"/>
              </a:ext>
            </a:extLst>
          </p:cNvPr>
          <p:cNvPicPr>
            <a:picLocks noGrp="1" noChangeAspect="1"/>
          </p:cNvPicPr>
          <p:nvPr>
            <p:ph idx="1"/>
          </p:nvPr>
        </p:nvPicPr>
        <p:blipFill>
          <a:blip r:embed="rId2"/>
          <a:stretch>
            <a:fillRect/>
          </a:stretch>
        </p:blipFill>
        <p:spPr bwMode="auto">
          <a:xfrm>
            <a:off x="3228827" y="1916832"/>
            <a:ext cx="5734345" cy="284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6BB1ECBF-30D0-06C7-3479-871C2A6B4A06}"/>
              </a:ext>
            </a:extLst>
          </p:cNvPr>
          <p:cNvSpPr>
            <a:spLocks noGrp="1"/>
          </p:cNvSpPr>
          <p:nvPr>
            <p:ph type="sldNum" sz="quarter" idx="12"/>
          </p:nvPr>
        </p:nvSpPr>
        <p:spPr/>
        <p:txBody>
          <a:bodyPr/>
          <a:lstStyle/>
          <a:p>
            <a:pPr>
              <a:defRPr/>
            </a:pPr>
            <a:fld id="{BDC2143B-610F-499C-A392-DFFBE135A7B2}" type="slidenum">
              <a:rPr lang="en-US" altLang="en-US" smtClean="0"/>
              <a:pPr>
                <a:defRPr/>
              </a:pPr>
              <a:t>29</a:t>
            </a:fld>
            <a:endParaRPr lang="en-US" altLang="en-US"/>
          </a:p>
        </p:txBody>
      </p:sp>
      <p:sp>
        <p:nvSpPr>
          <p:cNvPr id="9" name="TextBox 8">
            <a:extLst>
              <a:ext uri="{FF2B5EF4-FFF2-40B4-BE49-F238E27FC236}">
                <a16:creationId xmlns:a16="http://schemas.microsoft.com/office/drawing/2014/main" id="{E8FAF88F-8479-5AD8-B88E-EEA72E305B48}"/>
              </a:ext>
            </a:extLst>
          </p:cNvPr>
          <p:cNvSpPr txBox="1"/>
          <p:nvPr/>
        </p:nvSpPr>
        <p:spPr>
          <a:xfrm>
            <a:off x="766233" y="4869160"/>
            <a:ext cx="10668000" cy="369332"/>
          </a:xfrm>
          <a:prstGeom prst="rect">
            <a:avLst/>
          </a:prstGeom>
          <a:noFill/>
        </p:spPr>
        <p:txBody>
          <a:bodyPr wrap="square" rtlCol="0">
            <a:spAutoFit/>
          </a:bodyPr>
          <a:lstStyle/>
          <a:p>
            <a:pPr algn="ctr"/>
            <a:r>
              <a:rPr lang="en-US" b="1" dirty="0"/>
              <a:t>Figure 2 – Faculty Dashboard</a:t>
            </a:r>
            <a:endParaRPr lang="en-IN" dirty="0"/>
          </a:p>
        </p:txBody>
      </p:sp>
    </p:spTree>
    <p:extLst>
      <p:ext uri="{BB962C8B-B14F-4D97-AF65-F5344CB8AC3E}">
        <p14:creationId xmlns:p14="http://schemas.microsoft.com/office/powerpoint/2010/main" val="646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ACB48-A069-B276-AFB6-8BA37CDDFF41}"/>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35943668-654C-62C5-487D-650E77E059B4}"/>
              </a:ext>
            </a:extLst>
          </p:cNvPr>
          <p:cNvPicPr>
            <a:picLocks noGrp="1" noChangeAspect="1"/>
          </p:cNvPicPr>
          <p:nvPr>
            <p:ph idx="1"/>
          </p:nvPr>
        </p:nvPicPr>
        <p:blipFill>
          <a:blip r:embed="rId2"/>
          <a:stretch>
            <a:fillRect/>
          </a:stretch>
        </p:blipFill>
        <p:spPr>
          <a:xfrm>
            <a:off x="3228827" y="1844824"/>
            <a:ext cx="5734345" cy="2825895"/>
          </a:xfrm>
        </p:spPr>
      </p:pic>
      <p:sp>
        <p:nvSpPr>
          <p:cNvPr id="6" name="Slide Number Placeholder 5">
            <a:extLst>
              <a:ext uri="{FF2B5EF4-FFF2-40B4-BE49-F238E27FC236}">
                <a16:creationId xmlns:a16="http://schemas.microsoft.com/office/drawing/2014/main" id="{6E24AC6E-33EE-B822-A7CF-B703D194ABE1}"/>
              </a:ext>
            </a:extLst>
          </p:cNvPr>
          <p:cNvSpPr>
            <a:spLocks noGrp="1"/>
          </p:cNvSpPr>
          <p:nvPr>
            <p:ph type="sldNum" sz="quarter" idx="12"/>
          </p:nvPr>
        </p:nvSpPr>
        <p:spPr/>
        <p:txBody>
          <a:bodyPr/>
          <a:lstStyle/>
          <a:p>
            <a:pPr>
              <a:defRPr/>
            </a:pPr>
            <a:fld id="{BDC2143B-610F-499C-A392-DFFBE135A7B2}" type="slidenum">
              <a:rPr lang="en-US" altLang="en-US" smtClean="0"/>
              <a:pPr>
                <a:defRPr/>
              </a:pPr>
              <a:t>30</a:t>
            </a:fld>
            <a:endParaRPr lang="en-US" altLang="en-US"/>
          </a:p>
        </p:txBody>
      </p:sp>
      <p:sp>
        <p:nvSpPr>
          <p:cNvPr id="10" name="TextBox 9">
            <a:extLst>
              <a:ext uri="{FF2B5EF4-FFF2-40B4-BE49-F238E27FC236}">
                <a16:creationId xmlns:a16="http://schemas.microsoft.com/office/drawing/2014/main" id="{C657BE4F-64C0-187F-4B14-7FD8D6BB2962}"/>
              </a:ext>
            </a:extLst>
          </p:cNvPr>
          <p:cNvSpPr txBox="1"/>
          <p:nvPr/>
        </p:nvSpPr>
        <p:spPr>
          <a:xfrm>
            <a:off x="812801" y="4797152"/>
            <a:ext cx="10621432" cy="369332"/>
          </a:xfrm>
          <a:prstGeom prst="rect">
            <a:avLst/>
          </a:prstGeom>
          <a:noFill/>
        </p:spPr>
        <p:txBody>
          <a:bodyPr wrap="square" rtlCol="0">
            <a:spAutoFit/>
          </a:bodyPr>
          <a:lstStyle/>
          <a:p>
            <a:pPr algn="ctr"/>
            <a:r>
              <a:rPr lang="en-US" b="1" dirty="0"/>
              <a:t>Figure 3– Student Dashboard</a:t>
            </a:r>
            <a:endParaRPr lang="en-IN" dirty="0"/>
          </a:p>
        </p:txBody>
      </p:sp>
    </p:spTree>
    <p:extLst>
      <p:ext uri="{BB962C8B-B14F-4D97-AF65-F5344CB8AC3E}">
        <p14:creationId xmlns:p14="http://schemas.microsoft.com/office/powerpoint/2010/main" val="858371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DEED-F649-756D-8893-79B860BF0340}"/>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FD005158-FF5B-A5A4-218A-8AB9A23B39C3}"/>
              </a:ext>
            </a:extLst>
          </p:cNvPr>
          <p:cNvPicPr>
            <a:picLocks noGrp="1" noChangeAspect="1"/>
          </p:cNvPicPr>
          <p:nvPr>
            <p:ph idx="1"/>
          </p:nvPr>
        </p:nvPicPr>
        <p:blipFill>
          <a:blip r:embed="rId2"/>
          <a:stretch>
            <a:fillRect/>
          </a:stretch>
        </p:blipFill>
        <p:spPr bwMode="auto">
          <a:xfrm>
            <a:off x="3228827" y="1916832"/>
            <a:ext cx="5734345" cy="2813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64383479-C9C2-E40E-3CE2-0D66608D2AC3}"/>
              </a:ext>
            </a:extLst>
          </p:cNvPr>
          <p:cNvSpPr>
            <a:spLocks noGrp="1"/>
          </p:cNvSpPr>
          <p:nvPr>
            <p:ph type="sldNum" sz="quarter" idx="12"/>
          </p:nvPr>
        </p:nvSpPr>
        <p:spPr/>
        <p:txBody>
          <a:bodyPr/>
          <a:lstStyle/>
          <a:p>
            <a:pPr>
              <a:defRPr/>
            </a:pPr>
            <a:fld id="{BDC2143B-610F-499C-A392-DFFBE135A7B2}" type="slidenum">
              <a:rPr lang="en-US" altLang="en-US" smtClean="0"/>
              <a:pPr>
                <a:defRPr/>
              </a:pPr>
              <a:t>31</a:t>
            </a:fld>
            <a:endParaRPr lang="en-US" altLang="en-US"/>
          </a:p>
        </p:txBody>
      </p:sp>
      <p:sp>
        <p:nvSpPr>
          <p:cNvPr id="11" name="TextBox 10">
            <a:extLst>
              <a:ext uri="{FF2B5EF4-FFF2-40B4-BE49-F238E27FC236}">
                <a16:creationId xmlns:a16="http://schemas.microsoft.com/office/drawing/2014/main" id="{C6CFE2DF-83C1-4CF9-AED0-AA33197E609A}"/>
              </a:ext>
            </a:extLst>
          </p:cNvPr>
          <p:cNvSpPr txBox="1"/>
          <p:nvPr/>
        </p:nvSpPr>
        <p:spPr>
          <a:xfrm>
            <a:off x="812801" y="5126033"/>
            <a:ext cx="10668000" cy="369332"/>
          </a:xfrm>
          <a:prstGeom prst="rect">
            <a:avLst/>
          </a:prstGeom>
          <a:noFill/>
        </p:spPr>
        <p:txBody>
          <a:bodyPr wrap="square" rtlCol="0">
            <a:spAutoFit/>
          </a:bodyPr>
          <a:lstStyle/>
          <a:p>
            <a:pPr algn="ctr"/>
            <a:r>
              <a:rPr lang="en-US" b="1" dirty="0"/>
              <a:t>Figure 4 - Faculty Absence Reporting Interface</a:t>
            </a:r>
            <a:endParaRPr lang="en-IN" dirty="0"/>
          </a:p>
        </p:txBody>
      </p:sp>
    </p:spTree>
    <p:extLst>
      <p:ext uri="{BB962C8B-B14F-4D97-AF65-F5344CB8AC3E}">
        <p14:creationId xmlns:p14="http://schemas.microsoft.com/office/powerpoint/2010/main" val="8090297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8858-F511-0461-985C-DCFC57843BAF}"/>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B91DE15D-1663-4EF8-41D1-AE261DB7DCD9}"/>
              </a:ext>
            </a:extLst>
          </p:cNvPr>
          <p:cNvPicPr>
            <a:picLocks noGrp="1" noChangeAspect="1"/>
          </p:cNvPicPr>
          <p:nvPr>
            <p:ph idx="1"/>
          </p:nvPr>
        </p:nvPicPr>
        <p:blipFill>
          <a:blip r:embed="rId2"/>
          <a:stretch>
            <a:fillRect/>
          </a:stretch>
        </p:blipFill>
        <p:spPr bwMode="auto">
          <a:xfrm>
            <a:off x="3228827" y="1772816"/>
            <a:ext cx="5734345" cy="2838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9D1AD175-AAAA-80A1-AE55-9F31854D5A92}"/>
              </a:ext>
            </a:extLst>
          </p:cNvPr>
          <p:cNvSpPr>
            <a:spLocks noGrp="1"/>
          </p:cNvSpPr>
          <p:nvPr>
            <p:ph type="sldNum" sz="quarter" idx="12"/>
          </p:nvPr>
        </p:nvSpPr>
        <p:spPr/>
        <p:txBody>
          <a:bodyPr/>
          <a:lstStyle/>
          <a:p>
            <a:pPr>
              <a:defRPr/>
            </a:pPr>
            <a:fld id="{BDC2143B-610F-499C-A392-DFFBE135A7B2}" type="slidenum">
              <a:rPr lang="en-US" altLang="en-US" smtClean="0"/>
              <a:pPr>
                <a:defRPr/>
              </a:pPr>
              <a:t>32</a:t>
            </a:fld>
            <a:endParaRPr lang="en-US" altLang="en-US"/>
          </a:p>
        </p:txBody>
      </p:sp>
      <p:sp>
        <p:nvSpPr>
          <p:cNvPr id="10" name="TextBox 9">
            <a:extLst>
              <a:ext uri="{FF2B5EF4-FFF2-40B4-BE49-F238E27FC236}">
                <a16:creationId xmlns:a16="http://schemas.microsoft.com/office/drawing/2014/main" id="{5141F208-EDC0-0023-9E5F-5B66AACBE231}"/>
              </a:ext>
            </a:extLst>
          </p:cNvPr>
          <p:cNvSpPr txBox="1"/>
          <p:nvPr/>
        </p:nvSpPr>
        <p:spPr>
          <a:xfrm>
            <a:off x="812801" y="4909456"/>
            <a:ext cx="10566400" cy="646331"/>
          </a:xfrm>
          <a:prstGeom prst="rect">
            <a:avLst/>
          </a:prstGeom>
          <a:noFill/>
        </p:spPr>
        <p:txBody>
          <a:bodyPr wrap="square" rtlCol="0">
            <a:spAutoFit/>
          </a:bodyPr>
          <a:lstStyle/>
          <a:p>
            <a:pPr algn="ctr"/>
            <a:r>
              <a:rPr lang="en-US" b="1" dirty="0"/>
              <a:t>Figure 5 - Admin Adaptive Rescheduling Result</a:t>
            </a:r>
            <a:endParaRPr lang="en-IN" dirty="0"/>
          </a:p>
          <a:p>
            <a:pPr algn="ctr"/>
            <a:endParaRPr lang="en-IN" dirty="0"/>
          </a:p>
        </p:txBody>
      </p:sp>
    </p:spTree>
    <p:extLst>
      <p:ext uri="{BB962C8B-B14F-4D97-AF65-F5344CB8AC3E}">
        <p14:creationId xmlns:p14="http://schemas.microsoft.com/office/powerpoint/2010/main" val="11300274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C2096-7FDB-79A3-3523-983EAF438F29}"/>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ABD117B1-7F99-9F78-2A22-00EC0840295A}"/>
              </a:ext>
            </a:extLst>
          </p:cNvPr>
          <p:cNvPicPr>
            <a:picLocks noGrp="1" noChangeAspect="1"/>
          </p:cNvPicPr>
          <p:nvPr>
            <p:ph idx="1"/>
          </p:nvPr>
        </p:nvPicPr>
        <p:blipFill>
          <a:blip r:embed="rId2"/>
          <a:stretch>
            <a:fillRect/>
          </a:stretch>
        </p:blipFill>
        <p:spPr bwMode="auto">
          <a:xfrm>
            <a:off x="812800" y="1916832"/>
            <a:ext cx="5283200" cy="2808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38AAE336-22CA-1F72-5C05-CB6069331D45}"/>
              </a:ext>
            </a:extLst>
          </p:cNvPr>
          <p:cNvSpPr>
            <a:spLocks noGrp="1"/>
          </p:cNvSpPr>
          <p:nvPr>
            <p:ph type="sldNum" sz="quarter" idx="12"/>
          </p:nvPr>
        </p:nvSpPr>
        <p:spPr/>
        <p:txBody>
          <a:bodyPr/>
          <a:lstStyle/>
          <a:p>
            <a:pPr>
              <a:defRPr/>
            </a:pPr>
            <a:fld id="{BDC2143B-610F-499C-A392-DFFBE135A7B2}" type="slidenum">
              <a:rPr lang="en-US" altLang="en-US" smtClean="0"/>
              <a:pPr>
                <a:defRPr/>
              </a:pPr>
              <a:t>33</a:t>
            </a:fld>
            <a:endParaRPr lang="en-US" altLang="en-US"/>
          </a:p>
        </p:txBody>
      </p:sp>
      <p:pic>
        <p:nvPicPr>
          <p:cNvPr id="10" name="Picture 9">
            <a:extLst>
              <a:ext uri="{FF2B5EF4-FFF2-40B4-BE49-F238E27FC236}">
                <a16:creationId xmlns:a16="http://schemas.microsoft.com/office/drawing/2014/main" id="{108DD1DD-1757-05F1-ACBE-2B97D0446454}"/>
              </a:ext>
            </a:extLst>
          </p:cNvPr>
          <p:cNvPicPr>
            <a:picLocks noChangeAspect="1"/>
          </p:cNvPicPr>
          <p:nvPr/>
        </p:nvPicPr>
        <p:blipFill>
          <a:blip r:embed="rId3"/>
          <a:stretch>
            <a:fillRect/>
          </a:stretch>
        </p:blipFill>
        <p:spPr>
          <a:xfrm>
            <a:off x="6095999" y="1916833"/>
            <a:ext cx="5338233" cy="2808310"/>
          </a:xfrm>
          <a:prstGeom prst="rect">
            <a:avLst/>
          </a:prstGeom>
        </p:spPr>
      </p:pic>
      <p:sp>
        <p:nvSpPr>
          <p:cNvPr id="12" name="TextBox 11">
            <a:extLst>
              <a:ext uri="{FF2B5EF4-FFF2-40B4-BE49-F238E27FC236}">
                <a16:creationId xmlns:a16="http://schemas.microsoft.com/office/drawing/2014/main" id="{3E2D6611-F6CE-D747-312C-7605C5F9CF39}"/>
              </a:ext>
            </a:extLst>
          </p:cNvPr>
          <p:cNvSpPr txBox="1"/>
          <p:nvPr/>
        </p:nvSpPr>
        <p:spPr>
          <a:xfrm>
            <a:off x="812800" y="5013176"/>
            <a:ext cx="10566400" cy="646331"/>
          </a:xfrm>
          <a:prstGeom prst="rect">
            <a:avLst/>
          </a:prstGeom>
          <a:noFill/>
        </p:spPr>
        <p:txBody>
          <a:bodyPr wrap="square" rtlCol="0">
            <a:spAutoFit/>
          </a:bodyPr>
          <a:lstStyle/>
          <a:p>
            <a:pPr algn="ctr"/>
            <a:r>
              <a:rPr lang="en-US" b="1" dirty="0"/>
              <a:t>Figure 6 &amp; 7 - Before and After Timetable</a:t>
            </a:r>
            <a:endParaRPr lang="en-IN" dirty="0"/>
          </a:p>
          <a:p>
            <a:pPr algn="ctr"/>
            <a:endParaRPr lang="en-IN" dirty="0"/>
          </a:p>
        </p:txBody>
      </p:sp>
    </p:spTree>
    <p:extLst>
      <p:ext uri="{BB962C8B-B14F-4D97-AF65-F5344CB8AC3E}">
        <p14:creationId xmlns:p14="http://schemas.microsoft.com/office/powerpoint/2010/main" val="30870656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7A0B8-F615-EDB2-926F-D759B9C62357}"/>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6EF689C9-6F60-B123-5CA1-F67A793C2163}"/>
              </a:ext>
            </a:extLst>
          </p:cNvPr>
          <p:cNvPicPr>
            <a:picLocks noGrp="1" noChangeAspect="1"/>
          </p:cNvPicPr>
          <p:nvPr>
            <p:ph idx="1"/>
          </p:nvPr>
        </p:nvPicPr>
        <p:blipFill>
          <a:blip r:embed="rId2"/>
          <a:stretch>
            <a:fillRect/>
          </a:stretch>
        </p:blipFill>
        <p:spPr>
          <a:xfrm>
            <a:off x="3543169" y="1758481"/>
            <a:ext cx="5105662" cy="3341038"/>
          </a:xfrm>
        </p:spPr>
      </p:pic>
      <p:sp>
        <p:nvSpPr>
          <p:cNvPr id="6" name="Slide Number Placeholder 5">
            <a:extLst>
              <a:ext uri="{FF2B5EF4-FFF2-40B4-BE49-F238E27FC236}">
                <a16:creationId xmlns:a16="http://schemas.microsoft.com/office/drawing/2014/main" id="{EF8AD071-DCD7-7356-2E00-7B39FABE3DAA}"/>
              </a:ext>
            </a:extLst>
          </p:cNvPr>
          <p:cNvSpPr>
            <a:spLocks noGrp="1"/>
          </p:cNvSpPr>
          <p:nvPr>
            <p:ph type="sldNum" sz="quarter" idx="12"/>
          </p:nvPr>
        </p:nvSpPr>
        <p:spPr/>
        <p:txBody>
          <a:bodyPr/>
          <a:lstStyle/>
          <a:p>
            <a:pPr>
              <a:defRPr/>
            </a:pPr>
            <a:fld id="{BDC2143B-610F-499C-A392-DFFBE135A7B2}" type="slidenum">
              <a:rPr lang="en-US" altLang="en-US" smtClean="0"/>
              <a:pPr>
                <a:defRPr/>
              </a:pPr>
              <a:t>34</a:t>
            </a:fld>
            <a:endParaRPr lang="en-US" altLang="en-US"/>
          </a:p>
        </p:txBody>
      </p:sp>
      <p:sp>
        <p:nvSpPr>
          <p:cNvPr id="9" name="TextBox 8">
            <a:extLst>
              <a:ext uri="{FF2B5EF4-FFF2-40B4-BE49-F238E27FC236}">
                <a16:creationId xmlns:a16="http://schemas.microsoft.com/office/drawing/2014/main" id="{12CA9870-6EFB-1416-1CFD-EFE03069F7AE}"/>
              </a:ext>
            </a:extLst>
          </p:cNvPr>
          <p:cNvSpPr txBox="1"/>
          <p:nvPr/>
        </p:nvSpPr>
        <p:spPr>
          <a:xfrm>
            <a:off x="1458686" y="5475514"/>
            <a:ext cx="9461850" cy="646331"/>
          </a:xfrm>
          <a:prstGeom prst="rect">
            <a:avLst/>
          </a:prstGeom>
          <a:noFill/>
        </p:spPr>
        <p:txBody>
          <a:bodyPr wrap="square" rtlCol="0">
            <a:spAutoFit/>
          </a:bodyPr>
          <a:lstStyle/>
          <a:p>
            <a:pPr algn="ctr"/>
            <a:r>
              <a:rPr lang="en-US" b="1" dirty="0"/>
              <a:t>Figure 8 - Before and After Timetable</a:t>
            </a:r>
            <a:endParaRPr lang="en-IN" dirty="0"/>
          </a:p>
          <a:p>
            <a:pPr algn="ctr"/>
            <a:endParaRPr lang="en-IN" dirty="0"/>
          </a:p>
        </p:txBody>
      </p:sp>
    </p:spTree>
    <p:extLst>
      <p:ext uri="{BB962C8B-B14F-4D97-AF65-F5344CB8AC3E}">
        <p14:creationId xmlns:p14="http://schemas.microsoft.com/office/powerpoint/2010/main" val="34793091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63DD8-A14D-C733-4331-83092BFF8E72}"/>
              </a:ext>
            </a:extLst>
          </p:cNvPr>
          <p:cNvSpPr>
            <a:spLocks noGrp="1"/>
          </p:cNvSpPr>
          <p:nvPr>
            <p:ph type="title"/>
          </p:nvPr>
        </p:nvSpPr>
        <p:spPr/>
        <p:txBody>
          <a:bodyPr/>
          <a:lstStyle/>
          <a:p>
            <a:r>
              <a:rPr lang="en-US" sz="3200" b="1" dirty="0">
                <a:solidFill>
                  <a:srgbClr val="FF0000"/>
                </a:solidFill>
              </a:rPr>
              <a:t>User Interface / Screenshots</a:t>
            </a:r>
            <a:endParaRPr lang="en-IN" sz="3200" dirty="0"/>
          </a:p>
        </p:txBody>
      </p:sp>
      <p:pic>
        <p:nvPicPr>
          <p:cNvPr id="8" name="Content Placeholder 7">
            <a:extLst>
              <a:ext uri="{FF2B5EF4-FFF2-40B4-BE49-F238E27FC236}">
                <a16:creationId xmlns:a16="http://schemas.microsoft.com/office/drawing/2014/main" id="{F5CF6012-8FE3-7119-2281-12724388364D}"/>
              </a:ext>
            </a:extLst>
          </p:cNvPr>
          <p:cNvPicPr>
            <a:picLocks noGrp="1" noChangeAspect="1"/>
          </p:cNvPicPr>
          <p:nvPr>
            <p:ph idx="1"/>
          </p:nvPr>
        </p:nvPicPr>
        <p:blipFill>
          <a:blip r:embed="rId2"/>
          <a:stretch>
            <a:fillRect/>
          </a:stretch>
        </p:blipFill>
        <p:spPr>
          <a:xfrm>
            <a:off x="4165601" y="1700809"/>
            <a:ext cx="3586584" cy="3792024"/>
          </a:xfrm>
        </p:spPr>
      </p:pic>
      <p:sp>
        <p:nvSpPr>
          <p:cNvPr id="6" name="Slide Number Placeholder 5">
            <a:extLst>
              <a:ext uri="{FF2B5EF4-FFF2-40B4-BE49-F238E27FC236}">
                <a16:creationId xmlns:a16="http://schemas.microsoft.com/office/drawing/2014/main" id="{E2BFD838-ADE1-86ED-E18F-D38A34B735B5}"/>
              </a:ext>
            </a:extLst>
          </p:cNvPr>
          <p:cNvSpPr>
            <a:spLocks noGrp="1"/>
          </p:cNvSpPr>
          <p:nvPr>
            <p:ph type="sldNum" sz="quarter" idx="12"/>
          </p:nvPr>
        </p:nvSpPr>
        <p:spPr/>
        <p:txBody>
          <a:bodyPr/>
          <a:lstStyle/>
          <a:p>
            <a:pPr>
              <a:defRPr/>
            </a:pPr>
            <a:fld id="{BDC2143B-610F-499C-A392-DFFBE135A7B2}" type="slidenum">
              <a:rPr lang="en-US" altLang="en-US" smtClean="0"/>
              <a:pPr>
                <a:defRPr/>
              </a:pPr>
              <a:t>35</a:t>
            </a:fld>
            <a:endParaRPr lang="en-US" altLang="en-US"/>
          </a:p>
        </p:txBody>
      </p:sp>
      <p:sp>
        <p:nvSpPr>
          <p:cNvPr id="11" name="TextBox 10">
            <a:extLst>
              <a:ext uri="{FF2B5EF4-FFF2-40B4-BE49-F238E27FC236}">
                <a16:creationId xmlns:a16="http://schemas.microsoft.com/office/drawing/2014/main" id="{CEA57E8E-36B4-E833-005B-BA2A01D771F4}"/>
              </a:ext>
            </a:extLst>
          </p:cNvPr>
          <p:cNvSpPr txBox="1"/>
          <p:nvPr/>
        </p:nvSpPr>
        <p:spPr>
          <a:xfrm>
            <a:off x="2999656" y="5608082"/>
            <a:ext cx="5472608" cy="369332"/>
          </a:xfrm>
          <a:prstGeom prst="rect">
            <a:avLst/>
          </a:prstGeom>
          <a:noFill/>
        </p:spPr>
        <p:txBody>
          <a:bodyPr wrap="square" rtlCol="0">
            <a:spAutoFit/>
          </a:bodyPr>
          <a:lstStyle/>
          <a:p>
            <a:pPr algn="ctr"/>
            <a:r>
              <a:rPr lang="en-US" b="1" dirty="0"/>
              <a:t>Figure 9 - Comparison Statistics</a:t>
            </a:r>
            <a:endParaRPr lang="en-IN" dirty="0"/>
          </a:p>
        </p:txBody>
      </p:sp>
    </p:spTree>
    <p:extLst>
      <p:ext uri="{BB962C8B-B14F-4D97-AF65-F5344CB8AC3E}">
        <p14:creationId xmlns:p14="http://schemas.microsoft.com/office/powerpoint/2010/main" val="2531071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A9FC-F514-E0B8-3910-1983151E9590}"/>
              </a:ext>
            </a:extLst>
          </p:cNvPr>
          <p:cNvSpPr>
            <a:spLocks noGrp="1"/>
          </p:cNvSpPr>
          <p:nvPr>
            <p:ph type="title"/>
          </p:nvPr>
        </p:nvSpPr>
        <p:spPr/>
        <p:txBody>
          <a:bodyPr/>
          <a:lstStyle/>
          <a:p>
            <a:pPr algn="ctr"/>
            <a:r>
              <a:rPr lang="en-IN" sz="3200" b="1" dirty="0">
                <a:solidFill>
                  <a:srgbClr val="FF0000"/>
                </a:solidFill>
              </a:rPr>
              <a:t>Conclusion</a:t>
            </a:r>
            <a:endParaRPr lang="en-IN" sz="3200" dirty="0"/>
          </a:p>
        </p:txBody>
      </p:sp>
      <p:sp>
        <p:nvSpPr>
          <p:cNvPr id="6" name="Slide Number Placeholder 5">
            <a:extLst>
              <a:ext uri="{FF2B5EF4-FFF2-40B4-BE49-F238E27FC236}">
                <a16:creationId xmlns:a16="http://schemas.microsoft.com/office/drawing/2014/main" id="{3DB3FB13-105B-ADF3-FD26-CC07FC9E79D3}"/>
              </a:ext>
            </a:extLst>
          </p:cNvPr>
          <p:cNvSpPr>
            <a:spLocks noGrp="1"/>
          </p:cNvSpPr>
          <p:nvPr>
            <p:ph type="sldNum" sz="quarter" idx="12"/>
          </p:nvPr>
        </p:nvSpPr>
        <p:spPr/>
        <p:txBody>
          <a:bodyPr/>
          <a:lstStyle/>
          <a:p>
            <a:pPr>
              <a:defRPr/>
            </a:pPr>
            <a:fld id="{BDC2143B-610F-499C-A392-DFFBE135A7B2}" type="slidenum">
              <a:rPr lang="en-US" altLang="en-US" smtClean="0"/>
              <a:pPr>
                <a:defRPr/>
              </a:pPr>
              <a:t>36</a:t>
            </a:fld>
            <a:endParaRPr lang="en-US" altLang="en-US"/>
          </a:p>
        </p:txBody>
      </p:sp>
      <p:sp>
        <p:nvSpPr>
          <p:cNvPr id="9" name="TextBox 8">
            <a:extLst>
              <a:ext uri="{FF2B5EF4-FFF2-40B4-BE49-F238E27FC236}">
                <a16:creationId xmlns:a16="http://schemas.microsoft.com/office/drawing/2014/main" id="{4C05F09E-7621-A805-AC28-84E7F6A17FA0}"/>
              </a:ext>
            </a:extLst>
          </p:cNvPr>
          <p:cNvSpPr txBox="1"/>
          <p:nvPr/>
        </p:nvSpPr>
        <p:spPr>
          <a:xfrm>
            <a:off x="766233" y="1700808"/>
            <a:ext cx="10874384" cy="4524315"/>
          </a:xfrm>
          <a:prstGeom prst="rect">
            <a:avLst/>
          </a:prstGeom>
          <a:noFill/>
        </p:spPr>
        <p:txBody>
          <a:bodyPr wrap="square">
            <a:spAutoFit/>
          </a:bodyPr>
          <a:lstStyle/>
          <a:p>
            <a:pPr algn="just"/>
            <a:r>
              <a:rPr lang="en-IN" sz="2400" dirty="0"/>
              <a:t>	The project successfully implements an intelligent university timetable generator using Constraint Satisfaction Problem (CSP) techniques. By integrating Backtracking Search, MRV, LCV, and Forward Checking, the system generates feasible timetables while satisfying academic and resource constraints. The web-based application supports university data management, constraint validation, and optimized scheduling. Additionally, the adaptive rescheduling module handles faculty absences through substitution or CSP-based rescheduling while preserving unaffected timetable assignments. Overall, the system aims to improve scheduling efficiency, reduce conflicts, and minimize unnecessary changes to existing timetables.</a:t>
            </a:r>
          </a:p>
        </p:txBody>
      </p:sp>
    </p:spTree>
    <p:extLst>
      <p:ext uri="{BB962C8B-B14F-4D97-AF65-F5344CB8AC3E}">
        <p14:creationId xmlns:p14="http://schemas.microsoft.com/office/powerpoint/2010/main" val="4043589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7D88D-D303-B2C4-DB3F-93FAEF9B3FC3}"/>
              </a:ext>
            </a:extLst>
          </p:cNvPr>
          <p:cNvSpPr>
            <a:spLocks noGrp="1"/>
          </p:cNvSpPr>
          <p:nvPr>
            <p:ph type="title"/>
          </p:nvPr>
        </p:nvSpPr>
        <p:spPr/>
        <p:txBody>
          <a:bodyPr/>
          <a:lstStyle/>
          <a:p>
            <a:pPr algn="ctr"/>
            <a:r>
              <a:rPr lang="en-IN" sz="3200" b="1" dirty="0">
                <a:solidFill>
                  <a:srgbClr val="FF0000"/>
                </a:solidFill>
              </a:rPr>
              <a:t>Future work</a:t>
            </a:r>
          </a:p>
        </p:txBody>
      </p:sp>
      <p:sp>
        <p:nvSpPr>
          <p:cNvPr id="6" name="Slide Number Placeholder 5">
            <a:extLst>
              <a:ext uri="{FF2B5EF4-FFF2-40B4-BE49-F238E27FC236}">
                <a16:creationId xmlns:a16="http://schemas.microsoft.com/office/drawing/2014/main" id="{58A7976D-2A19-34C9-B256-D40AADBE4217}"/>
              </a:ext>
            </a:extLst>
          </p:cNvPr>
          <p:cNvSpPr>
            <a:spLocks noGrp="1"/>
          </p:cNvSpPr>
          <p:nvPr>
            <p:ph type="sldNum" sz="quarter" idx="12"/>
          </p:nvPr>
        </p:nvSpPr>
        <p:spPr/>
        <p:txBody>
          <a:bodyPr/>
          <a:lstStyle/>
          <a:p>
            <a:pPr>
              <a:defRPr/>
            </a:pPr>
            <a:fld id="{BDC2143B-610F-499C-A392-DFFBE135A7B2}" type="slidenum">
              <a:rPr lang="en-US" altLang="en-US" smtClean="0"/>
              <a:pPr>
                <a:defRPr/>
              </a:pPr>
              <a:t>37</a:t>
            </a:fld>
            <a:endParaRPr lang="en-US" altLang="en-US"/>
          </a:p>
        </p:txBody>
      </p:sp>
      <p:sp>
        <p:nvSpPr>
          <p:cNvPr id="9" name="TextBox 8">
            <a:extLst>
              <a:ext uri="{FF2B5EF4-FFF2-40B4-BE49-F238E27FC236}">
                <a16:creationId xmlns:a16="http://schemas.microsoft.com/office/drawing/2014/main" id="{961E9D58-C0B2-9C40-5988-3CFF6DD963CA}"/>
              </a:ext>
            </a:extLst>
          </p:cNvPr>
          <p:cNvSpPr txBox="1"/>
          <p:nvPr/>
        </p:nvSpPr>
        <p:spPr>
          <a:xfrm>
            <a:off x="407369" y="1640989"/>
            <a:ext cx="11784632" cy="4524315"/>
          </a:xfrm>
          <a:prstGeom prst="rect">
            <a:avLst/>
          </a:prstGeom>
          <a:noFill/>
        </p:spPr>
        <p:txBody>
          <a:bodyPr wrap="square">
            <a:spAutoFit/>
          </a:bodyPr>
          <a:lstStyle/>
          <a:p>
            <a:pPr marL="342900" lvl="0" indent="-342900">
              <a:buFont typeface="Wingdings" panose="05000000000000000000" pitchFamily="2" charset="2"/>
              <a:buChar char="q"/>
            </a:pPr>
            <a:r>
              <a:rPr lang="en-IN" sz="2400" b="1" dirty="0"/>
              <a:t>Advanced Optimization:</a:t>
            </a:r>
            <a:r>
              <a:rPr lang="en-IN" sz="2400" dirty="0"/>
              <a:t> Explore additional CSP heuristics to improve scheduling efficiency for larger datasets. </a:t>
            </a:r>
          </a:p>
          <a:p>
            <a:pPr marL="342900" lvl="0" indent="-342900">
              <a:buFont typeface="Wingdings" panose="05000000000000000000" pitchFamily="2" charset="2"/>
              <a:buChar char="q"/>
            </a:pPr>
            <a:r>
              <a:rPr lang="en-IN" sz="2400" b="1" dirty="0"/>
              <a:t>Enhanced Faculty Substitution:</a:t>
            </a:r>
            <a:r>
              <a:rPr lang="en-IN" sz="2400" dirty="0"/>
              <a:t> Incorporate more detailed faculty expertise, availability, and workload preferences. </a:t>
            </a:r>
          </a:p>
          <a:p>
            <a:pPr marL="342900" lvl="0" indent="-342900">
              <a:buFont typeface="Wingdings" panose="05000000000000000000" pitchFamily="2" charset="2"/>
              <a:buChar char="q"/>
            </a:pPr>
            <a:r>
              <a:rPr lang="en-IN" sz="2400" b="1" dirty="0"/>
              <a:t>Multi-Constraint Optimization:</a:t>
            </a:r>
            <a:r>
              <a:rPr lang="en-IN" sz="2400" dirty="0"/>
              <a:t> Consider faculty preferences, classroom suitability, and student scheduling preferences. </a:t>
            </a:r>
          </a:p>
          <a:p>
            <a:pPr marL="342900" lvl="0" indent="-342900">
              <a:buFont typeface="Wingdings" panose="05000000000000000000" pitchFamily="2" charset="2"/>
              <a:buChar char="q"/>
            </a:pPr>
            <a:r>
              <a:rPr lang="en-IN" sz="2400" b="1" dirty="0"/>
              <a:t>Performance Evaluation:</a:t>
            </a:r>
            <a:r>
              <a:rPr lang="en-IN" sz="2400" dirty="0"/>
              <a:t> Compare search strategies using execution time, search nodes, backtracking count, and constraint checks. </a:t>
            </a:r>
          </a:p>
          <a:p>
            <a:pPr marL="342900" lvl="0" indent="-342900">
              <a:buFont typeface="Wingdings" panose="05000000000000000000" pitchFamily="2" charset="2"/>
              <a:buChar char="q"/>
            </a:pPr>
            <a:r>
              <a:rPr lang="en-IN" sz="2400" b="1" dirty="0"/>
              <a:t>Enhanced User Interface:</a:t>
            </a:r>
            <a:r>
              <a:rPr lang="en-IN" sz="2400" dirty="0"/>
              <a:t> Improve timetable visualization and provide notifications for faculty absences and schedule changes. </a:t>
            </a:r>
          </a:p>
          <a:p>
            <a:pPr marL="342900" lvl="0" indent="-342900">
              <a:buFont typeface="Wingdings" panose="05000000000000000000" pitchFamily="2" charset="2"/>
              <a:buChar char="q"/>
            </a:pPr>
            <a:r>
              <a:rPr lang="en-IN" sz="2400" b="1" dirty="0"/>
              <a:t>Scalability:</a:t>
            </a:r>
            <a:r>
              <a:rPr lang="en-IN" sz="2400" dirty="0"/>
              <a:t> Extend the system to support more departments, sections, and academic institutions.</a:t>
            </a:r>
          </a:p>
        </p:txBody>
      </p:sp>
    </p:spTree>
    <p:extLst>
      <p:ext uri="{BB962C8B-B14F-4D97-AF65-F5344CB8AC3E}">
        <p14:creationId xmlns:p14="http://schemas.microsoft.com/office/powerpoint/2010/main" val="3871871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pPr algn="ctr"/>
            <a:r>
              <a:rPr lang="en-US" sz="3200" b="1" dirty="0">
                <a:solidFill>
                  <a:srgbClr val="FF0000"/>
                </a:solidFill>
              </a:rPr>
              <a:t>References</a:t>
            </a:r>
            <a:endParaRPr lang="en-IN" sz="3200" b="1" dirty="0">
              <a:solidFill>
                <a:srgbClr val="FF0000"/>
              </a:solidFill>
            </a:endParaRP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38</a:t>
            </a:fld>
            <a:endParaRPr lang="en-IN"/>
          </a:p>
        </p:txBody>
      </p:sp>
      <p:sp>
        <p:nvSpPr>
          <p:cNvPr id="7" name="TextBox 6">
            <a:extLst>
              <a:ext uri="{FF2B5EF4-FFF2-40B4-BE49-F238E27FC236}">
                <a16:creationId xmlns:a16="http://schemas.microsoft.com/office/drawing/2014/main" id="{4369DA12-B1F7-714C-B437-7174DD970878}"/>
              </a:ext>
            </a:extLst>
          </p:cNvPr>
          <p:cNvSpPr txBox="1"/>
          <p:nvPr/>
        </p:nvSpPr>
        <p:spPr>
          <a:xfrm>
            <a:off x="551384" y="1703705"/>
            <a:ext cx="11449272" cy="5262979"/>
          </a:xfrm>
          <a:prstGeom prst="rect">
            <a:avLst/>
          </a:prstGeom>
          <a:noFill/>
        </p:spPr>
        <p:txBody>
          <a:bodyPr wrap="square">
            <a:spAutoFit/>
          </a:bodyPr>
          <a:lstStyle/>
          <a:p>
            <a:pPr>
              <a:lnSpc>
                <a:spcPct val="100000"/>
              </a:lnSpc>
              <a:buNone/>
            </a:pPr>
            <a:r>
              <a:rPr lang="en-US" sz="2400" dirty="0">
                <a:effectLst/>
                <a:latin typeface="+mn-lt"/>
                <a:ea typeface="Times New Roman" panose="02020603050405020304" pitchFamily="18" charset="0"/>
              </a:rPr>
              <a:t>[1] Zhang, L., &amp; Lau, S. K. (2005). Constructing university timetable using constraint satisfaction programming approach. Proceedings of the International Conference on Computational Intelligence for Modelling, Control and Automation, 2, 55–60. https://doi.org/10.1109/CIMCA.2005.1631445</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 </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[2] Abdelraouf, I., </a:t>
            </a:r>
            <a:r>
              <a:rPr lang="en-US" sz="2400" dirty="0" err="1">
                <a:effectLst/>
                <a:latin typeface="+mn-lt"/>
                <a:ea typeface="Times New Roman" panose="02020603050405020304" pitchFamily="18" charset="0"/>
              </a:rPr>
              <a:t>Abdennadher</a:t>
            </a:r>
            <a:r>
              <a:rPr lang="en-US" sz="2400" dirty="0">
                <a:effectLst/>
                <a:latin typeface="+mn-lt"/>
                <a:ea typeface="Times New Roman" panose="02020603050405020304" pitchFamily="18" charset="0"/>
              </a:rPr>
              <a:t>, S., &amp; </a:t>
            </a:r>
            <a:r>
              <a:rPr lang="en-US" sz="2400" dirty="0" err="1">
                <a:effectLst/>
                <a:latin typeface="+mn-lt"/>
                <a:ea typeface="Times New Roman" panose="02020603050405020304" pitchFamily="18" charset="0"/>
              </a:rPr>
              <a:t>Gervet</a:t>
            </a:r>
            <a:r>
              <a:rPr lang="en-US" sz="2400" dirty="0">
                <a:effectLst/>
                <a:latin typeface="+mn-lt"/>
                <a:ea typeface="Times New Roman" panose="02020603050405020304" pitchFamily="18" charset="0"/>
              </a:rPr>
              <a:t>, C. (2011). A visual entity-relationship model for constraint-based university timetabling. </a:t>
            </a:r>
            <a:r>
              <a:rPr lang="en-US" sz="2400" dirty="0" err="1">
                <a:effectLst/>
                <a:latin typeface="+mn-lt"/>
                <a:ea typeface="Times New Roman" panose="02020603050405020304" pitchFamily="18" charset="0"/>
              </a:rPr>
              <a:t>arXiv</a:t>
            </a:r>
            <a:r>
              <a:rPr lang="en-US" sz="2400" dirty="0">
                <a:effectLst/>
                <a:latin typeface="+mn-lt"/>
                <a:ea typeface="Times New Roman" panose="02020603050405020304" pitchFamily="18" charset="0"/>
              </a:rPr>
              <a:t>. https://arxiv.org/abs/1109.6112</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 </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[3] </a:t>
            </a:r>
            <a:r>
              <a:rPr lang="en-US" sz="2400" dirty="0" err="1">
                <a:effectLst/>
                <a:latin typeface="+mn-lt"/>
                <a:ea typeface="Times New Roman" panose="02020603050405020304" pitchFamily="18" charset="0"/>
              </a:rPr>
              <a:t>Ceschia</a:t>
            </a:r>
            <a:r>
              <a:rPr lang="en-US" sz="2400" dirty="0">
                <a:effectLst/>
                <a:latin typeface="+mn-lt"/>
                <a:ea typeface="Times New Roman" panose="02020603050405020304" pitchFamily="18" charset="0"/>
              </a:rPr>
              <a:t>, M., Di </a:t>
            </a:r>
            <a:r>
              <a:rPr lang="en-US" sz="2400" dirty="0" err="1">
                <a:effectLst/>
                <a:latin typeface="+mn-lt"/>
                <a:ea typeface="Times New Roman" panose="02020603050405020304" pitchFamily="18" charset="0"/>
              </a:rPr>
              <a:t>Gaspero</a:t>
            </a:r>
            <a:r>
              <a:rPr lang="en-US" sz="2400" dirty="0">
                <a:effectLst/>
                <a:latin typeface="+mn-lt"/>
                <a:ea typeface="Times New Roman" panose="02020603050405020304" pitchFamily="18" charset="0"/>
              </a:rPr>
              <a:t>, T., </a:t>
            </a:r>
            <a:r>
              <a:rPr lang="en-US" sz="2400" dirty="0" err="1">
                <a:effectLst/>
                <a:latin typeface="+mn-lt"/>
                <a:ea typeface="Times New Roman" panose="02020603050405020304" pitchFamily="18" charset="0"/>
              </a:rPr>
              <a:t>Schaerf</a:t>
            </a:r>
            <a:r>
              <a:rPr lang="en-US" sz="2400" dirty="0">
                <a:effectLst/>
                <a:latin typeface="+mn-lt"/>
                <a:ea typeface="Times New Roman" panose="02020603050405020304" pitchFamily="18" charset="0"/>
              </a:rPr>
              <a:t>, A., &amp; others. (2022). Educational timetabling: Problems, benchmarks and state-of-the-art results. Annals of Operations Research. </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 </a:t>
            </a:r>
            <a:endParaRPr lang="en-IN" sz="2400" dirty="0">
              <a:effectLst/>
              <a:latin typeface="+mn-lt"/>
              <a:ea typeface="Times New Roman" panose="02020603050405020304" pitchFamily="18" charset="0"/>
            </a:endParaRPr>
          </a:p>
        </p:txBody>
      </p:sp>
    </p:spTree>
    <p:extLst>
      <p:ext uri="{BB962C8B-B14F-4D97-AF65-F5344CB8AC3E}">
        <p14:creationId xmlns:p14="http://schemas.microsoft.com/office/powerpoint/2010/main" val="29464227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5B59-CFDF-2394-DAF1-A32BFD81E8C0}"/>
              </a:ext>
            </a:extLst>
          </p:cNvPr>
          <p:cNvSpPr>
            <a:spLocks noGrp="1"/>
          </p:cNvSpPr>
          <p:nvPr>
            <p:ph type="title"/>
          </p:nvPr>
        </p:nvSpPr>
        <p:spPr/>
        <p:txBody>
          <a:bodyPr/>
          <a:lstStyle/>
          <a:p>
            <a:pPr algn="ctr"/>
            <a:r>
              <a:rPr lang="en-US" sz="3200" b="1" dirty="0">
                <a:solidFill>
                  <a:srgbClr val="FF0000"/>
                </a:solidFill>
              </a:rPr>
              <a:t>References</a:t>
            </a:r>
            <a:endParaRPr lang="en-IN" sz="3200" dirty="0"/>
          </a:p>
        </p:txBody>
      </p:sp>
      <p:sp>
        <p:nvSpPr>
          <p:cNvPr id="6" name="Slide Number Placeholder 5">
            <a:extLst>
              <a:ext uri="{FF2B5EF4-FFF2-40B4-BE49-F238E27FC236}">
                <a16:creationId xmlns:a16="http://schemas.microsoft.com/office/drawing/2014/main" id="{D5866349-3FC0-1517-5D49-562997CCC7B1}"/>
              </a:ext>
            </a:extLst>
          </p:cNvPr>
          <p:cNvSpPr>
            <a:spLocks noGrp="1"/>
          </p:cNvSpPr>
          <p:nvPr>
            <p:ph type="sldNum" sz="quarter" idx="12"/>
          </p:nvPr>
        </p:nvSpPr>
        <p:spPr/>
        <p:txBody>
          <a:bodyPr/>
          <a:lstStyle/>
          <a:p>
            <a:pPr>
              <a:defRPr/>
            </a:pPr>
            <a:fld id="{BDC2143B-610F-499C-A392-DFFBE135A7B2}" type="slidenum">
              <a:rPr lang="en-US" altLang="en-US" smtClean="0"/>
              <a:pPr>
                <a:defRPr/>
              </a:pPr>
              <a:t>39</a:t>
            </a:fld>
            <a:endParaRPr lang="en-US" altLang="en-US"/>
          </a:p>
        </p:txBody>
      </p:sp>
      <p:sp>
        <p:nvSpPr>
          <p:cNvPr id="9" name="TextBox 8">
            <a:extLst>
              <a:ext uri="{FF2B5EF4-FFF2-40B4-BE49-F238E27FC236}">
                <a16:creationId xmlns:a16="http://schemas.microsoft.com/office/drawing/2014/main" id="{6D749F87-ECE0-9B82-45B1-4FC8EBAFD948}"/>
              </a:ext>
            </a:extLst>
          </p:cNvPr>
          <p:cNvSpPr txBox="1"/>
          <p:nvPr/>
        </p:nvSpPr>
        <p:spPr>
          <a:xfrm>
            <a:off x="648072" y="2028904"/>
            <a:ext cx="10848528" cy="3416320"/>
          </a:xfrm>
          <a:prstGeom prst="rect">
            <a:avLst/>
          </a:prstGeom>
          <a:noFill/>
        </p:spPr>
        <p:txBody>
          <a:bodyPr wrap="square">
            <a:spAutoFit/>
          </a:bodyPr>
          <a:lstStyle/>
          <a:p>
            <a:pPr algn="just">
              <a:lnSpc>
                <a:spcPct val="100000"/>
              </a:lnSpc>
              <a:buNone/>
            </a:pPr>
            <a:r>
              <a:rPr lang="en-US" sz="2400" dirty="0">
                <a:effectLst/>
                <a:latin typeface="+mn-lt"/>
                <a:ea typeface="Times New Roman" panose="02020603050405020304" pitchFamily="18" charset="0"/>
              </a:rPr>
              <a:t>[4] Cheng, C., Kang, L., Leung, N., &amp; White, G. M. (2005). Investigations of a constraint logic programming approach to university timetabling. Lecture Notes in Computer Science.</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 </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[5] Burke, E. K., Mareček, J., Parkes, A. J., &amp; </a:t>
            </a:r>
            <a:r>
              <a:rPr lang="en-US" sz="2400" dirty="0" err="1">
                <a:effectLst/>
                <a:latin typeface="+mn-lt"/>
                <a:ea typeface="Times New Roman" panose="02020603050405020304" pitchFamily="18" charset="0"/>
              </a:rPr>
              <a:t>Rudová</a:t>
            </a:r>
            <a:r>
              <a:rPr lang="en-US" sz="2400" dirty="0">
                <a:effectLst/>
                <a:latin typeface="+mn-lt"/>
                <a:ea typeface="Times New Roman" panose="02020603050405020304" pitchFamily="18" charset="0"/>
              </a:rPr>
              <a:t>, H. (2009). Decomposition, reformulation, and diving in university course timetabling. Operations Research Proceedings. https://arxiv.org/abs/0903.1095</a:t>
            </a:r>
            <a:endParaRPr lang="en-IN" sz="2400" dirty="0">
              <a:effectLst/>
              <a:latin typeface="+mn-lt"/>
              <a:ea typeface="Times New Roman" panose="02020603050405020304" pitchFamily="18" charset="0"/>
            </a:endParaRPr>
          </a:p>
          <a:p>
            <a:pPr algn="just">
              <a:lnSpc>
                <a:spcPct val="100000"/>
              </a:lnSpc>
              <a:buNone/>
            </a:pPr>
            <a:r>
              <a:rPr lang="en-US" sz="2400" dirty="0">
                <a:effectLst/>
                <a:latin typeface="+mn-lt"/>
                <a:ea typeface="Times New Roman" panose="02020603050405020304" pitchFamily="18" charset="0"/>
              </a:rPr>
              <a:t> </a:t>
            </a:r>
            <a:endParaRPr lang="en-IN" sz="2400" dirty="0">
              <a:effectLst/>
              <a:latin typeface="+mn-lt"/>
              <a:ea typeface="Times New Roman" panose="02020603050405020304" pitchFamily="18" charset="0"/>
            </a:endParaRPr>
          </a:p>
        </p:txBody>
      </p:sp>
    </p:spTree>
    <p:extLst>
      <p:ext uri="{BB962C8B-B14F-4D97-AF65-F5344CB8AC3E}">
        <p14:creationId xmlns:p14="http://schemas.microsoft.com/office/powerpoint/2010/main" val="15387438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4" name="Slide Number Placeholder 3">
            <a:extLst>
              <a:ext uri="{FF2B5EF4-FFF2-40B4-BE49-F238E27FC236}">
                <a16:creationId xmlns:a16="http://schemas.microsoft.com/office/drawing/2014/main" id="{CF44F5F3-B604-7034-3991-F0917DEC107F}"/>
              </a:ext>
            </a:extLst>
          </p:cNvPr>
          <p:cNvSpPr>
            <a:spLocks noGrp="1"/>
          </p:cNvSpPr>
          <p:nvPr>
            <p:ph type="sldNum" sz="quarter" idx="12"/>
          </p:nvPr>
        </p:nvSpPr>
        <p:spPr/>
        <p:txBody>
          <a:bodyPr/>
          <a:lstStyle/>
          <a:p>
            <a:pPr>
              <a:defRPr/>
            </a:pPr>
            <a:fld id="{F583B680-F650-469F-A231-392F163461F6}" type="slidenum">
              <a:rPr lang="en-US" altLang="en-US" smtClean="0"/>
              <a:pPr>
                <a:defRPr/>
              </a:pPr>
              <a:t>40</a:t>
            </a:fld>
            <a:endParaRPr lang="en-US" altLang="en-US" dirty="0"/>
          </a:p>
        </p:txBody>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314</TotalTime>
  <Words>2308</Words>
  <Application>Microsoft Office PowerPoint</Application>
  <PresentationFormat>Widescreen</PresentationFormat>
  <Paragraphs>329</Paragraphs>
  <Slides>40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Calibri</vt:lpstr>
      <vt:lpstr>Courier New</vt:lpstr>
      <vt:lpstr>Verdana</vt:lpstr>
      <vt:lpstr>Wingdings</vt:lpstr>
      <vt:lpstr>Profile</vt:lpstr>
      <vt:lpstr>PowerPoint Presentation</vt:lpstr>
      <vt:lpstr>Problem Statement and Motivation</vt:lpstr>
      <vt:lpstr>Problem Statement and Motivation</vt:lpstr>
      <vt:lpstr>Objectives</vt:lpstr>
      <vt:lpstr>Objectives</vt:lpstr>
      <vt:lpstr>Abstract</vt:lpstr>
      <vt:lpstr>Abstract</vt:lpstr>
      <vt:lpstr>Abstract</vt:lpstr>
      <vt:lpstr>Literature Survey</vt:lpstr>
      <vt:lpstr>Literature Survey</vt:lpstr>
      <vt:lpstr> RESEARCH GAP / EXISTING SYSTEM</vt:lpstr>
      <vt:lpstr>PowerPoint Presentation</vt:lpstr>
      <vt:lpstr>Proposed System</vt:lpstr>
      <vt:lpstr>Proposed System</vt:lpstr>
      <vt:lpstr> Proposed System</vt:lpstr>
      <vt:lpstr>DFD Diagram</vt:lpstr>
      <vt:lpstr>Methodology / Workflow Diagram</vt:lpstr>
      <vt:lpstr>Tools and Technologies</vt:lpstr>
      <vt:lpstr>List of Modules</vt:lpstr>
      <vt:lpstr>Module Description</vt:lpstr>
      <vt:lpstr>Module Description</vt:lpstr>
      <vt:lpstr>Module Description</vt:lpstr>
      <vt:lpstr>Module Description</vt:lpstr>
      <vt:lpstr>Module Description</vt:lpstr>
      <vt:lpstr>Results &amp; Discussion</vt:lpstr>
      <vt:lpstr>Results &amp; Discussion</vt:lpstr>
      <vt:lpstr>Results &amp; Discussion</vt:lpstr>
      <vt:lpstr>User Interface / Screenshots</vt:lpstr>
      <vt:lpstr>User Interface / Screenshots</vt:lpstr>
      <vt:lpstr>User Interface / Screenshots</vt:lpstr>
      <vt:lpstr>User Interface / Screenshots</vt:lpstr>
      <vt:lpstr>User Interface / Screenshots</vt:lpstr>
      <vt:lpstr>User Interface / Screenshots</vt:lpstr>
      <vt:lpstr>User Interface / Screenshots</vt:lpstr>
      <vt:lpstr>User Interface / Screenshots</vt:lpstr>
      <vt:lpstr>Conclusion</vt:lpstr>
      <vt:lpstr>Future work</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Ponsurabhi Ponsurabhi</cp:lastModifiedBy>
  <cp:revision>21</cp:revision>
  <dcterms:modified xsi:type="dcterms:W3CDTF">2026-10-14T20:11:29Z</dcterms:modified>
</cp:coreProperties>
</file>